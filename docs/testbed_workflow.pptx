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bf04940-399f-6486-a992-fa5d36baff85}">
          <p14:sldIdLst>
            <p14:sldId id="256"/>
            <p14:sldId id="257"/>
          </p14:sldIdLst>
        </p14:section>
        <p14:section name="Part 1: The physics chain" id="{e7012341-356d-b611-9027-368a66071618}">
          <p14:sldIdLst>
            <p14:sldId id="258"/>
            <p14:sldId id="259"/>
            <p14:sldId id="260"/>
            <p14:sldId id="261"/>
            <p14:sldId id="262"/>
            <p14:sldId id="263"/>
          </p14:sldIdLst>
        </p14:section>
        <p14:section name="Part 2: The headline experiment" id="{45aaf5e7-8106-a2e6-ccb7-2becc65a675a}">
          <p14:sldIdLst>
            <p14:sldId id="264"/>
            <p14:sldId id="265"/>
            <p14:sldId id="266"/>
            <p14:sldId id="267"/>
            <p14:sldId id="268"/>
            <p14:sldId id="269"/>
            <p14:sldId id="270"/>
            <p14:sldId id="271"/>
            <p14:sldId id="272"/>
          </p14:sldIdLst>
        </p14:section>
        <p14:section name="Part 3: From code to figures" id="{e02468fc-37ab-0cea-e4be-1132b05ea2c8}">
          <p14:sldIdLst>
            <p14:sldId id="273"/>
            <p14:sldId id="274"/>
            <p14:sldId id="275"/>
          </p14:sldIdLst>
        </p14:section>
        <p14:section name="Reproduce" id="{1450d732-c471-73e6-6c09-095970fa188f}">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deck: walk through the testbed's workflow end to end, so it's clear how each figure in results/ was produced and what each function contributes. The six circles are the six links of the physics chain in CLAUDE.md §2; every module in src/ implements one of them. Part 1 covers the chain (build steps 1-5), Part 2 the headline experiment that wraps an optimiser around it (step 6), and Part 3 maps every figure to the function that draws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of the boxes is the order data flows; the numbers are the order they were built. The error model was built first because it carries the first reference-number gate (Hughes et al. 2011). Conventional LVM planners stop at the coordinate covariance and minimise its trace (A-optimality). This testbed carries on through two more links: project the covariance onto what each tolerance actually constrains, then turn that into the probability of a wrong conformity decision. Step 6 closes the loop: an optimiser proposes station poses, runs the chain, and keeps whichever scores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Inputs are fixed by CLAUDE.md §4a: the a-posteriori sensor noise Hughes et al. measured on an API T3. They are never tuned. Each target is converted to the tracker's own spherical coordinates, then the spherical-to-Cartesian Jacobian maps the three independent noise terms into a 3×3 Cartesian covariance. Because the angular terms are multiplied by range, the ellipsoid is a flattened disc: thin along the beam (interferometer), wide across it (encoders). The anisotropy ratio is an output, and the step 1 test checks it lands in the 5–7:1 band. An optional isotropic systematic term models effects no placement can 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Visibility answers 'can it be measured at all' before step 1 answers 'how precisely'. Three independent conditions: range, incidence angle against the target's surface normal, and occlusion by a triangle mesh. The order is purely for speed: range and incidence are one dot product each, while occlusion tests the sightline against every triangle. In step 6 the same check filters every station–target pair; a plan that leaves a target unseen is disqualified rather than solved, because the solver's pseudo-inverse would otherwise give an unseen target zero variance, which would look perfectly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standard bundle adjustment. Observations are raw spherical measurements; every residual is divided by its own sensor sigma, so the fit is weighted exactly by the step 1 noise model. One station is held fixed as the anchor, which removes the six rigid-body degrees of freedom the observations cannot resolve. Each observation touches one target and one station only, so the Jacobian is block-sparse and the solve scales roughly linearly with target count. The covariance is the pseudo-inverse of the normal matrix at convergence, kept in full, including cross-target correlation through shared station poses.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tolerance type knows which directions it constrains. A profile tolerance cares only about deviation along the surface normal; parallelism about deviation along an external datum's normal; a spherical position tolerance about all three axes. evaluate_characteristic projects the full 3×3 covariance onto those directions and reports the root of the projected trace. The figure puts one point at the 2.5 m reference range: parallelism along the beam picks up only the small radial sigma, profile across the beam picks up the large angular sigma, and position picks up everything. This is why a scalar uncertainty gets the risk wrong in a direction-dependent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layer needs three inputs: a process-capability prior for the cluster the characteristic belongs to, the measurement uncertainty from step 4, and the acceptance rule. False acceptance integrates, over every true value outside the tolerance, the chance the measurement nonetheless lands inside. False rejection does the reverse for true values inside. Both use scipy quad over a finite ±12σ window of the prior. The two clusters are sourced, not invented: Cpk 2.0 is GKN's critical/zero-defect target and Cpk 1.33 is the AS13006 minimum. The marginal process is where uncertainty actually moves the risk, which is the whole lever the project exploits.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inner loop of every search. One candidate set of station poses, plus the fixed anchor, goes through the whole chain once: exact observations at the true geometry, the visibility filter, the network solve, and the projection onto every characteristic's tolerance. The result is not yet a score; it's a PlanEvaluation that any of the four objectives can read. That is how 'replace the objective, not the optimiser' is implemented literally. Two design choices are worth defending: noiseless observations, because the design covariance matches a noisy solve while being deterministic and fast; and disqualifying plans that leave a target unseen, because a pseudo-inverse silently reports those as perfect.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objectives score the same PlanEvaluation. A0 is what the field actually optimises: the trace of the raw coordinate covariance, which ignores what each tolerance constrains. A1 already uses the step 4 projection but weights every characteristic equally. B uses risk-derived weights: the slope of each characteristic's risk with respect to its own uncertainty at a fixed 8 µm reference, computed once before the search, normalised to mean 1. Its practical value is that an existing weighted-sum planner could use it without knowing anything about JCGM 106. C skips the linearisation and minimises the summed risk directly. constrained_objective() can wrap any of them with a hard uncertainty cap, a test-uncertainty-ratio style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CLAUDE.md §3 allows grid search or a standard GA, and nothing else, so results stay attributable to the objective. The two-cluster scene uses grid search: 24 candidate poses on a floor-reachable ring, every pair evaluated, 276 plans per objective. That is exhaustive, so the winner is provably the best in the candidate set. The 30 m wing scene needs a finer, larger search space, where combinations explode, so it uses scipy's differential evolution directly on continuous station positions. Infeasible candidates get a large finite penalty because the GA needs a number everywhere. A GA gives a good plan, not a certified optimum, which is why its results are cross-checked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experiment. One scene with a high-capability cluster and a marginal cluster, spatially separated so different stations genuinely serve them differently. The weights for A1 and B are computed once, before searching. Then the same grid search runs four times, once per objective. Result: the risk-based objectives move measurement effort from the high-capability cluster to the marginal one, reducing global risk by 3.2% at the cost of 5.1% more summed uncertainty. In this symmetric scene A0 and A1 pick the same plan, as do B and C; that is reported on the figures, not hidden. Variants add a 10 µm systematic term and a mixed-tolerance scene.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harder scene: a single 30 m wing with four named fittings, four network tie points so stations near one end can still pin their own pose, and a support tower that blocks some sightlines. Grid search is combinatorially out of reach here, so each objective runs the GA. The objectives run in sequence and each later search is seeded with every earlier winner, a standard GA technique. That was adopted only after cross-checking caught two unseeded searches converging to clearly worse plans by their own measure. Correction: an earlier version of this slide reported 18.7% and 6.6% risk reductions. Those were wrong. The planner accepted stations that shared only one target with the network, which leaves that station free to rotate, and the covariance solve reports such a direction as zero variance. The search learned to exploit it. With rigid connectivity enforced, the four objectives are within 1.6% of each other, which is about the size of the GA's own imprecision. Three stations over 30 m leaves the uncertainty at 13 to 47 micrometres against a 50 micrometre tolerance, so total risk is about 0.8 for every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separate experiment on a roughly 500 point wing box with six inspection tasks. The part is a synthetic stand-in because no CAD or point list was available. The chain is the project's own: visibility, then the covariance from the block-diagonal network form, then uncertainty along the surface normal, then JCGM 106 risk per point. Plan U is the conventional planner: every point measured, mean variance minimised, stations taken from where one more stops paying. Plan R minimises stations subject to a risk limit and may leave a point unmeasured, in which case it carries its process's own escape probability. No published acceptable false accept limit for safety critical aerospace inspection was found, so R is held to the risk plan U actually delivers. On the stand-in, U needs 9 stations and R needs 3, with fewer shots and about 29 times fewer expected false rejections. The hard TUR 4 to 1 rule could not be met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depends on specific things, and the sensitivity panel says which. It does not depend on the tolerance or the shape of the process prior. It does depend on the confidence in the cluster assignment, and it disappears if the points that are expensive to see are the marginal ones, or if a sampling policy forces those points to be measured. A stricter risk limit than plan U delivers cannot be met by any plan, because the escape probability has a floor set by the process. These are exactly the quantities that need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asked for an ML model. The physics is known, so the model is a surrogate of the digital twin: given a station layout it predicts coverage, escape probability, expected false rejections and whether the network is rigid. The split is by base layout, because small perturbations of one layout are near-duplicates and a random split would leak. A second test holds out a whole region of the station box. Coverage and escape probability are predicted well; expected false rejections are not, outside the bulk. Used as the optimiser's objective, the surrogate is exploited, so the search re-scores a shortlist exactly and retrains. That reaches the same station counts with 29 to 61 times fewer exact evaluations, but not faster in wall-clock terms, because the exact evaluator is already fast. The value is later: slower physics, and real measurement data in the training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commands produce every figure. python -m viz.make_figures runs panels 1 to 8 in about two to three minutes. Steps 1 to 5 use fixed random seeds and step 6 uses noiseless exact observations, so there is no randomness anywhere and re-running leaves the committed figures byte-for-byte unchanged. python -m viz.make_wing_figures runs the wing scenario's GA searches, about 14 minutes with every BLAS library pinned to one thread; it is kept separate because it is slow and, being a GA, not guaranteed bit-identical across machines. python -m viz.make_wingbox_figures runs the wing-box experiment in stages (experiment, seeds, surrogate, figures), about two and a half hours in all. viz/ only ever imports from src/, never the other way round, so no plotting code lives inside the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of checking. First, the test suite: every physical claim gets a test against a reference number where one exists, and every build step has a gate that must pass before the next begins. Second, determinism: the main figures reproduce exactly. Third, the shortcut step 6 relies on, noiseless observations, is pinned to a genuinely noisy solve by its own test. Fourth, GA results are never taken on trust: each objective's winning plan is scored under every other objective's formula. In the wing scenario this caught two searches that had converged to clearly worse plans, which is what led to population seeding. Re-scoring the saved plans with a faster evaluator later exposed a feasibility loophole, stations tied to the network by a single target, and the wing numbers were corrected.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this deck can be regenerated from a fresh clone with these commands. The first three take a few minutes in total; the wing-scenario figures take about fourteen minutes and need the BLAS libraries pinned to one thread per process so the parallel GA is actually faster rather than slower. The docs folder has a write-up per build step, including every result quoted here and the caveats that come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2880360"/>
            <a:ext cx="10698480" cy="82296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
        <p:nvSpPr>
          <p:cNvPr id="4" name="Text 0"/>
          <p:cNvSpPr/>
          <p:nvPr>
            <p:ph idx="102" type="body" hasCustomPrompt="1"/>
          </p:nvPr>
        </p:nvSpPr>
        <p:spPr>
          <a:xfrm>
            <a:off x="731520" y="5897880"/>
            <a:ext cx="10698480" cy="411480"/>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148840"/>
            <a:ext cx="7132320" cy="457200"/>
          </a:xfrm>
          <a:prstGeom prst="rect">
            <a:avLst/>
          </a:prstGeom>
          <a:noFill/>
          <a:ln/>
        </p:spPr>
        <p:txBody>
          <a:bodyPr wrap="square" rtlCol="0"/>
          <a:lstStyle>
            <a:lvl1pPr indent="0" marL="0">
              <a:buNone/>
              <a:defRPr lang="en-US" sz="1600" b="1" dirty="0">
                <a:solidFill>
                  <a:schemeClr val="accent2"/>
                </a:solidFill>
              </a:defRPr>
            </a:lvl1pPr>
          </a:lstStyle>
          <a:p>
            <a:pPr indent="0" marL="0">
              <a:buNone/>
            </a:pPr>
            <a:endParaRPr lang="en-US" sz="1600" dirty="0"/>
          </a:p>
        </p:txBody>
      </p:sp>
      <p:sp>
        <p:nvSpPr>
          <p:cNvPr id="3" name="Text 0"/>
          <p:cNvSpPr/>
          <p:nvPr>
            <p:ph idx="101" type="title" hasCustomPrompt="1"/>
          </p:nvPr>
        </p:nvSpPr>
        <p:spPr>
          <a:xfrm>
            <a:off x="731520" y="2651760"/>
            <a:ext cx="768096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794760"/>
            <a:ext cx="7315200" cy="100584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lstStyle>
            <a:lvl1pPr indent="0" marL="0">
              <a:buNone/>
              <a:defRPr lang="en-US" sz="1600" i="1" dirty="0">
                <a:solidFill>
                  <a:schemeClr val="tx2"/>
                </a:solidFill>
              </a:defRPr>
            </a:lvl1pPr>
          </a:lstStyle>
          <a:p>
            <a:pPr indent="0" marL="0">
              <a:buNone/>
            </a:pPr>
            <a:endParaRPr lang="en-US" sz="16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LVM Measurement Planning Testbed  ·  how the figures are produced</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8229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731520" y="1280160"/>
            <a:ext cx="10698480" cy="45720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371600"/>
          </a:xfrm>
          <a:prstGeom prst="rect">
            <a:avLst/>
          </a:prstGeom>
          <a:noFill/>
          <a:ln/>
        </p:spPr>
        <p:txBody>
          <a:bodyPr wrap="square" rtlCol="0" anchor="b"/>
          <a:lstStyle/>
          <a:p>
            <a:pPr algn="l" indent="0" marL="0">
              <a:buNone/>
            </a:pPr>
            <a:r>
              <a:rPr lang="en-US" sz="4400" b="1" dirty="0">
                <a:solidFill>
                  <a:schemeClr val="bg1"/>
                </a:solidFill>
              </a:rPr>
              <a:t>Inside the LVM Measurement Planning Testbed</a:t>
            </a:r>
            <a:endParaRPr lang="en-US" sz="4400" dirty="0"/>
          </a:p>
        </p:txBody>
      </p:sp>
      <p:sp>
        <p:nvSpPr>
          <p:cNvPr id="3" name="Text 0"/>
          <p:cNvSpPr/>
          <p:nvPr>
            <p:ph idx="101" type="body" hasCustomPrompt="1"/>
          </p:nvPr>
        </p:nvSpPr>
        <p:spPr>
          <a:xfrm>
            <a:off x="731520" y="2880360"/>
            <a:ext cx="10698480" cy="822960"/>
          </a:xfrm>
          <a:prstGeom prst="rect">
            <a:avLst/>
          </a:prstGeom>
          <a:noFill/>
          <a:ln/>
        </p:spPr>
        <p:txBody>
          <a:bodyPr wrap="square" rtlCol="0" anchor="t"/>
          <a:lstStyle/>
          <a:p>
            <a:pPr indent="0" marL="0">
              <a:buNone/>
            </a:pPr>
            <a:r>
              <a:rPr lang="en-US" sz="2000" dirty="0">
                <a:solidFill>
                  <a:schemeClr val="accent5"/>
                </a:solidFill>
              </a:rPr>
              <a:t>How every figure is produced: the functions, the data flow between them, and the checks behind each result</a:t>
            </a:r>
            <a:endParaRPr lang="en-US" sz="2000" dirty="0"/>
          </a:p>
        </p:txBody>
      </p:sp>
      <p:sp>
        <p:nvSpPr>
          <p:cNvPr id="4" name="Text 0"/>
          <p:cNvSpPr/>
          <p:nvPr>
            <p:ph idx="102" type="body" hasCustomPrompt="1"/>
          </p:nvPr>
        </p:nvSpPr>
        <p:spPr>
          <a:xfrm>
            <a:off x="731520" y="5897880"/>
            <a:ext cx="10698480" cy="411480"/>
          </a:xfrm>
          <a:prstGeom prst="rect">
            <a:avLst/>
          </a:prstGeom>
          <a:noFill/>
          <a:ln/>
        </p:spPr>
        <p:txBody>
          <a:bodyPr wrap="square" rtlCol="0" anchor="ctr"/>
          <a:lstStyle/>
          <a:p>
            <a:pPr indent="0" marL="0">
              <a:buNone/>
            </a:pPr>
            <a:r>
              <a:rPr lang="en-US" sz="1400" dirty="0">
                <a:solidFill>
                  <a:schemeClr val="bg2"/>
                </a:solidFill>
              </a:rPr>
              <a:t>Calum Tierney  ·  Queen's University Belfast  ·  Supervisor: Prof. Paul Maropoulos  ·  Industrial partners: GKN Aerospace, AMIC</a:t>
            </a:r>
            <a:endParaRPr lang="en-US" sz="1400" dirty="0"/>
          </a:p>
        </p:txBody>
      </p:sp>
      <p:sp>
        <p:nvSpPr>
          <p:cNvPr id="5" name="Shape 3"/>
          <p:cNvSpPr/>
          <p:nvPr/>
        </p:nvSpPr>
        <p:spPr>
          <a:xfrm>
            <a:off x="1243584" y="4443984"/>
            <a:ext cx="9966960" cy="0"/>
          </a:xfrm>
          <a:prstGeom prst="line">
            <a:avLst/>
          </a:prstGeom>
          <a:noFill/>
          <a:ln w="25400">
            <a:solidFill>
              <a:schemeClr val="accent4"/>
            </a:solidFill>
            <a:prstDash val="solid"/>
          </a:ln>
        </p:spPr>
      </p:sp>
      <p:sp>
        <p:nvSpPr>
          <p:cNvPr id="6" name="chain dot Station pose"/>
          <p:cNvSpPr/>
          <p:nvPr/>
        </p:nvSpPr>
        <p:spPr>
          <a:xfrm>
            <a:off x="1069848" y="4270248"/>
            <a:ext cx="347472" cy="347472"/>
          </a:xfrm>
          <a:prstGeom prst="ellipse">
            <a:avLst/>
          </a:prstGeom>
          <a:solidFill>
            <a:schemeClr val="accent2"/>
          </a:solidFill>
          <a:ln/>
        </p:spPr>
      </p:sp>
      <p:sp>
        <p:nvSpPr>
          <p:cNvPr id="7" name="Text 5"/>
          <p:cNvSpPr txBox="1"/>
          <p:nvPr/>
        </p:nvSpPr>
        <p:spPr>
          <a:xfrm>
            <a:off x="320040" y="4818888"/>
            <a:ext cx="1847088" cy="320040"/>
          </a:xfrm>
          <a:prstGeom prst="rect">
            <a:avLst/>
          </a:prstGeom>
          <a:noFill/>
          <a:ln/>
        </p:spPr>
        <p:txBody>
          <a:bodyPr wrap="square" lIns="0" tIns="0" rIns="0" bIns="0" rtlCol="0" anchor="ctr"/>
          <a:lstStyle/>
          <a:p>
            <a:pPr algn="ctr" indent="0" marL="0">
              <a:buNone/>
            </a:pPr>
            <a:r>
              <a:rPr lang="en-US" sz="1300" dirty="0">
                <a:solidFill>
                  <a:schemeClr val="bg2"/>
                </a:solidFill>
              </a:rPr>
              <a:t>Station pose</a:t>
            </a:r>
            <a:endParaRPr lang="en-US" sz="1300" dirty="0"/>
          </a:p>
        </p:txBody>
      </p:sp>
      <p:sp>
        <p:nvSpPr>
          <p:cNvPr id="8" name="chain dot Visibility"/>
          <p:cNvSpPr/>
          <p:nvPr/>
        </p:nvSpPr>
        <p:spPr>
          <a:xfrm>
            <a:off x="3063240" y="4270248"/>
            <a:ext cx="347472" cy="347472"/>
          </a:xfrm>
          <a:prstGeom prst="ellipse">
            <a:avLst/>
          </a:prstGeom>
          <a:solidFill>
            <a:schemeClr val="accent1"/>
          </a:solidFill>
          <a:ln/>
        </p:spPr>
      </p:sp>
      <p:sp>
        <p:nvSpPr>
          <p:cNvPr id="9" name="Text 7"/>
          <p:cNvSpPr txBox="1"/>
          <p:nvPr/>
        </p:nvSpPr>
        <p:spPr>
          <a:xfrm>
            <a:off x="2313432" y="4818888"/>
            <a:ext cx="1847088" cy="320040"/>
          </a:xfrm>
          <a:prstGeom prst="rect">
            <a:avLst/>
          </a:prstGeom>
          <a:noFill/>
          <a:ln/>
        </p:spPr>
        <p:txBody>
          <a:bodyPr wrap="square" lIns="0" tIns="0" rIns="0" bIns="0" rtlCol="0" anchor="ctr"/>
          <a:lstStyle/>
          <a:p>
            <a:pPr algn="ctr" indent="0" marL="0">
              <a:buNone/>
            </a:pPr>
            <a:r>
              <a:rPr lang="en-US" sz="1300" dirty="0">
                <a:solidFill>
                  <a:schemeClr val="bg2"/>
                </a:solidFill>
              </a:rPr>
              <a:t>Visibility</a:t>
            </a:r>
            <a:endParaRPr lang="en-US" sz="1300" dirty="0"/>
          </a:p>
        </p:txBody>
      </p:sp>
      <p:sp>
        <p:nvSpPr>
          <p:cNvPr id="10" name="chain dot Error model"/>
          <p:cNvSpPr/>
          <p:nvPr/>
        </p:nvSpPr>
        <p:spPr>
          <a:xfrm>
            <a:off x="5056632" y="4270248"/>
            <a:ext cx="347472" cy="347472"/>
          </a:xfrm>
          <a:prstGeom prst="ellipse">
            <a:avLst/>
          </a:prstGeom>
          <a:solidFill>
            <a:schemeClr val="accent1"/>
          </a:solidFill>
          <a:ln/>
        </p:spPr>
      </p:sp>
      <p:sp>
        <p:nvSpPr>
          <p:cNvPr id="11" name="Text 9"/>
          <p:cNvSpPr txBox="1"/>
          <p:nvPr/>
        </p:nvSpPr>
        <p:spPr>
          <a:xfrm>
            <a:off x="4306824" y="4818888"/>
            <a:ext cx="1847088" cy="320040"/>
          </a:xfrm>
          <a:prstGeom prst="rect">
            <a:avLst/>
          </a:prstGeom>
          <a:noFill/>
          <a:ln/>
        </p:spPr>
        <p:txBody>
          <a:bodyPr wrap="square" lIns="0" tIns="0" rIns="0" bIns="0" rtlCol="0" anchor="ctr"/>
          <a:lstStyle/>
          <a:p>
            <a:pPr algn="ctr" indent="0" marL="0">
              <a:buNone/>
            </a:pPr>
            <a:r>
              <a:rPr lang="en-US" sz="1300" dirty="0">
                <a:solidFill>
                  <a:schemeClr val="bg2"/>
                </a:solidFill>
              </a:rPr>
              <a:t>Error model</a:t>
            </a:r>
            <a:endParaRPr lang="en-US" sz="1300" dirty="0"/>
          </a:p>
        </p:txBody>
      </p:sp>
      <p:sp>
        <p:nvSpPr>
          <p:cNvPr id="12" name="chain dot Network solve"/>
          <p:cNvSpPr/>
          <p:nvPr/>
        </p:nvSpPr>
        <p:spPr>
          <a:xfrm>
            <a:off x="7050024" y="4270248"/>
            <a:ext cx="347472" cy="347472"/>
          </a:xfrm>
          <a:prstGeom prst="ellipse">
            <a:avLst/>
          </a:prstGeom>
          <a:solidFill>
            <a:schemeClr val="accent1"/>
          </a:solidFill>
          <a:ln/>
        </p:spPr>
      </p:sp>
      <p:sp>
        <p:nvSpPr>
          <p:cNvPr id="13" name="Text 11"/>
          <p:cNvSpPr txBox="1"/>
          <p:nvPr/>
        </p:nvSpPr>
        <p:spPr>
          <a:xfrm>
            <a:off x="6300216" y="4818888"/>
            <a:ext cx="1847088" cy="320040"/>
          </a:xfrm>
          <a:prstGeom prst="rect">
            <a:avLst/>
          </a:prstGeom>
          <a:noFill/>
          <a:ln/>
        </p:spPr>
        <p:txBody>
          <a:bodyPr wrap="square" lIns="0" tIns="0" rIns="0" bIns="0" rtlCol="0" anchor="ctr"/>
          <a:lstStyle/>
          <a:p>
            <a:pPr algn="ctr" indent="0" marL="0">
              <a:buNone/>
            </a:pPr>
            <a:r>
              <a:rPr lang="en-US" sz="1300" dirty="0">
                <a:solidFill>
                  <a:schemeClr val="bg2"/>
                </a:solidFill>
              </a:rPr>
              <a:t>Network solve</a:t>
            </a:r>
            <a:endParaRPr lang="en-US" sz="1300" dirty="0"/>
          </a:p>
        </p:txBody>
      </p:sp>
      <p:sp>
        <p:nvSpPr>
          <p:cNvPr id="14" name="chain dot Characteristic"/>
          <p:cNvSpPr/>
          <p:nvPr/>
        </p:nvSpPr>
        <p:spPr>
          <a:xfrm>
            <a:off x="9043416" y="4270248"/>
            <a:ext cx="347472" cy="347472"/>
          </a:xfrm>
          <a:prstGeom prst="ellipse">
            <a:avLst/>
          </a:prstGeom>
          <a:solidFill>
            <a:schemeClr val="accent1"/>
          </a:solidFill>
          <a:ln/>
        </p:spPr>
      </p:sp>
      <p:sp>
        <p:nvSpPr>
          <p:cNvPr id="15" name="Text 13"/>
          <p:cNvSpPr txBox="1"/>
          <p:nvPr/>
        </p:nvSpPr>
        <p:spPr>
          <a:xfrm>
            <a:off x="8293608" y="4818888"/>
            <a:ext cx="1847088" cy="320040"/>
          </a:xfrm>
          <a:prstGeom prst="rect">
            <a:avLst/>
          </a:prstGeom>
          <a:noFill/>
          <a:ln/>
        </p:spPr>
        <p:txBody>
          <a:bodyPr wrap="square" lIns="0" tIns="0" rIns="0" bIns="0" rtlCol="0" anchor="ctr"/>
          <a:lstStyle/>
          <a:p>
            <a:pPr algn="ctr" indent="0" marL="0">
              <a:buNone/>
            </a:pPr>
            <a:r>
              <a:rPr lang="en-US" sz="1300" dirty="0">
                <a:solidFill>
                  <a:schemeClr val="bg2"/>
                </a:solidFill>
              </a:rPr>
              <a:t>Characteristic</a:t>
            </a:r>
            <a:endParaRPr lang="en-US" sz="1300" dirty="0"/>
          </a:p>
        </p:txBody>
      </p:sp>
      <p:sp>
        <p:nvSpPr>
          <p:cNvPr id="16" name="chain dot Decision risk"/>
          <p:cNvSpPr/>
          <p:nvPr/>
        </p:nvSpPr>
        <p:spPr>
          <a:xfrm>
            <a:off x="11036808" y="4270248"/>
            <a:ext cx="347472" cy="347472"/>
          </a:xfrm>
          <a:prstGeom prst="ellipse">
            <a:avLst/>
          </a:prstGeom>
          <a:solidFill>
            <a:schemeClr val="accent1"/>
          </a:solidFill>
          <a:ln/>
        </p:spPr>
      </p:sp>
      <p:sp>
        <p:nvSpPr>
          <p:cNvPr id="17" name="Text 15"/>
          <p:cNvSpPr txBox="1"/>
          <p:nvPr/>
        </p:nvSpPr>
        <p:spPr>
          <a:xfrm>
            <a:off x="10287000" y="4818888"/>
            <a:ext cx="1847088" cy="320040"/>
          </a:xfrm>
          <a:prstGeom prst="rect">
            <a:avLst/>
          </a:prstGeom>
          <a:noFill/>
          <a:ln/>
        </p:spPr>
        <p:txBody>
          <a:bodyPr wrap="square" lIns="0" tIns="0" rIns="0" bIns="0" rtlCol="0" anchor="ctr"/>
          <a:lstStyle/>
          <a:p>
            <a:pPr algn="ctr" indent="0" marL="0">
              <a:buNone/>
            </a:pPr>
            <a:r>
              <a:rPr lang="en-US" sz="1300" dirty="0">
                <a:solidFill>
                  <a:schemeClr val="bg2"/>
                </a:solidFill>
              </a:rPr>
              <a:t>Decision risk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One chain, six links</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Every function in src/ implements one link; existing planning tools stop at link 4 and sum the diagonal</a:t>
            </a:r>
            <a:endParaRPr lang="en-US" sz="1600" dirty="0"/>
          </a:p>
        </p:txBody>
      </p:sp>
      <p:sp>
        <p:nvSpPr>
          <p:cNvPr id="4" name="badge 6"/>
          <p:cNvSpPr txBox="1"/>
          <p:nvPr/>
        </p:nvSpPr>
        <p:spPr>
          <a:xfrm>
            <a:off x="1148944" y="1664208"/>
            <a:ext cx="475488" cy="475488"/>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6</a:t>
            </a:r>
            <a:endParaRPr lang="en-US" sz="1600" dirty="0"/>
          </a:p>
        </p:txBody>
      </p:sp>
      <p:sp>
        <p:nvSpPr>
          <p:cNvPr id="5" name="chain link: Station pose"/>
          <p:cNvSpPr txBox="1"/>
          <p:nvPr/>
        </p:nvSpPr>
        <p:spPr>
          <a:xfrm>
            <a:off x="563728" y="2240280"/>
            <a:ext cx="1645920" cy="1371600"/>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400" b="1" dirty="0">
                <a:solidFill>
                  <a:schemeClr val="tx1"/>
                </a:solidFill>
              </a:rPr>
              <a:t>Station pose</a:t>
            </a:r>
            <a:endParaRPr lang="en-US" sz="1400" dirty="0"/>
          </a:p>
          <a:p>
            <a:pPr algn="ctr" indent="0" marL="0">
              <a:buNone/>
            </a:pPr>
            <a:r>
              <a:rPr lang="en-US" sz="1150" dirty="0">
                <a:solidFill>
                  <a:schemeClr val="tx2"/>
                </a:solidFill>
              </a:rPr>
              <a:t>where each tracker stands and points</a:t>
            </a:r>
            <a:endParaRPr lang="en-US" sz="1400" dirty="0"/>
          </a:p>
          <a:p>
            <a:pPr algn="ctr" indent="0" marL="0">
              <a:buNone/>
            </a:pPr>
            <a:r>
              <a:rPr lang="en-US" sz="1100" b="1" dirty="0">
                <a:solidFill>
                  <a:schemeClr val="accent1"/>
                </a:solidFill>
                <a:latin typeface="Courier New" pitchFamily="34" charset="0"/>
                <a:ea typeface="Courier New" pitchFamily="34" charset="-122"/>
                <a:cs typeface="Courier New" pitchFamily="34" charset="-120"/>
              </a:rPr>
              <a:t>geometry</a:t>
            </a:r>
            <a:endParaRPr lang="en-US" sz="1400" dirty="0"/>
          </a:p>
        </p:txBody>
      </p:sp>
      <p:sp>
        <p:nvSpPr>
          <p:cNvPr id="6" name="Shape 4"/>
          <p:cNvSpPr/>
          <p:nvPr/>
        </p:nvSpPr>
        <p:spPr>
          <a:xfrm>
            <a:off x="2209648" y="2926080"/>
            <a:ext cx="237744" cy="0"/>
          </a:xfrm>
          <a:prstGeom prst="line">
            <a:avLst/>
          </a:prstGeom>
          <a:noFill/>
          <a:ln w="19050">
            <a:solidFill>
              <a:schemeClr val="accent4"/>
            </a:solidFill>
            <a:prstDash val="solid"/>
            <a:tailEnd type="triangle"/>
          </a:ln>
        </p:spPr>
      </p:sp>
      <p:sp>
        <p:nvSpPr>
          <p:cNvPr id="7" name="badge 2"/>
          <p:cNvSpPr txBox="1"/>
          <p:nvPr/>
        </p:nvSpPr>
        <p:spPr>
          <a:xfrm>
            <a:off x="3032608" y="1664208"/>
            <a:ext cx="475488" cy="47548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8" name="chain link: Visibility"/>
          <p:cNvSpPr txBox="1"/>
          <p:nvPr/>
        </p:nvSpPr>
        <p:spPr>
          <a:xfrm>
            <a:off x="2447392" y="2240280"/>
            <a:ext cx="1645920" cy="1371600"/>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400" b="1" dirty="0">
                <a:solidFill>
                  <a:schemeClr val="tx1"/>
                </a:solidFill>
              </a:rPr>
              <a:t>Visibility</a:t>
            </a:r>
            <a:endParaRPr lang="en-US" sz="1400" dirty="0"/>
          </a:p>
          <a:p>
            <a:pPr algn="ctr" indent="0" marL="0">
              <a:buNone/>
            </a:pPr>
            <a:r>
              <a:rPr lang="en-US" sz="1150" dirty="0">
                <a:solidFill>
                  <a:schemeClr val="tx2"/>
                </a:solidFill>
              </a:rPr>
              <a:t>range, incidence, occlusion</a:t>
            </a:r>
            <a:endParaRPr lang="en-US" sz="1400" dirty="0"/>
          </a:p>
          <a:p>
            <a:pPr algn="ctr" indent="0" marL="0">
              <a:buNone/>
            </a:pPr>
            <a:r>
              <a:rPr lang="en-US" sz="1100" b="1" dirty="0">
                <a:solidFill>
                  <a:schemeClr val="accent1"/>
                </a:solidFill>
                <a:latin typeface="Courier New" pitchFamily="34" charset="0"/>
                <a:ea typeface="Courier New" pitchFamily="34" charset="-122"/>
                <a:cs typeface="Courier New" pitchFamily="34" charset="-120"/>
              </a:rPr>
              <a:t>geometry</a:t>
            </a:r>
            <a:endParaRPr lang="en-US" sz="1400" dirty="0"/>
          </a:p>
        </p:txBody>
      </p:sp>
      <p:sp>
        <p:nvSpPr>
          <p:cNvPr id="9" name="Shape 7"/>
          <p:cNvSpPr/>
          <p:nvPr/>
        </p:nvSpPr>
        <p:spPr>
          <a:xfrm>
            <a:off x="4093312" y="2926080"/>
            <a:ext cx="237744" cy="0"/>
          </a:xfrm>
          <a:prstGeom prst="line">
            <a:avLst/>
          </a:prstGeom>
          <a:noFill/>
          <a:ln w="19050">
            <a:solidFill>
              <a:schemeClr val="accent4"/>
            </a:solidFill>
            <a:prstDash val="solid"/>
            <a:tailEnd type="triangle"/>
          </a:ln>
        </p:spPr>
      </p:sp>
      <p:sp>
        <p:nvSpPr>
          <p:cNvPr id="10" name="badge 1"/>
          <p:cNvSpPr txBox="1"/>
          <p:nvPr/>
        </p:nvSpPr>
        <p:spPr>
          <a:xfrm>
            <a:off x="4916272" y="1664208"/>
            <a:ext cx="475488" cy="47548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11" name="chain link: Error model"/>
          <p:cNvSpPr txBox="1"/>
          <p:nvPr/>
        </p:nvSpPr>
        <p:spPr>
          <a:xfrm>
            <a:off x="4331056" y="2240280"/>
            <a:ext cx="1645920" cy="1371600"/>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400" b="1" dirty="0">
                <a:solidFill>
                  <a:schemeClr val="tx1"/>
                </a:solidFill>
              </a:rPr>
              <a:t>Error model</a:t>
            </a:r>
            <a:endParaRPr lang="en-US" sz="1400" dirty="0"/>
          </a:p>
          <a:p>
            <a:pPr algn="ctr" indent="0" marL="0">
              <a:buNone/>
            </a:pPr>
            <a:r>
              <a:rPr lang="en-US" sz="1150" dirty="0">
                <a:solidFill>
                  <a:schemeClr val="tx2"/>
                </a:solidFill>
              </a:rPr>
              <a:t>sensor noise → 3×3 covariance per point</a:t>
            </a:r>
            <a:endParaRPr lang="en-US" sz="1400" dirty="0"/>
          </a:p>
          <a:p>
            <a:pPr algn="ctr" indent="0" marL="0">
              <a:buNone/>
            </a:pPr>
            <a:r>
              <a:rPr lang="en-US" sz="1100" b="1" dirty="0">
                <a:solidFill>
                  <a:schemeClr val="accent1"/>
                </a:solidFill>
                <a:latin typeface="Courier New" pitchFamily="34" charset="0"/>
                <a:ea typeface="Courier New" pitchFamily="34" charset="-122"/>
                <a:cs typeface="Courier New" pitchFamily="34" charset="-120"/>
              </a:rPr>
              <a:t>instruments</a:t>
            </a:r>
            <a:endParaRPr lang="en-US" sz="1400" dirty="0"/>
          </a:p>
        </p:txBody>
      </p:sp>
      <p:sp>
        <p:nvSpPr>
          <p:cNvPr id="12" name="Shape 10"/>
          <p:cNvSpPr/>
          <p:nvPr/>
        </p:nvSpPr>
        <p:spPr>
          <a:xfrm>
            <a:off x="5976976" y="2926080"/>
            <a:ext cx="237744" cy="0"/>
          </a:xfrm>
          <a:prstGeom prst="line">
            <a:avLst/>
          </a:prstGeom>
          <a:noFill/>
          <a:ln w="19050">
            <a:solidFill>
              <a:schemeClr val="accent4"/>
            </a:solidFill>
            <a:prstDash val="solid"/>
            <a:tailEnd type="triangle"/>
          </a:ln>
        </p:spPr>
      </p:sp>
      <p:sp>
        <p:nvSpPr>
          <p:cNvPr id="13" name="badge 3"/>
          <p:cNvSpPr txBox="1"/>
          <p:nvPr/>
        </p:nvSpPr>
        <p:spPr>
          <a:xfrm>
            <a:off x="6799936" y="1664208"/>
            <a:ext cx="475488" cy="47548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14" name="chain link: Coordinate covariance"/>
          <p:cNvSpPr txBox="1"/>
          <p:nvPr/>
        </p:nvSpPr>
        <p:spPr>
          <a:xfrm>
            <a:off x="6214720" y="2240280"/>
            <a:ext cx="1645920" cy="1371600"/>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400" b="1" dirty="0">
                <a:solidFill>
                  <a:schemeClr val="tx1"/>
                </a:solidFill>
              </a:rPr>
              <a:t>Coordinate covariance</a:t>
            </a:r>
            <a:endParaRPr lang="en-US" sz="1400" dirty="0"/>
          </a:p>
          <a:p>
            <a:pPr algn="ctr" indent="0" marL="0">
              <a:buNone/>
            </a:pPr>
            <a:r>
              <a:rPr lang="en-US" sz="1150" dirty="0">
                <a:solidFill>
                  <a:schemeClr val="tx2"/>
                </a:solidFill>
              </a:rPr>
              <a:t>joint solve over all stations</a:t>
            </a:r>
            <a:endParaRPr lang="en-US" sz="1400" dirty="0"/>
          </a:p>
          <a:p>
            <a:pPr algn="ctr" indent="0" marL="0">
              <a:buNone/>
            </a:pPr>
            <a:r>
              <a:rPr lang="en-US" sz="1100" b="1" dirty="0">
                <a:solidFill>
                  <a:schemeClr val="accent1"/>
                </a:solidFill>
                <a:latin typeface="Courier New" pitchFamily="34" charset="0"/>
                <a:ea typeface="Courier New" pitchFamily="34" charset="-122"/>
                <a:cs typeface="Courier New" pitchFamily="34" charset="-120"/>
              </a:rPr>
              <a:t>network</a:t>
            </a:r>
            <a:endParaRPr lang="en-US" sz="1400" dirty="0"/>
          </a:p>
        </p:txBody>
      </p:sp>
      <p:sp>
        <p:nvSpPr>
          <p:cNvPr id="15" name="Shape 13"/>
          <p:cNvSpPr/>
          <p:nvPr/>
        </p:nvSpPr>
        <p:spPr>
          <a:xfrm>
            <a:off x="7860640" y="2926080"/>
            <a:ext cx="237744" cy="0"/>
          </a:xfrm>
          <a:prstGeom prst="line">
            <a:avLst/>
          </a:prstGeom>
          <a:noFill/>
          <a:ln w="19050">
            <a:solidFill>
              <a:schemeClr val="accent4"/>
            </a:solidFill>
            <a:prstDash val="solid"/>
            <a:tailEnd type="triangle"/>
          </a:ln>
        </p:spPr>
      </p:sp>
      <p:sp>
        <p:nvSpPr>
          <p:cNvPr id="16" name="badge 4"/>
          <p:cNvSpPr txBox="1"/>
          <p:nvPr/>
        </p:nvSpPr>
        <p:spPr>
          <a:xfrm>
            <a:off x="8683600" y="1664208"/>
            <a:ext cx="475488" cy="47548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17" name="chain link: Characteristic uncertainty"/>
          <p:cNvSpPr txBox="1"/>
          <p:nvPr/>
        </p:nvSpPr>
        <p:spPr>
          <a:xfrm>
            <a:off x="8098384" y="2240280"/>
            <a:ext cx="1645920" cy="1371600"/>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400" b="1" dirty="0">
                <a:solidFill>
                  <a:schemeClr val="tx1"/>
                </a:solidFill>
              </a:rPr>
              <a:t>Characteristic uncertainty</a:t>
            </a:r>
            <a:endParaRPr lang="en-US" sz="1400" dirty="0"/>
          </a:p>
          <a:p>
            <a:pPr algn="ctr" indent="0" marL="0">
              <a:buNone/>
            </a:pPr>
            <a:r>
              <a:rPr lang="en-US" sz="1150" dirty="0">
                <a:solidFill>
                  <a:schemeClr val="tx2"/>
                </a:solidFill>
              </a:rPr>
              <a:t>Σ projected onto the tolerance</a:t>
            </a:r>
            <a:endParaRPr lang="en-US" sz="1400" dirty="0"/>
          </a:p>
          <a:p>
            <a:pPr algn="ctr" indent="0" marL="0">
              <a:buNone/>
            </a:pPr>
            <a:r>
              <a:rPr lang="en-US" sz="1100" b="1" dirty="0">
                <a:solidFill>
                  <a:schemeClr val="accent1"/>
                </a:solidFill>
                <a:latin typeface="Courier New" pitchFamily="34" charset="0"/>
                <a:ea typeface="Courier New" pitchFamily="34" charset="-122"/>
                <a:cs typeface="Courier New" pitchFamily="34" charset="-120"/>
              </a:rPr>
              <a:t>characteristics</a:t>
            </a:r>
            <a:endParaRPr lang="en-US" sz="1400" dirty="0"/>
          </a:p>
        </p:txBody>
      </p:sp>
      <p:sp>
        <p:nvSpPr>
          <p:cNvPr id="18" name="Shape 16"/>
          <p:cNvSpPr/>
          <p:nvPr/>
        </p:nvSpPr>
        <p:spPr>
          <a:xfrm>
            <a:off x="9744304" y="2926080"/>
            <a:ext cx="237744" cy="0"/>
          </a:xfrm>
          <a:prstGeom prst="line">
            <a:avLst/>
          </a:prstGeom>
          <a:noFill/>
          <a:ln w="19050">
            <a:solidFill>
              <a:schemeClr val="accent4"/>
            </a:solidFill>
            <a:prstDash val="solid"/>
            <a:tailEnd type="triangle"/>
          </a:ln>
        </p:spPr>
      </p:sp>
      <p:sp>
        <p:nvSpPr>
          <p:cNvPr id="19" name="badge 5"/>
          <p:cNvSpPr txBox="1"/>
          <p:nvPr/>
        </p:nvSpPr>
        <p:spPr>
          <a:xfrm>
            <a:off x="10567264" y="1664208"/>
            <a:ext cx="475488" cy="47548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5</a:t>
            </a:r>
            <a:endParaRPr lang="en-US" sz="1600" dirty="0"/>
          </a:p>
        </p:txBody>
      </p:sp>
      <p:sp>
        <p:nvSpPr>
          <p:cNvPr id="20" name="chain link: Decision risk"/>
          <p:cNvSpPr txBox="1"/>
          <p:nvPr/>
        </p:nvSpPr>
        <p:spPr>
          <a:xfrm>
            <a:off x="9982048" y="2240280"/>
            <a:ext cx="1645920" cy="1371600"/>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400" b="1" dirty="0">
                <a:solidFill>
                  <a:schemeClr val="tx1"/>
                </a:solidFill>
              </a:rPr>
              <a:t>Decision risk</a:t>
            </a:r>
            <a:endParaRPr lang="en-US" sz="1400" dirty="0"/>
          </a:p>
          <a:p>
            <a:pPr algn="ctr" indent="0" marL="0">
              <a:buNone/>
            </a:pPr>
            <a:r>
              <a:rPr lang="en-US" sz="1150" dirty="0">
                <a:solidFill>
                  <a:schemeClr val="tx2"/>
                </a:solidFill>
              </a:rPr>
              <a:t>JCGM 106: PFA and PFR</a:t>
            </a:r>
            <a:endParaRPr lang="en-US" sz="1400" dirty="0"/>
          </a:p>
          <a:p>
            <a:pPr algn="ctr" indent="0" marL="0">
              <a:buNone/>
            </a:pPr>
            <a:r>
              <a:rPr lang="en-US" sz="1100" b="1" dirty="0">
                <a:solidFill>
                  <a:schemeClr val="accent1"/>
                </a:solidFill>
                <a:latin typeface="Courier New" pitchFamily="34" charset="0"/>
                <a:ea typeface="Courier New" pitchFamily="34" charset="-122"/>
                <a:cs typeface="Courier New" pitchFamily="34" charset="-120"/>
              </a:rPr>
              <a:t>risk</a:t>
            </a:r>
            <a:endParaRPr lang="en-US" sz="1400" dirty="0"/>
          </a:p>
        </p:txBody>
      </p:sp>
      <p:sp>
        <p:nvSpPr>
          <p:cNvPr id="21" name="Shape 19"/>
          <p:cNvSpPr/>
          <p:nvPr/>
        </p:nvSpPr>
        <p:spPr>
          <a:xfrm>
            <a:off x="7979512" y="1600200"/>
            <a:ext cx="0" cy="2286000"/>
          </a:xfrm>
          <a:prstGeom prst="line">
            <a:avLst/>
          </a:prstGeom>
          <a:noFill/>
          <a:ln w="28575">
            <a:solidFill>
              <a:schemeClr val="accent3"/>
            </a:solidFill>
            <a:prstDash val="dash"/>
          </a:ln>
        </p:spPr>
      </p:sp>
      <p:sp>
        <p:nvSpPr>
          <p:cNvPr id="22" name="Text 20"/>
          <p:cNvSpPr txBox="1"/>
          <p:nvPr/>
        </p:nvSpPr>
        <p:spPr>
          <a:xfrm>
            <a:off x="6242152" y="3931920"/>
            <a:ext cx="3474720" cy="320040"/>
          </a:xfrm>
          <a:prstGeom prst="rect">
            <a:avLst/>
          </a:prstGeom>
          <a:noFill/>
          <a:ln/>
        </p:spPr>
        <p:txBody>
          <a:bodyPr wrap="square" lIns="0" tIns="0" rIns="0" bIns="0" rtlCol="0" anchor="ctr"/>
          <a:lstStyle/>
          <a:p>
            <a:pPr algn="ctr" indent="0" marL="0">
              <a:buNone/>
            </a:pPr>
            <a:r>
              <a:rPr lang="en-US" sz="1250" b="1" dirty="0">
                <a:solidFill>
                  <a:schemeClr val="accent3"/>
                </a:solidFill>
              </a:rPr>
              <a:t>Existing tools stop here: minimise trace(Σ)</a:t>
            </a:r>
            <a:endParaRPr lang="en-US" sz="1250" dirty="0"/>
          </a:p>
        </p:txBody>
      </p:sp>
      <p:sp>
        <p:nvSpPr>
          <p:cNvPr id="23" name="planning  (build step 6)"/>
          <p:cNvSpPr txBox="1"/>
          <p:nvPr/>
        </p:nvSpPr>
        <p:spPr>
          <a:xfrm>
            <a:off x="2743200" y="4572000"/>
            <a:ext cx="6675120" cy="822960"/>
          </a:xfrm>
          <a:prstGeom prst="roundRect">
            <a:avLst>
              <a:gd name="adj" fmla="val 8889"/>
            </a:avLst>
          </a:prstGeom>
          <a:solidFill>
            <a:schemeClr val="accent1"/>
          </a:solidFill>
          <a:ln/>
        </p:spPr>
        <p:txBody>
          <a:bodyPr wrap="square" lIns="63500" tIns="63500" rIns="63500" bIns="635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planning  (build step 6)</a:t>
            </a:r>
            <a:endParaRPr lang="en-US" sz="1300" dirty="0"/>
          </a:p>
          <a:p>
            <a:pPr algn="ctr" indent="0" marL="0">
              <a:buNone/>
            </a:pPr>
            <a:r>
              <a:rPr lang="en-US" sz="1200" dirty="0">
                <a:solidFill>
                  <a:schemeClr val="bg1"/>
                </a:solidFill>
              </a:rPr>
              <a:t>propose station poses → run the whole chain → score with an objective (A0 / A1 / B / C) → keep the best</a:t>
            </a:r>
            <a:endParaRPr lang="en-US" sz="1300" dirty="0"/>
          </a:p>
        </p:txBody>
      </p:sp>
      <p:sp>
        <p:nvSpPr>
          <p:cNvPr id="24" name="Shape 22"/>
          <p:cNvSpPr/>
          <p:nvPr/>
        </p:nvSpPr>
        <p:spPr>
          <a:xfrm>
            <a:off x="10805008" y="3611880"/>
            <a:ext cx="0" cy="1371600"/>
          </a:xfrm>
          <a:prstGeom prst="line">
            <a:avLst/>
          </a:prstGeom>
          <a:noFill/>
          <a:ln w="19050">
            <a:solidFill>
              <a:schemeClr val="accent4"/>
            </a:solidFill>
            <a:prstDash val="solid"/>
          </a:ln>
        </p:spPr>
      </p:sp>
      <p:sp>
        <p:nvSpPr>
          <p:cNvPr id="25" name="Shape 23"/>
          <p:cNvSpPr/>
          <p:nvPr/>
        </p:nvSpPr>
        <p:spPr>
          <a:xfrm flipH="1">
            <a:off x="9418320" y="4983480"/>
            <a:ext cx="1386688" cy="0"/>
          </a:xfrm>
          <a:prstGeom prst="line">
            <a:avLst/>
          </a:prstGeom>
          <a:noFill/>
          <a:ln w="19050">
            <a:solidFill>
              <a:schemeClr val="accent4"/>
            </a:solidFill>
            <a:prstDash val="solid"/>
            <a:tailEnd type="triangle"/>
          </a:ln>
        </p:spPr>
      </p:sp>
      <p:sp>
        <p:nvSpPr>
          <p:cNvPr id="26" name="Shape 24"/>
          <p:cNvSpPr/>
          <p:nvPr/>
        </p:nvSpPr>
        <p:spPr>
          <a:xfrm flipH="1">
            <a:off x="1386688" y="4983480"/>
            <a:ext cx="1356512" cy="0"/>
          </a:xfrm>
          <a:prstGeom prst="line">
            <a:avLst/>
          </a:prstGeom>
          <a:noFill/>
          <a:ln w="19050">
            <a:solidFill>
              <a:schemeClr val="accent4"/>
            </a:solidFill>
            <a:prstDash val="solid"/>
          </a:ln>
        </p:spPr>
      </p:sp>
      <p:sp>
        <p:nvSpPr>
          <p:cNvPr id="27" name="Shape 25"/>
          <p:cNvSpPr/>
          <p:nvPr/>
        </p:nvSpPr>
        <p:spPr>
          <a:xfrm flipV="1">
            <a:off x="1386688" y="3611880"/>
            <a:ext cx="0" cy="1371600"/>
          </a:xfrm>
          <a:prstGeom prst="line">
            <a:avLst/>
          </a:prstGeom>
          <a:noFill/>
          <a:ln w="19050">
            <a:solidFill>
              <a:schemeClr val="accent4"/>
            </a:solidFill>
            <a:prstDash val="solid"/>
            <a:tailEnd type="triangle"/>
          </a:ln>
        </p:spPr>
      </p:sp>
      <p:sp>
        <p:nvSpPr>
          <p:cNvPr id="28" name="Text 26"/>
          <p:cNvSpPr txBox="1"/>
          <p:nvPr/>
        </p:nvSpPr>
        <p:spPr>
          <a:xfrm>
            <a:off x="548640" y="5852160"/>
            <a:ext cx="5486400" cy="274320"/>
          </a:xfrm>
          <a:prstGeom prst="rect">
            <a:avLst/>
          </a:prstGeom>
          <a:noFill/>
          <a:ln/>
        </p:spPr>
        <p:txBody>
          <a:bodyPr wrap="square" lIns="0" tIns="0" rIns="0" bIns="0" rtlCol="0" anchor="ctr"/>
          <a:lstStyle/>
          <a:p>
            <a:pPr algn="l" indent="0" marL="0">
              <a:buNone/>
            </a:pPr>
            <a:r>
              <a:rPr lang="en-US" sz="1100" i="1" dirty="0">
                <a:solidFill>
                  <a:schemeClr val="tx2"/>
                </a:solidFill>
              </a:rPr>
              <a:t>numbers in circles = build step (CLAUDE.md §5)</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2148840"/>
            <a:ext cx="7132320" cy="457200"/>
          </a:xfrm>
          <a:prstGeom prst="rect">
            <a:avLst/>
          </a:prstGeom>
          <a:noFill/>
          <a:ln/>
        </p:spPr>
        <p:txBody>
          <a:bodyPr wrap="square" rtlCol="0" anchor="b"/>
          <a:lstStyle/>
          <a:p>
            <a:pPr indent="0" marL="0">
              <a:buNone/>
            </a:pPr>
            <a:r>
              <a:rPr lang="en-US" sz="1600" b="1" dirty="0">
                <a:solidFill>
                  <a:schemeClr val="accent2"/>
                </a:solidFill>
              </a:rPr>
              <a:t>PART 1</a:t>
            </a:r>
            <a:endParaRPr lang="en-US" sz="1600" dirty="0"/>
          </a:p>
        </p:txBody>
      </p:sp>
      <p:sp>
        <p:nvSpPr>
          <p:cNvPr id="3" name="Text 0"/>
          <p:cNvSpPr/>
          <p:nvPr>
            <p:ph idx="101" type="title" hasCustomPrompt="1"/>
          </p:nvPr>
        </p:nvSpPr>
        <p:spPr>
          <a:xfrm>
            <a:off x="731520" y="2651760"/>
            <a:ext cx="7680960" cy="1097280"/>
          </a:xfrm>
          <a:prstGeom prst="rect">
            <a:avLst/>
          </a:prstGeom>
          <a:noFill/>
          <a:ln/>
        </p:spPr>
        <p:txBody>
          <a:bodyPr wrap="square" rtlCol="0" anchor="ctr"/>
          <a:lstStyle/>
          <a:p>
            <a:pPr algn="l" indent="0" marL="0">
              <a:buNone/>
            </a:pPr>
            <a:r>
              <a:rPr lang="en-US" sz="4000" b="1" dirty="0">
                <a:solidFill>
                  <a:schemeClr val="bg1"/>
                </a:solidFill>
              </a:rPr>
              <a:t>The physics chain</a:t>
            </a:r>
            <a:endParaRPr lang="en-US" sz="4000" dirty="0"/>
          </a:p>
        </p:txBody>
      </p:sp>
      <p:sp>
        <p:nvSpPr>
          <p:cNvPr id="4" name="Text 0"/>
          <p:cNvSpPr/>
          <p:nvPr>
            <p:ph idx="102" type="body" hasCustomPrompt="1"/>
          </p:nvPr>
        </p:nvSpPr>
        <p:spPr>
          <a:xfrm>
            <a:off x="731520" y="3794760"/>
            <a:ext cx="7315200" cy="1005840"/>
          </a:xfrm>
          <a:prstGeom prst="rect">
            <a:avLst/>
          </a:prstGeom>
          <a:noFill/>
          <a:ln/>
        </p:spPr>
        <p:txBody>
          <a:bodyPr wrap="square" rtlCol="0" anchor="t"/>
          <a:lstStyle/>
          <a:p>
            <a:pPr indent="0" marL="0">
              <a:buNone/>
            </a:pPr>
            <a:r>
              <a:rPr lang="en-US" sz="1800" dirty="0">
                <a:solidFill>
                  <a:schemeClr val="accent5"/>
                </a:solidFill>
              </a:rPr>
              <a:t>Build steps 1–5: from sensor noise to the probability of a wrong accept or reject decision</a:t>
            </a:r>
            <a:endParaRPr lang="en-US" sz="1800" dirty="0"/>
          </a:p>
        </p:txBody>
      </p:sp>
      <p:sp>
        <p:nvSpPr>
          <p:cNvPr id="5" name="section numeral"/>
          <p:cNvSpPr txBox="1"/>
          <p:nvPr/>
        </p:nvSpPr>
        <p:spPr>
          <a:xfrm>
            <a:off x="8503920" y="1280160"/>
            <a:ext cx="3108960" cy="3840480"/>
          </a:xfrm>
          <a:prstGeom prst="rect">
            <a:avLst/>
          </a:prstGeom>
          <a:noFill/>
          <a:ln/>
        </p:spPr>
        <p:txBody>
          <a:bodyPr wrap="square" lIns="0" tIns="0" rIns="0" bIns="0" rtlCol="0" anchor="ctr"/>
          <a:lstStyle/>
          <a:p>
            <a:pPr algn="r" indent="0" marL="0">
              <a:buNone/>
            </a:pPr>
            <a:r>
              <a:rPr lang="en-US" sz="24000" b="1" dirty="0">
                <a:solidFill>
                  <a:schemeClr val="accent1"/>
                </a:solidFill>
                <a:latin typeface="Cambria" pitchFamily="34" charset="0"/>
                <a:ea typeface="Cambria" pitchFamily="34" charset="-122"/>
                <a:cs typeface="Cambria" pitchFamily="34" charset="-120"/>
              </a:rPr>
              <a:t>1</a:t>
            </a:r>
            <a:endParaRPr lang="en-US" sz="24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Laser tracker error model</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Spherical sensor noise, propagated to a full 3×3 covariance per point, never a scalar</a:t>
            </a:r>
            <a:endParaRPr lang="en-US" sz="1600" dirty="0"/>
          </a:p>
        </p:txBody>
      </p:sp>
      <p:sp>
        <p:nvSpPr>
          <p:cNvPr id="4" name="badge 1"/>
          <p:cNvSpPr txBox="1"/>
          <p:nvPr/>
        </p:nvSpPr>
        <p:spPr>
          <a:xfrm>
            <a:off x="10927080" y="292608"/>
            <a:ext cx="713232" cy="713232"/>
          </a:xfrm>
          <a:prstGeom prst="ellipse">
            <a:avLst/>
          </a:prstGeom>
          <a:solidFill>
            <a:schemeClr val="accent1"/>
          </a:solidFill>
          <a:ln/>
        </p:spPr>
        <p:txBody>
          <a:bodyPr wrap="square" lIns="0" tIns="0" rIns="0" bIns="0" rtlCol="0" anchor="ctr"/>
          <a:lstStyle/>
          <a:p>
            <a:pPr algn="ctr" indent="0" marL="0">
              <a:buNone/>
            </a:pPr>
            <a:r>
              <a:rPr lang="en-US" sz="2300" b="1" dirty="0">
                <a:solidFill>
                  <a:schemeClr val="bg1"/>
                </a:solidFill>
                <a:latin typeface="Cambria" pitchFamily="34" charset="0"/>
                <a:ea typeface="Cambria" pitchFamily="34" charset="-122"/>
                <a:cs typeface="Cambria" pitchFamily="34" charset="-120"/>
              </a:rPr>
              <a:t>1</a:t>
            </a:r>
            <a:endParaRPr lang="en-US" sz="2300" dirty="0"/>
          </a:p>
        </p:txBody>
      </p:sp>
      <p:sp>
        <p:nvSpPr>
          <p:cNvPr id="5" name="Text 3"/>
          <p:cNvSpPr txBox="1"/>
          <p:nvPr/>
        </p:nvSpPr>
        <p:spPr>
          <a:xfrm>
            <a:off x="10835640" y="1024128"/>
            <a:ext cx="896112" cy="228600"/>
          </a:xfrm>
          <a:prstGeom prst="rect">
            <a:avLst/>
          </a:prstGeom>
          <a:noFill/>
          <a:ln/>
        </p:spPr>
        <p:txBody>
          <a:bodyPr wrap="square" lIns="0" tIns="0" rIns="0" bIns="0" rtlCol="0" anchor="ctr"/>
          <a:lstStyle/>
          <a:p>
            <a:pPr algn="ctr" indent="0" marL="0">
              <a:buNone/>
            </a:pPr>
            <a:r>
              <a:rPr lang="en-US" sz="1000" b="1" dirty="0">
                <a:solidFill>
                  <a:schemeClr val="accent1"/>
                </a:solidFill>
              </a:rPr>
              <a:t>STEP</a:t>
            </a:r>
            <a:endParaRPr lang="en-US" sz="1000" dirty="0"/>
          </a:p>
        </p:txBody>
      </p:sp>
      <p:sp>
        <p:nvSpPr>
          <p:cNvPr id="6" name="Sensor noise (Hughes et al. 2011, API T3)"/>
          <p:cNvSpPr txBox="1"/>
          <p:nvPr/>
        </p:nvSpPr>
        <p:spPr>
          <a:xfrm>
            <a:off x="548640" y="1554480"/>
            <a:ext cx="5760720" cy="585216"/>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300" b="1" dirty="0">
                <a:solidFill>
                  <a:schemeClr val="tx1"/>
                </a:solidFill>
              </a:rPr>
              <a:t>Sensor noise (Hughes et al. 2011, API T3)</a:t>
            </a:r>
            <a:endParaRPr lang="en-US" sz="1300" dirty="0"/>
          </a:p>
          <a:p>
            <a:pPr algn="ctr" indent="0" marL="0">
              <a:buNone/>
            </a:pPr>
            <a:r>
              <a:rPr lang="en-US" sz="1150" dirty="0">
                <a:solidFill>
                  <a:schemeClr val="tx2"/>
                </a:solidFill>
              </a:rPr>
              <a:t>σ_d = 1.216 µm (range)   ·   σ_θ = 0.485″ (azimuth)   ·   σ_φ = 0.694″ (elevation)</a:t>
            </a:r>
            <a:endParaRPr lang="en-US" sz="1300" dirty="0"/>
          </a:p>
        </p:txBody>
      </p:sp>
      <p:sp>
        <p:nvSpPr>
          <p:cNvPr id="7" name="cartesian_to_spherical(point)"/>
          <p:cNvSpPr txBox="1"/>
          <p:nvPr/>
        </p:nvSpPr>
        <p:spPr>
          <a:xfrm>
            <a:off x="548640" y="2322576"/>
            <a:ext cx="5760720" cy="585216"/>
          </a:xfrm>
          <a:prstGeom prst="roundRect">
            <a:avLst>
              <a:gd name="adj" fmla="val 12500"/>
            </a:avLst>
          </a:prstGeom>
          <a:solidFill>
            <a:schemeClr val="accent1"/>
          </a:solidFill>
          <a:ln/>
        </p:spPr>
        <p:txBody>
          <a:bodyPr wrap="square" lIns="63500" tIns="63500" rIns="63500" bIns="635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cartesian_to_spherical(point)</a:t>
            </a:r>
            <a:endParaRPr lang="en-US" sz="1300" dirty="0"/>
          </a:p>
          <a:p>
            <a:pPr algn="ctr" indent="0" marL="0">
              <a:buNone/>
            </a:pPr>
            <a:r>
              <a:rPr lang="en-US" sz="1150" dirty="0">
                <a:solidFill>
                  <a:schemeClr val="bg1"/>
                </a:solidFill>
              </a:rPr>
              <a:t>target in the station's frame → range d, azimuth θ, elevation φ</a:t>
            </a:r>
            <a:endParaRPr lang="en-US" sz="1300" dirty="0"/>
          </a:p>
        </p:txBody>
      </p:sp>
      <p:sp>
        <p:nvSpPr>
          <p:cNvPr id="8" name="spherical_jacobian(d, θ, φ)"/>
          <p:cNvSpPr txBox="1"/>
          <p:nvPr/>
        </p:nvSpPr>
        <p:spPr>
          <a:xfrm>
            <a:off x="548640" y="3090672"/>
            <a:ext cx="5760720" cy="585216"/>
          </a:xfrm>
          <a:prstGeom prst="roundRect">
            <a:avLst>
              <a:gd name="adj" fmla="val 12500"/>
            </a:avLst>
          </a:prstGeom>
          <a:solidFill>
            <a:schemeClr val="accent1"/>
          </a:solidFill>
          <a:ln/>
        </p:spPr>
        <p:txBody>
          <a:bodyPr wrap="square" lIns="63500" tIns="63500" rIns="63500" bIns="635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spherical_jacobian(d, θ, φ)</a:t>
            </a:r>
            <a:endParaRPr lang="en-US" sz="1300" dirty="0"/>
          </a:p>
          <a:p>
            <a:pPr algn="ctr" indent="0" marL="0">
              <a:buNone/>
            </a:pPr>
            <a:r>
              <a:rPr lang="en-US" sz="1150" dirty="0">
                <a:solidFill>
                  <a:schemeClr val="bg1"/>
                </a:solidFill>
              </a:rPr>
              <a:t>∂(x, y, z) / ∂(d, θ, φ): the angular columns grow with range d</a:t>
            </a:r>
            <a:endParaRPr lang="en-US" sz="1300" dirty="0"/>
          </a:p>
        </p:txBody>
      </p:sp>
      <p:sp>
        <p:nvSpPr>
          <p:cNvPr id="9" name="LaserTracker.covariance_local"/>
          <p:cNvSpPr txBox="1"/>
          <p:nvPr/>
        </p:nvSpPr>
        <p:spPr>
          <a:xfrm>
            <a:off x="548640" y="3858768"/>
            <a:ext cx="5760720" cy="585216"/>
          </a:xfrm>
          <a:prstGeom prst="roundRect">
            <a:avLst>
              <a:gd name="adj" fmla="val 12500"/>
            </a:avLst>
          </a:prstGeom>
          <a:solidFill>
            <a:schemeClr val="accent1"/>
          </a:solidFill>
          <a:ln/>
        </p:spPr>
        <p:txBody>
          <a:bodyPr wrap="square" lIns="63500" tIns="63500" rIns="63500" bIns="635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LaserTracker.covariance_local</a:t>
            </a:r>
            <a:endParaRPr lang="en-US" sz="1300" dirty="0"/>
          </a:p>
          <a:p>
            <a:pPr algn="ctr" indent="0" marL="0">
              <a:buNone/>
            </a:pPr>
            <a:r>
              <a:rPr lang="en-US" sz="1150" dirty="0">
                <a:solidFill>
                  <a:schemeClr val="bg1"/>
                </a:solidFill>
              </a:rPr>
              <a:t>Σ = J · diag(σ_d², σ_θ², σ_φ²) · Jᵀ   (+ σ_sys² · I if a systematic term is set)</a:t>
            </a:r>
            <a:endParaRPr lang="en-US" sz="1300" dirty="0"/>
          </a:p>
        </p:txBody>
      </p:sp>
      <p:sp>
        <p:nvSpPr>
          <p:cNvPr id="10" name="covariance_global(point, pose)"/>
          <p:cNvSpPr txBox="1"/>
          <p:nvPr/>
        </p:nvSpPr>
        <p:spPr>
          <a:xfrm>
            <a:off x="548640" y="4626864"/>
            <a:ext cx="5760720" cy="585216"/>
          </a:xfrm>
          <a:prstGeom prst="roundRect">
            <a:avLst>
              <a:gd name="adj" fmla="val 12500"/>
            </a:avLst>
          </a:prstGeom>
          <a:solidFill>
            <a:schemeClr val="accent1"/>
          </a:solidFill>
          <a:ln/>
        </p:spPr>
        <p:txBody>
          <a:bodyPr wrap="square" lIns="63500" tIns="63500" rIns="63500" bIns="635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covariance_global(point, pose)</a:t>
            </a:r>
            <a:endParaRPr lang="en-US" sz="1300" dirty="0"/>
          </a:p>
          <a:p>
            <a:pPr algn="ctr" indent="0" marL="0">
              <a:buNone/>
            </a:pPr>
            <a:r>
              <a:rPr lang="en-US" sz="1150" dirty="0">
                <a:solidFill>
                  <a:schemeClr val="bg1"/>
                </a:solidFill>
              </a:rPr>
              <a:t>rotate into the scene frame:  R · Σ · Rᵀ</a:t>
            </a:r>
            <a:endParaRPr lang="en-US" sz="1300" dirty="0"/>
          </a:p>
        </p:txBody>
      </p:sp>
      <p:sp>
        <p:nvSpPr>
          <p:cNvPr id="11" name="3×3 covariance per target  →  panel1_scene.png"/>
          <p:cNvSpPr txBox="1"/>
          <p:nvPr/>
        </p:nvSpPr>
        <p:spPr>
          <a:xfrm>
            <a:off x="548640" y="5394960"/>
            <a:ext cx="5760720" cy="585216"/>
          </a:xfrm>
          <a:prstGeom prst="roundRect">
            <a:avLst>
              <a:gd name="adj" fmla="val 12500"/>
            </a:avLst>
          </a:prstGeom>
          <a:solidFill>
            <a:schemeClr val="accent2"/>
          </a:solidFill>
          <a:ln/>
        </p:spPr>
        <p:txBody>
          <a:bodyPr wrap="square" lIns="63500" tIns="63500" rIns="63500" bIns="63500" rtlCol="0" anchor="ctr"/>
          <a:lstStyle/>
          <a:p>
            <a:pPr algn="ctr" indent="0" marL="0">
              <a:buNone/>
            </a:pPr>
            <a:r>
              <a:rPr lang="en-US" sz="1300" b="1" dirty="0">
                <a:solidFill>
                  <a:schemeClr val="tx1"/>
                </a:solidFill>
              </a:rPr>
              <a:t>3×3 covariance per target  →  panel1_scene.png</a:t>
            </a:r>
            <a:endParaRPr lang="en-US" sz="1300" dirty="0"/>
          </a:p>
          <a:p>
            <a:pPr algn="ctr" indent="0" marL="0">
              <a:buNone/>
            </a:pPr>
            <a:r>
              <a:rPr lang="en-US" sz="1150" dirty="0">
                <a:solidFill>
                  <a:schemeClr val="tx1"/>
                </a:solidFill>
              </a:rPr>
              <a:t>make_panel1_scene(): 10 random points, one station, ellipsoids drawn exaggerated</a:t>
            </a:r>
            <a:endParaRPr lang="en-US" sz="1300" dirty="0"/>
          </a:p>
        </p:txBody>
      </p:sp>
      <p:sp>
        <p:nvSpPr>
          <p:cNvPr id="12" name="Shape 10"/>
          <p:cNvSpPr/>
          <p:nvPr/>
        </p:nvSpPr>
        <p:spPr>
          <a:xfrm>
            <a:off x="3429000" y="2139696"/>
            <a:ext cx="0" cy="182880"/>
          </a:xfrm>
          <a:prstGeom prst="line">
            <a:avLst/>
          </a:prstGeom>
          <a:noFill/>
          <a:ln w="19050">
            <a:solidFill>
              <a:schemeClr val="accent4"/>
            </a:solidFill>
            <a:prstDash val="solid"/>
            <a:tailEnd type="triangle"/>
          </a:ln>
        </p:spPr>
      </p:sp>
      <p:sp>
        <p:nvSpPr>
          <p:cNvPr id="13" name="Shape 11"/>
          <p:cNvSpPr/>
          <p:nvPr/>
        </p:nvSpPr>
        <p:spPr>
          <a:xfrm>
            <a:off x="3429000" y="2907792"/>
            <a:ext cx="0" cy="182880"/>
          </a:xfrm>
          <a:prstGeom prst="line">
            <a:avLst/>
          </a:prstGeom>
          <a:noFill/>
          <a:ln w="19050">
            <a:solidFill>
              <a:schemeClr val="accent4"/>
            </a:solidFill>
            <a:prstDash val="solid"/>
            <a:tailEnd type="triangle"/>
          </a:ln>
        </p:spPr>
      </p:sp>
      <p:sp>
        <p:nvSpPr>
          <p:cNvPr id="14" name="Shape 12"/>
          <p:cNvSpPr/>
          <p:nvPr/>
        </p:nvSpPr>
        <p:spPr>
          <a:xfrm>
            <a:off x="3429000" y="3675888"/>
            <a:ext cx="0" cy="182880"/>
          </a:xfrm>
          <a:prstGeom prst="line">
            <a:avLst/>
          </a:prstGeom>
          <a:noFill/>
          <a:ln w="19050">
            <a:solidFill>
              <a:schemeClr val="accent4"/>
            </a:solidFill>
            <a:prstDash val="solid"/>
            <a:tailEnd type="triangle"/>
          </a:ln>
        </p:spPr>
      </p:sp>
      <p:sp>
        <p:nvSpPr>
          <p:cNvPr id="15" name="Shape 13"/>
          <p:cNvSpPr/>
          <p:nvPr/>
        </p:nvSpPr>
        <p:spPr>
          <a:xfrm>
            <a:off x="3429000" y="4443984"/>
            <a:ext cx="0" cy="182880"/>
          </a:xfrm>
          <a:prstGeom prst="line">
            <a:avLst/>
          </a:prstGeom>
          <a:noFill/>
          <a:ln w="19050">
            <a:solidFill>
              <a:schemeClr val="accent4"/>
            </a:solidFill>
            <a:prstDash val="solid"/>
            <a:tailEnd type="triangle"/>
          </a:ln>
        </p:spPr>
      </p:sp>
      <p:sp>
        <p:nvSpPr>
          <p:cNvPr id="16" name="Shape 14"/>
          <p:cNvSpPr/>
          <p:nvPr/>
        </p:nvSpPr>
        <p:spPr>
          <a:xfrm>
            <a:off x="3429000" y="5212080"/>
            <a:ext cx="0" cy="182880"/>
          </a:xfrm>
          <a:prstGeom prst="line">
            <a:avLst/>
          </a:prstGeom>
          <a:noFill/>
          <a:ln w="19050">
            <a:solidFill>
              <a:schemeClr val="accent4"/>
            </a:solidFill>
            <a:prstDash val="solid"/>
            <a:tailEnd type="triangle"/>
          </a:ln>
        </p:spPr>
      </p:sp>
      <p:pic>
        <p:nvPicPr>
          <p:cNvPr id="17" name="Image 0" descr="Panel 1: per-point error ellipsoids from a single laser tracker station">    </p:cNvPr>
          <p:cNvPicPr>
            <a:picLocks noChangeAspect="1"/>
          </p:cNvPicPr>
          <p:nvPr/>
        </p:nvPicPr>
        <p:blipFill>
          <a:blip r:embed="rId1"/>
          <a:stretch>
            <a:fillRect/>
          </a:stretch>
        </p:blipFill>
        <p:spPr>
          <a:xfrm>
            <a:off x="7473830" y="1554480"/>
            <a:ext cx="3367773" cy="3611880"/>
          </a:xfrm>
          <a:prstGeom prst="rect">
            <a:avLst/>
          </a:prstGeom>
        </p:spPr>
      </p:pic>
      <p:sp>
        <p:nvSpPr>
          <p:cNvPr id="18" name="Shape 15"/>
          <p:cNvSpPr/>
          <p:nvPr/>
        </p:nvSpPr>
        <p:spPr>
          <a:xfrm>
            <a:off x="7473830" y="1554480"/>
            <a:ext cx="3367773" cy="3611880"/>
          </a:xfrm>
          <a:prstGeom prst="rect">
            <a:avLst/>
          </a:prstGeom>
          <a:ln w="12700">
            <a:solidFill>
              <a:schemeClr val="bg2"/>
            </a:solidFill>
            <a:prstDash val="solid"/>
          </a:ln>
        </p:spPr>
      </p:sp>
      <p:sp>
        <p:nvSpPr>
          <p:cNvPr id="19" name="GATE callout"/>
          <p:cNvSpPr txBox="1"/>
          <p:nvPr/>
        </p:nvSpPr>
        <p:spPr>
          <a:xfrm>
            <a:off x="6675120" y="5303520"/>
            <a:ext cx="4965192" cy="658368"/>
          </a:xfrm>
          <a:prstGeom prst="roundRect">
            <a:avLst>
              <a:gd name="adj" fmla="val 11111"/>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250" b="1" dirty="0">
                <a:solidFill>
                  <a:schemeClr val="accent3"/>
                </a:solidFill>
              </a:rPr>
              <a:t>GATE   </a:t>
            </a:r>
            <a:pPr algn="l" indent="0" marL="0">
              <a:buNone/>
            </a:pPr>
            <a:r>
              <a:rPr lang="en-US" sz="1250" dirty="0">
                <a:solidFill>
                  <a:schemeClr val="tx1"/>
                </a:solidFill>
              </a:rPr>
              <a:t>at 2.5 m: lateral 5–9 µm, radial ≈ 1.2 µm, ratio 5–7 : 1, long axes ⟂ beam</a:t>
            </a:r>
            <a:endParaRPr lang="en-US" sz="1250" dirty="0"/>
          </a:p>
        </p:txBody>
      </p:sp>
      <p:sp>
        <p:nvSpPr>
          <p:cNvPr id="20" name="Shape 17"/>
          <p:cNvSpPr/>
          <p:nvPr/>
        </p:nvSpPr>
        <p:spPr>
          <a:xfrm>
            <a:off x="548640" y="6080760"/>
            <a:ext cx="256032" cy="164592"/>
          </a:xfrm>
          <a:prstGeom prst="roundRect">
            <a:avLst>
              <a:gd name="adj" fmla="val 22222"/>
            </a:avLst>
          </a:prstGeom>
          <a:solidFill>
            <a:schemeClr val="accent1"/>
          </a:solidFill>
          <a:ln/>
        </p:spPr>
      </p:sp>
      <p:sp>
        <p:nvSpPr>
          <p:cNvPr id="21" name="Text 18"/>
          <p:cNvSpPr txBox="1"/>
          <p:nvPr/>
        </p:nvSpPr>
        <p:spPr>
          <a:xfrm>
            <a:off x="877824"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function in src/ or viz/</a:t>
            </a:r>
            <a:endParaRPr lang="en-US" sz="1050" dirty="0"/>
          </a:p>
        </p:txBody>
      </p:sp>
      <p:sp>
        <p:nvSpPr>
          <p:cNvPr id="22" name="Shape 19"/>
          <p:cNvSpPr/>
          <p:nvPr/>
        </p:nvSpPr>
        <p:spPr>
          <a:xfrm>
            <a:off x="3264408" y="6080760"/>
            <a:ext cx="256032" cy="164592"/>
          </a:xfrm>
          <a:prstGeom prst="rect">
            <a:avLst/>
          </a:prstGeom>
          <a:solidFill>
            <a:schemeClr val="bg2"/>
          </a:solidFill>
          <a:ln w="9525">
            <a:solidFill>
              <a:schemeClr val="accent4"/>
            </a:solidFill>
            <a:prstDash val="solid"/>
          </a:ln>
        </p:spPr>
      </p:sp>
      <p:sp>
        <p:nvSpPr>
          <p:cNvPr id="23" name="Text 20"/>
          <p:cNvSpPr txBox="1"/>
          <p:nvPr/>
        </p:nvSpPr>
        <p:spPr>
          <a:xfrm>
            <a:off x="3593592"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input / data object</a:t>
            </a:r>
            <a:endParaRPr lang="en-US" sz="1050" dirty="0"/>
          </a:p>
        </p:txBody>
      </p:sp>
      <p:sp>
        <p:nvSpPr>
          <p:cNvPr id="24" name="Shape 21"/>
          <p:cNvSpPr/>
          <p:nvPr/>
        </p:nvSpPr>
        <p:spPr>
          <a:xfrm>
            <a:off x="5568696" y="6080760"/>
            <a:ext cx="256032" cy="164592"/>
          </a:xfrm>
          <a:prstGeom prst="roundRect">
            <a:avLst>
              <a:gd name="adj" fmla="val 22222"/>
            </a:avLst>
          </a:prstGeom>
          <a:solidFill>
            <a:schemeClr val="accent2"/>
          </a:solidFill>
          <a:ln/>
        </p:spPr>
      </p:sp>
      <p:sp>
        <p:nvSpPr>
          <p:cNvPr id="25" name="Text 22"/>
          <p:cNvSpPr txBox="1"/>
          <p:nvPr/>
        </p:nvSpPr>
        <p:spPr>
          <a:xfrm>
            <a:off x="5897880"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output / figure</a:t>
            </a:r>
            <a:endParaRPr lang="en-US" sz="1050" dirty="0"/>
          </a:p>
        </p:txBody>
      </p:sp>
      <p:sp>
        <p:nvSpPr>
          <p:cNvPr id="26" name="Shape 23"/>
          <p:cNvSpPr/>
          <p:nvPr/>
        </p:nvSpPr>
        <p:spPr>
          <a:xfrm>
            <a:off x="7543800" y="6080760"/>
            <a:ext cx="256032" cy="164592"/>
          </a:xfrm>
          <a:prstGeom prst="roundRect">
            <a:avLst>
              <a:gd name="adj" fmla="val 22222"/>
            </a:avLst>
          </a:prstGeom>
          <a:solidFill>
            <a:schemeClr val="accent3"/>
          </a:solidFill>
          <a:ln/>
        </p:spPr>
      </p:sp>
      <p:sp>
        <p:nvSpPr>
          <p:cNvPr id="27" name="Text 24"/>
          <p:cNvSpPr txBox="1"/>
          <p:nvPr/>
        </p:nvSpPr>
        <p:spPr>
          <a:xfrm>
            <a:off x="7872984"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check or rejection</a:t>
            </a:r>
            <a:endParaRPr lang="en-US" sz="10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Can the station see the target?</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Three independent yes/no checks, cheapest first, before any error model runs</a:t>
            </a:r>
            <a:endParaRPr lang="en-US" sz="1600" dirty="0"/>
          </a:p>
        </p:txBody>
      </p:sp>
      <p:sp>
        <p:nvSpPr>
          <p:cNvPr id="4" name="badge 2"/>
          <p:cNvSpPr txBox="1"/>
          <p:nvPr/>
        </p:nvSpPr>
        <p:spPr>
          <a:xfrm>
            <a:off x="10927080" y="292608"/>
            <a:ext cx="713232" cy="713232"/>
          </a:xfrm>
          <a:prstGeom prst="ellipse">
            <a:avLst/>
          </a:prstGeom>
          <a:solidFill>
            <a:schemeClr val="accent1"/>
          </a:solidFill>
          <a:ln/>
        </p:spPr>
        <p:txBody>
          <a:bodyPr wrap="square" lIns="0" tIns="0" rIns="0" bIns="0" rtlCol="0" anchor="ctr"/>
          <a:lstStyle/>
          <a:p>
            <a:pPr algn="ctr" indent="0" marL="0">
              <a:buNone/>
            </a:pPr>
            <a:r>
              <a:rPr lang="en-US" sz="2300" b="1" dirty="0">
                <a:solidFill>
                  <a:schemeClr val="bg1"/>
                </a:solidFill>
                <a:latin typeface="Cambria" pitchFamily="34" charset="0"/>
                <a:ea typeface="Cambria" pitchFamily="34" charset="-122"/>
                <a:cs typeface="Cambria" pitchFamily="34" charset="-120"/>
              </a:rPr>
              <a:t>2</a:t>
            </a:r>
            <a:endParaRPr lang="en-US" sz="2300" dirty="0"/>
          </a:p>
        </p:txBody>
      </p:sp>
      <p:sp>
        <p:nvSpPr>
          <p:cNvPr id="5" name="Text 3"/>
          <p:cNvSpPr txBox="1"/>
          <p:nvPr/>
        </p:nvSpPr>
        <p:spPr>
          <a:xfrm>
            <a:off x="10835640" y="1024128"/>
            <a:ext cx="896112" cy="228600"/>
          </a:xfrm>
          <a:prstGeom prst="rect">
            <a:avLst/>
          </a:prstGeom>
          <a:noFill/>
          <a:ln/>
        </p:spPr>
        <p:txBody>
          <a:bodyPr wrap="square" lIns="0" tIns="0" rIns="0" bIns="0" rtlCol="0" anchor="ctr"/>
          <a:lstStyle/>
          <a:p>
            <a:pPr algn="ctr" indent="0" marL="0">
              <a:buNone/>
            </a:pPr>
            <a:r>
              <a:rPr lang="en-US" sz="1000" b="1" dirty="0">
                <a:solidFill>
                  <a:schemeClr val="accent1"/>
                </a:solidFill>
              </a:rPr>
              <a:t>STEP</a:t>
            </a:r>
            <a:endParaRPr lang="en-US" sz="1000" dirty="0"/>
          </a:p>
        </p:txBody>
      </p:sp>
      <p:sp>
        <p:nvSpPr>
          <p:cNvPr id="6" name="Station + target"/>
          <p:cNvSpPr txBox="1"/>
          <p:nvPr/>
        </p:nvSpPr>
        <p:spPr>
          <a:xfrm>
            <a:off x="548640" y="2011680"/>
            <a:ext cx="1965960" cy="1005840"/>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300" b="1" dirty="0">
                <a:solidFill>
                  <a:schemeClr val="tx1"/>
                </a:solidFill>
              </a:rPr>
              <a:t>Station + target</a:t>
            </a:r>
            <a:endParaRPr lang="en-US" sz="1300" dirty="0"/>
          </a:p>
          <a:p>
            <a:pPr algn="ctr" indent="0" marL="0">
              <a:buNone/>
            </a:pPr>
            <a:r>
              <a:rPr lang="en-US" sz="1150" dirty="0">
                <a:solidFill>
                  <a:schemeClr val="tx2"/>
                </a:solidFill>
              </a:rPr>
              <a:t>position, surface normal, obstacle mesh</a:t>
            </a:r>
            <a:endParaRPr lang="en-US" sz="1300" dirty="0"/>
          </a:p>
        </p:txBody>
      </p:sp>
      <p:sp>
        <p:nvSpPr>
          <p:cNvPr id="7" name="decision: range ≤ max range?"/>
          <p:cNvSpPr txBox="1"/>
          <p:nvPr/>
        </p:nvSpPr>
        <p:spPr>
          <a:xfrm>
            <a:off x="2880360" y="1828800"/>
            <a:ext cx="2057400" cy="1371600"/>
          </a:xfrm>
          <a:prstGeom prst="flowChartDecision">
            <a:avLst/>
          </a:prstGeom>
          <a:solidFill>
            <a:schemeClr val="bg1"/>
          </a:solidFill>
          <a:ln w="22225">
            <a:solidFill>
              <a:schemeClr val="accent3"/>
            </a:solidFill>
          </a:ln>
        </p:spPr>
        <p:txBody>
          <a:bodyPr wrap="square" lIns="25400" tIns="25400" rIns="25400" bIns="25400" rtlCol="0" anchor="ctr"/>
          <a:lstStyle/>
          <a:p>
            <a:pPr algn="ctr" indent="0" marL="0">
              <a:buNone/>
            </a:pPr>
            <a:r>
              <a:rPr lang="en-US" sz="1200" b="1" dirty="0">
                <a:solidFill>
                  <a:schemeClr val="tx1"/>
                </a:solidFill>
              </a:rPr>
              <a:t>range ≤ max range?</a:t>
            </a:r>
            <a:endParaRPr lang="en-US" sz="1200" dirty="0"/>
          </a:p>
        </p:txBody>
      </p:sp>
      <p:sp>
        <p:nvSpPr>
          <p:cNvPr id="8" name="decision: incidence ≤ max angle?"/>
          <p:cNvSpPr txBox="1"/>
          <p:nvPr/>
        </p:nvSpPr>
        <p:spPr>
          <a:xfrm>
            <a:off x="5349240" y="1828800"/>
            <a:ext cx="2057400" cy="1371600"/>
          </a:xfrm>
          <a:prstGeom prst="flowChartDecision">
            <a:avLst/>
          </a:prstGeom>
          <a:solidFill>
            <a:schemeClr val="bg1"/>
          </a:solidFill>
          <a:ln w="22225">
            <a:solidFill>
              <a:schemeClr val="accent3"/>
            </a:solidFill>
          </a:ln>
        </p:spPr>
        <p:txBody>
          <a:bodyPr wrap="square" lIns="25400" tIns="25400" rIns="25400" bIns="25400" rtlCol="0" anchor="ctr"/>
          <a:lstStyle/>
          <a:p>
            <a:pPr algn="ctr" indent="0" marL="0">
              <a:buNone/>
            </a:pPr>
            <a:r>
              <a:rPr lang="en-US" sz="1200" b="1" dirty="0">
                <a:solidFill>
                  <a:schemeClr val="tx1"/>
                </a:solidFill>
              </a:rPr>
              <a:t>incidence ≤ max angle?</a:t>
            </a:r>
            <a:endParaRPr lang="en-US" sz="1200" dirty="0"/>
          </a:p>
        </p:txBody>
      </p:sp>
      <p:sp>
        <p:nvSpPr>
          <p:cNvPr id="9" name="decision: segment hits obstacle?"/>
          <p:cNvSpPr txBox="1"/>
          <p:nvPr/>
        </p:nvSpPr>
        <p:spPr>
          <a:xfrm>
            <a:off x="7818120" y="1828800"/>
            <a:ext cx="2057400" cy="1371600"/>
          </a:xfrm>
          <a:prstGeom prst="flowChartDecision">
            <a:avLst/>
          </a:prstGeom>
          <a:solidFill>
            <a:schemeClr val="bg1"/>
          </a:solidFill>
          <a:ln w="22225">
            <a:solidFill>
              <a:schemeClr val="accent3"/>
            </a:solidFill>
          </a:ln>
        </p:spPr>
        <p:txBody>
          <a:bodyPr wrap="square" lIns="25400" tIns="25400" rIns="25400" bIns="25400" rtlCol="0" anchor="ctr"/>
          <a:lstStyle/>
          <a:p>
            <a:pPr algn="ctr" indent="0" marL="0">
              <a:buNone/>
            </a:pPr>
            <a:r>
              <a:rPr lang="en-US" sz="1200" b="1" dirty="0">
                <a:solidFill>
                  <a:schemeClr val="tx1"/>
                </a:solidFill>
              </a:rPr>
              <a:t>segment hits obstacle?</a:t>
            </a:r>
            <a:endParaRPr lang="en-US" sz="1200" dirty="0"/>
          </a:p>
        </p:txBody>
      </p:sp>
      <p:sp>
        <p:nvSpPr>
          <p:cNvPr id="10" name="VISIBLE"/>
          <p:cNvSpPr txBox="1"/>
          <p:nvPr/>
        </p:nvSpPr>
        <p:spPr>
          <a:xfrm>
            <a:off x="10287000" y="2148840"/>
            <a:ext cx="1353312" cy="731520"/>
          </a:xfrm>
          <a:prstGeom prst="roundRect">
            <a:avLst>
              <a:gd name="adj" fmla="val 10000"/>
            </a:avLst>
          </a:prstGeom>
          <a:solidFill>
            <a:schemeClr val="accent2"/>
          </a:solidFill>
          <a:ln/>
        </p:spPr>
        <p:txBody>
          <a:bodyPr wrap="square" lIns="63500" tIns="63500" rIns="63500" bIns="6350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VISIBLE</a:t>
            </a:r>
            <a:endParaRPr lang="en-US" sz="1300" dirty="0"/>
          </a:p>
        </p:txBody>
      </p:sp>
      <p:sp>
        <p:nvSpPr>
          <p:cNvPr id="11" name="Shape 9"/>
          <p:cNvSpPr/>
          <p:nvPr/>
        </p:nvSpPr>
        <p:spPr>
          <a:xfrm>
            <a:off x="2514600" y="2514600"/>
            <a:ext cx="365760" cy="0"/>
          </a:xfrm>
          <a:prstGeom prst="line">
            <a:avLst/>
          </a:prstGeom>
          <a:noFill/>
          <a:ln w="19050">
            <a:solidFill>
              <a:schemeClr val="accent4"/>
            </a:solidFill>
            <a:prstDash val="solid"/>
            <a:tailEnd type="triangle"/>
          </a:ln>
        </p:spPr>
      </p:sp>
      <p:sp>
        <p:nvSpPr>
          <p:cNvPr id="12" name="Shape 10"/>
          <p:cNvSpPr/>
          <p:nvPr/>
        </p:nvSpPr>
        <p:spPr>
          <a:xfrm>
            <a:off x="4937760" y="2514600"/>
            <a:ext cx="411480" cy="0"/>
          </a:xfrm>
          <a:prstGeom prst="line">
            <a:avLst/>
          </a:prstGeom>
          <a:noFill/>
          <a:ln w="19050">
            <a:solidFill>
              <a:schemeClr val="accent4"/>
            </a:solidFill>
            <a:prstDash val="solid"/>
            <a:tailEnd type="triangle"/>
          </a:ln>
        </p:spPr>
      </p:sp>
      <p:sp>
        <p:nvSpPr>
          <p:cNvPr id="13" name="Text 11"/>
          <p:cNvSpPr txBox="1"/>
          <p:nvPr/>
        </p:nvSpPr>
        <p:spPr>
          <a:xfrm>
            <a:off x="4937760" y="2221992"/>
            <a:ext cx="411480" cy="256032"/>
          </a:xfrm>
          <a:prstGeom prst="rect">
            <a:avLst/>
          </a:prstGeom>
          <a:noFill/>
          <a:ln/>
        </p:spPr>
        <p:txBody>
          <a:bodyPr wrap="square" lIns="0" tIns="0" rIns="0" bIns="0" rtlCol="0" anchor="ctr"/>
          <a:lstStyle/>
          <a:p>
            <a:pPr algn="ctr" indent="0" marL="0">
              <a:buNone/>
            </a:pPr>
            <a:r>
              <a:rPr lang="en-US" sz="1100" i="1" dirty="0">
                <a:solidFill>
                  <a:schemeClr val="tx2"/>
                </a:solidFill>
              </a:rPr>
              <a:t>yes</a:t>
            </a:r>
            <a:endParaRPr lang="en-US" sz="1100" dirty="0"/>
          </a:p>
        </p:txBody>
      </p:sp>
      <p:sp>
        <p:nvSpPr>
          <p:cNvPr id="14" name="Shape 12"/>
          <p:cNvSpPr/>
          <p:nvPr/>
        </p:nvSpPr>
        <p:spPr>
          <a:xfrm>
            <a:off x="7406640" y="2514600"/>
            <a:ext cx="411480" cy="0"/>
          </a:xfrm>
          <a:prstGeom prst="line">
            <a:avLst/>
          </a:prstGeom>
          <a:noFill/>
          <a:ln w="19050">
            <a:solidFill>
              <a:schemeClr val="accent4"/>
            </a:solidFill>
            <a:prstDash val="solid"/>
            <a:tailEnd type="triangle"/>
          </a:ln>
        </p:spPr>
      </p:sp>
      <p:sp>
        <p:nvSpPr>
          <p:cNvPr id="15" name="Text 13"/>
          <p:cNvSpPr txBox="1"/>
          <p:nvPr/>
        </p:nvSpPr>
        <p:spPr>
          <a:xfrm>
            <a:off x="7406640" y="2221992"/>
            <a:ext cx="411480" cy="256032"/>
          </a:xfrm>
          <a:prstGeom prst="rect">
            <a:avLst/>
          </a:prstGeom>
          <a:noFill/>
          <a:ln/>
        </p:spPr>
        <p:txBody>
          <a:bodyPr wrap="square" lIns="0" tIns="0" rIns="0" bIns="0" rtlCol="0" anchor="ctr"/>
          <a:lstStyle/>
          <a:p>
            <a:pPr algn="ctr" indent="0" marL="0">
              <a:buNone/>
            </a:pPr>
            <a:r>
              <a:rPr lang="en-US" sz="1100" i="1" dirty="0">
                <a:solidFill>
                  <a:schemeClr val="tx2"/>
                </a:solidFill>
              </a:rPr>
              <a:t>yes</a:t>
            </a:r>
            <a:endParaRPr lang="en-US" sz="1100" dirty="0"/>
          </a:p>
        </p:txBody>
      </p:sp>
      <p:sp>
        <p:nvSpPr>
          <p:cNvPr id="16" name="Shape 14"/>
          <p:cNvSpPr/>
          <p:nvPr/>
        </p:nvSpPr>
        <p:spPr>
          <a:xfrm>
            <a:off x="9875520" y="2514600"/>
            <a:ext cx="411480" cy="0"/>
          </a:xfrm>
          <a:prstGeom prst="line">
            <a:avLst/>
          </a:prstGeom>
          <a:noFill/>
          <a:ln w="19050">
            <a:solidFill>
              <a:schemeClr val="accent4"/>
            </a:solidFill>
            <a:prstDash val="solid"/>
            <a:tailEnd type="triangle"/>
          </a:ln>
        </p:spPr>
      </p:sp>
      <p:sp>
        <p:nvSpPr>
          <p:cNvPr id="17" name="Text 15"/>
          <p:cNvSpPr txBox="1"/>
          <p:nvPr/>
        </p:nvSpPr>
        <p:spPr>
          <a:xfrm>
            <a:off x="9875520" y="2221992"/>
            <a:ext cx="411480" cy="256032"/>
          </a:xfrm>
          <a:prstGeom prst="rect">
            <a:avLst/>
          </a:prstGeom>
          <a:noFill/>
          <a:ln/>
        </p:spPr>
        <p:txBody>
          <a:bodyPr wrap="square" lIns="0" tIns="0" rIns="0" bIns="0" rtlCol="0" anchor="ctr"/>
          <a:lstStyle/>
          <a:p>
            <a:pPr algn="ctr" indent="0" marL="0">
              <a:buNone/>
            </a:pPr>
            <a:r>
              <a:rPr lang="en-US" sz="1100" i="1" dirty="0">
                <a:solidFill>
                  <a:schemeClr val="tx2"/>
                </a:solidFill>
              </a:rPr>
              <a:t>no</a:t>
            </a:r>
            <a:endParaRPr lang="en-US" sz="1100" dirty="0"/>
          </a:p>
        </p:txBody>
      </p:sp>
      <p:sp>
        <p:nvSpPr>
          <p:cNvPr id="18" name="OUT_OF_RANGE"/>
          <p:cNvSpPr txBox="1"/>
          <p:nvPr/>
        </p:nvSpPr>
        <p:spPr>
          <a:xfrm>
            <a:off x="2880360" y="3703320"/>
            <a:ext cx="2057400" cy="502920"/>
          </a:xfrm>
          <a:prstGeom prst="roundRect">
            <a:avLst>
              <a:gd name="adj" fmla="val 14545"/>
            </a:avLst>
          </a:prstGeom>
          <a:solidFill>
            <a:schemeClr val="accent3"/>
          </a:solidFill>
          <a:ln/>
        </p:spPr>
        <p:txBody>
          <a:bodyPr wrap="square" lIns="63500" tIns="63500" rIns="63500" bIns="63500" rtlCol="0" anchor="ctr"/>
          <a:lstStyle/>
          <a:p>
            <a:pPr algn="ctr" indent="0" marL="0">
              <a:buNone/>
            </a:pPr>
            <a:r>
              <a:rPr lang="en-US" sz="1150" b="1" dirty="0">
                <a:solidFill>
                  <a:schemeClr val="bg1"/>
                </a:solidFill>
                <a:latin typeface="Courier New" pitchFamily="34" charset="0"/>
                <a:ea typeface="Courier New" pitchFamily="34" charset="-122"/>
                <a:cs typeface="Courier New" pitchFamily="34" charset="-120"/>
              </a:rPr>
              <a:t>OUT_OF_RANGE</a:t>
            </a:r>
            <a:endParaRPr lang="en-US" sz="1150" dirty="0"/>
          </a:p>
        </p:txBody>
      </p:sp>
      <p:sp>
        <p:nvSpPr>
          <p:cNvPr id="19" name="Shape 17"/>
          <p:cNvSpPr/>
          <p:nvPr/>
        </p:nvSpPr>
        <p:spPr>
          <a:xfrm>
            <a:off x="3909060" y="3200400"/>
            <a:ext cx="0" cy="502920"/>
          </a:xfrm>
          <a:prstGeom prst="line">
            <a:avLst/>
          </a:prstGeom>
          <a:noFill/>
          <a:ln w="19050">
            <a:solidFill>
              <a:schemeClr val="accent4"/>
            </a:solidFill>
            <a:prstDash val="solid"/>
            <a:tailEnd type="triangle"/>
          </a:ln>
        </p:spPr>
      </p:sp>
      <p:sp>
        <p:nvSpPr>
          <p:cNvPr id="20" name="Text 18"/>
          <p:cNvSpPr txBox="1"/>
          <p:nvPr/>
        </p:nvSpPr>
        <p:spPr>
          <a:xfrm>
            <a:off x="3982212" y="3200400"/>
            <a:ext cx="457200" cy="457200"/>
          </a:xfrm>
          <a:prstGeom prst="rect">
            <a:avLst/>
          </a:prstGeom>
          <a:noFill/>
          <a:ln/>
        </p:spPr>
        <p:txBody>
          <a:bodyPr wrap="square" lIns="0" tIns="0" rIns="0" bIns="0" rtlCol="0" anchor="ctr"/>
          <a:lstStyle/>
          <a:p>
            <a:pPr algn="l" indent="0" marL="0">
              <a:buNone/>
            </a:pPr>
            <a:r>
              <a:rPr lang="en-US" sz="1100" i="1" dirty="0">
                <a:solidFill>
                  <a:schemeClr val="tx2"/>
                </a:solidFill>
              </a:rPr>
              <a:t>no</a:t>
            </a:r>
            <a:endParaRPr lang="en-US" sz="1100" dirty="0"/>
          </a:p>
        </p:txBody>
      </p:sp>
      <p:sp>
        <p:nvSpPr>
          <p:cNvPr id="21" name="INCIDENCE_TOO_STEEP"/>
          <p:cNvSpPr txBox="1"/>
          <p:nvPr/>
        </p:nvSpPr>
        <p:spPr>
          <a:xfrm>
            <a:off x="5349240" y="3703320"/>
            <a:ext cx="2057400" cy="502920"/>
          </a:xfrm>
          <a:prstGeom prst="roundRect">
            <a:avLst>
              <a:gd name="adj" fmla="val 14545"/>
            </a:avLst>
          </a:prstGeom>
          <a:solidFill>
            <a:schemeClr val="accent3"/>
          </a:solidFill>
          <a:ln/>
        </p:spPr>
        <p:txBody>
          <a:bodyPr wrap="square" lIns="63500" tIns="63500" rIns="63500" bIns="63500" rtlCol="0" anchor="ctr"/>
          <a:lstStyle/>
          <a:p>
            <a:pPr algn="ctr" indent="0" marL="0">
              <a:buNone/>
            </a:pPr>
            <a:r>
              <a:rPr lang="en-US" sz="1150" b="1" dirty="0">
                <a:solidFill>
                  <a:schemeClr val="bg1"/>
                </a:solidFill>
                <a:latin typeface="Courier New" pitchFamily="34" charset="0"/>
                <a:ea typeface="Courier New" pitchFamily="34" charset="-122"/>
                <a:cs typeface="Courier New" pitchFamily="34" charset="-120"/>
              </a:rPr>
              <a:t>INCIDENCE_TOO_STEEP</a:t>
            </a:r>
            <a:endParaRPr lang="en-US" sz="1150" dirty="0"/>
          </a:p>
        </p:txBody>
      </p:sp>
      <p:sp>
        <p:nvSpPr>
          <p:cNvPr id="22" name="Shape 20"/>
          <p:cNvSpPr/>
          <p:nvPr/>
        </p:nvSpPr>
        <p:spPr>
          <a:xfrm>
            <a:off x="6377940" y="3200400"/>
            <a:ext cx="0" cy="502920"/>
          </a:xfrm>
          <a:prstGeom prst="line">
            <a:avLst/>
          </a:prstGeom>
          <a:noFill/>
          <a:ln w="19050">
            <a:solidFill>
              <a:schemeClr val="accent4"/>
            </a:solidFill>
            <a:prstDash val="solid"/>
            <a:tailEnd type="triangle"/>
          </a:ln>
        </p:spPr>
      </p:sp>
      <p:sp>
        <p:nvSpPr>
          <p:cNvPr id="23" name="Text 21"/>
          <p:cNvSpPr txBox="1"/>
          <p:nvPr/>
        </p:nvSpPr>
        <p:spPr>
          <a:xfrm>
            <a:off x="6451092" y="3200400"/>
            <a:ext cx="457200" cy="457200"/>
          </a:xfrm>
          <a:prstGeom prst="rect">
            <a:avLst/>
          </a:prstGeom>
          <a:noFill/>
          <a:ln/>
        </p:spPr>
        <p:txBody>
          <a:bodyPr wrap="square" lIns="0" tIns="0" rIns="0" bIns="0" rtlCol="0" anchor="ctr"/>
          <a:lstStyle/>
          <a:p>
            <a:pPr algn="l" indent="0" marL="0">
              <a:buNone/>
            </a:pPr>
            <a:r>
              <a:rPr lang="en-US" sz="1100" i="1" dirty="0">
                <a:solidFill>
                  <a:schemeClr val="tx2"/>
                </a:solidFill>
              </a:rPr>
              <a:t>no</a:t>
            </a:r>
            <a:endParaRPr lang="en-US" sz="1100" dirty="0"/>
          </a:p>
        </p:txBody>
      </p:sp>
      <p:sp>
        <p:nvSpPr>
          <p:cNvPr id="24" name="OCCLUDED"/>
          <p:cNvSpPr txBox="1"/>
          <p:nvPr/>
        </p:nvSpPr>
        <p:spPr>
          <a:xfrm>
            <a:off x="7818120" y="3703320"/>
            <a:ext cx="2057400" cy="502920"/>
          </a:xfrm>
          <a:prstGeom prst="roundRect">
            <a:avLst>
              <a:gd name="adj" fmla="val 14545"/>
            </a:avLst>
          </a:prstGeom>
          <a:solidFill>
            <a:schemeClr val="accent3"/>
          </a:solidFill>
          <a:ln/>
        </p:spPr>
        <p:txBody>
          <a:bodyPr wrap="square" lIns="63500" tIns="63500" rIns="63500" bIns="63500" rtlCol="0" anchor="ctr"/>
          <a:lstStyle/>
          <a:p>
            <a:pPr algn="ctr" indent="0" marL="0">
              <a:buNone/>
            </a:pPr>
            <a:r>
              <a:rPr lang="en-US" sz="1150" b="1" dirty="0">
                <a:solidFill>
                  <a:schemeClr val="bg1"/>
                </a:solidFill>
                <a:latin typeface="Courier New" pitchFamily="34" charset="0"/>
                <a:ea typeface="Courier New" pitchFamily="34" charset="-122"/>
                <a:cs typeface="Courier New" pitchFamily="34" charset="-120"/>
              </a:rPr>
              <a:t>OCCLUDED</a:t>
            </a:r>
            <a:endParaRPr lang="en-US" sz="1150" dirty="0"/>
          </a:p>
        </p:txBody>
      </p:sp>
      <p:sp>
        <p:nvSpPr>
          <p:cNvPr id="25" name="Shape 23"/>
          <p:cNvSpPr/>
          <p:nvPr/>
        </p:nvSpPr>
        <p:spPr>
          <a:xfrm>
            <a:off x="8846820" y="3200400"/>
            <a:ext cx="0" cy="502920"/>
          </a:xfrm>
          <a:prstGeom prst="line">
            <a:avLst/>
          </a:prstGeom>
          <a:noFill/>
          <a:ln w="19050">
            <a:solidFill>
              <a:schemeClr val="accent4"/>
            </a:solidFill>
            <a:prstDash val="solid"/>
            <a:tailEnd type="triangle"/>
          </a:ln>
        </p:spPr>
      </p:sp>
      <p:sp>
        <p:nvSpPr>
          <p:cNvPr id="26" name="Text 24"/>
          <p:cNvSpPr txBox="1"/>
          <p:nvPr/>
        </p:nvSpPr>
        <p:spPr>
          <a:xfrm>
            <a:off x="8919972" y="3200400"/>
            <a:ext cx="457200" cy="457200"/>
          </a:xfrm>
          <a:prstGeom prst="rect">
            <a:avLst/>
          </a:prstGeom>
          <a:noFill/>
          <a:ln/>
        </p:spPr>
        <p:txBody>
          <a:bodyPr wrap="square" lIns="0" tIns="0" rIns="0" bIns="0" rtlCol="0" anchor="ctr"/>
          <a:lstStyle/>
          <a:p>
            <a:pPr algn="l" indent="0" marL="0">
              <a:buNone/>
            </a:pPr>
            <a:r>
              <a:rPr lang="en-US" sz="1100" i="1" dirty="0">
                <a:solidFill>
                  <a:schemeClr val="tx2"/>
                </a:solidFill>
              </a:rPr>
              <a:t>yes</a:t>
            </a:r>
            <a:endParaRPr lang="en-US" sz="1100" dirty="0"/>
          </a:p>
        </p:txBody>
      </p:sp>
      <p:sp>
        <p:nvSpPr>
          <p:cNvPr id="27" name="check_target_visibility(...)"/>
          <p:cNvSpPr txBox="1"/>
          <p:nvPr/>
        </p:nvSpPr>
        <p:spPr>
          <a:xfrm>
            <a:off x="548640" y="4480560"/>
            <a:ext cx="5394960" cy="685800"/>
          </a:xfrm>
          <a:prstGeom prst="roundRect">
            <a:avLst>
              <a:gd name="adj" fmla="val 10667"/>
            </a:avLst>
          </a:prstGeom>
          <a:solidFill>
            <a:schemeClr val="accent1"/>
          </a:solidFill>
          <a:ln/>
        </p:spPr>
        <p:txBody>
          <a:bodyPr wrap="square" lIns="63500" tIns="63500" rIns="63500" bIns="635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check_target_visibility(...)</a:t>
            </a:r>
            <a:endParaRPr lang="en-US" sz="1300" dirty="0"/>
          </a:p>
          <a:p>
            <a:pPr algn="ctr" indent="0" marL="0">
              <a:buNone/>
            </a:pPr>
            <a:r>
              <a:rPr lang="en-US" sz="1150" dirty="0">
                <a:solidFill>
                  <a:schemeClr val="bg1"/>
                </a:solidFill>
              </a:rPr>
              <a:t>runs the three checks in this order: cheap ones first, ray-casting last</a:t>
            </a:r>
            <a:endParaRPr lang="en-US" sz="1300" dirty="0"/>
          </a:p>
        </p:txBody>
      </p:sp>
      <p:sp>
        <p:nvSpPr>
          <p:cNvPr id="28" name="segment_intersects_mesh(origin, target, mesh)"/>
          <p:cNvSpPr txBox="1"/>
          <p:nvPr/>
        </p:nvSpPr>
        <p:spPr>
          <a:xfrm>
            <a:off x="6245352" y="4480560"/>
            <a:ext cx="5394960" cy="685800"/>
          </a:xfrm>
          <a:prstGeom prst="roundRect">
            <a:avLst>
              <a:gd name="adj" fmla="val 10667"/>
            </a:avLst>
          </a:prstGeom>
          <a:solidFill>
            <a:schemeClr val="accent1"/>
          </a:solidFill>
          <a:ln/>
        </p:spPr>
        <p:txBody>
          <a:bodyPr wrap="square" lIns="63500" tIns="63500" rIns="63500" bIns="635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segment_intersects_mesh(origin, target, mesh)</a:t>
            </a:r>
            <a:endParaRPr lang="en-US" sz="1300" dirty="0"/>
          </a:p>
          <a:p>
            <a:pPr algn="ctr" indent="0" marL="0">
              <a:buNone/>
            </a:pPr>
            <a:r>
              <a:rPr lang="en-US" sz="1150" dirty="0">
                <a:solidFill>
                  <a:schemeClr val="bg1"/>
                </a:solidFill>
              </a:rPr>
              <a:t>Möller–Trumbore ray/triangle test against every triangle (box_mesh, load_stl)</a:t>
            </a:r>
            <a:endParaRPr lang="en-US" sz="1300" dirty="0"/>
          </a:p>
        </p:txBody>
      </p:sp>
      <p:sp>
        <p:nvSpPr>
          <p:cNvPr id="29" name="GATE callout"/>
          <p:cNvSpPr txBox="1"/>
          <p:nvPr/>
        </p:nvSpPr>
        <p:spPr>
          <a:xfrm>
            <a:off x="548640" y="5349240"/>
            <a:ext cx="4206240" cy="594360"/>
          </a:xfrm>
          <a:prstGeom prst="roundRect">
            <a:avLst>
              <a:gd name="adj" fmla="val 12308"/>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250" b="1" dirty="0">
                <a:solidFill>
                  <a:schemeClr val="accent3"/>
                </a:solidFill>
              </a:rPr>
              <a:t>GATE   </a:t>
            </a:r>
            <a:pPr algn="l" indent="0" marL="0">
              <a:buNone/>
            </a:pPr>
            <a:r>
              <a:rPr lang="en-US" sz="1250" dirty="0">
                <a:solidFill>
                  <a:schemeClr val="tx1"/>
                </a:solidFill>
              </a:rPr>
              <a:t>points behind an obstacle are unmeasurable</a:t>
            </a:r>
            <a:endParaRPr lang="en-US" sz="1250" dirty="0"/>
          </a:p>
        </p:txBody>
      </p:sp>
      <p:sp>
        <p:nvSpPr>
          <p:cNvPr id="30" name="IN STEP 6 callout"/>
          <p:cNvSpPr txBox="1"/>
          <p:nvPr/>
        </p:nvSpPr>
        <p:spPr>
          <a:xfrm>
            <a:off x="4983480" y="5349240"/>
            <a:ext cx="6656832" cy="594360"/>
          </a:xfrm>
          <a:prstGeom prst="roundRect">
            <a:avLst>
              <a:gd name="adj" fmla="val 12308"/>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250" b="1" dirty="0">
                <a:solidFill>
                  <a:schemeClr val="accent1"/>
                </a:solidFill>
              </a:rPr>
              <a:t>IN STEP 6   </a:t>
            </a:r>
            <a:pPr algn="l" indent="0" marL="0">
              <a:buNone/>
            </a:pPr>
            <a:r>
              <a:rPr lang="en-US" sz="1250" dirty="0">
                <a:solidFill>
                  <a:schemeClr val="tx1"/>
                </a:solidFill>
              </a:rPr>
              <a:t>_visible_observations() filters every station–target pair of a candidate plan</a:t>
            </a:r>
            <a:endParaRPr lang="en-US" sz="1250" dirty="0"/>
          </a:p>
        </p:txBody>
      </p:sp>
      <p:sp>
        <p:nvSpPr>
          <p:cNvPr id="31" name="Shape 29"/>
          <p:cNvSpPr/>
          <p:nvPr/>
        </p:nvSpPr>
        <p:spPr>
          <a:xfrm>
            <a:off x="548640" y="6080760"/>
            <a:ext cx="256032" cy="164592"/>
          </a:xfrm>
          <a:prstGeom prst="roundRect">
            <a:avLst>
              <a:gd name="adj" fmla="val 22222"/>
            </a:avLst>
          </a:prstGeom>
          <a:solidFill>
            <a:schemeClr val="accent1"/>
          </a:solidFill>
          <a:ln/>
        </p:spPr>
      </p:sp>
      <p:sp>
        <p:nvSpPr>
          <p:cNvPr id="32" name="Text 30"/>
          <p:cNvSpPr txBox="1"/>
          <p:nvPr/>
        </p:nvSpPr>
        <p:spPr>
          <a:xfrm>
            <a:off x="877824"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function in src/ or viz/</a:t>
            </a:r>
            <a:endParaRPr lang="en-US" sz="1050" dirty="0"/>
          </a:p>
        </p:txBody>
      </p:sp>
      <p:sp>
        <p:nvSpPr>
          <p:cNvPr id="33" name="Shape 31"/>
          <p:cNvSpPr/>
          <p:nvPr/>
        </p:nvSpPr>
        <p:spPr>
          <a:xfrm>
            <a:off x="3264408" y="6080760"/>
            <a:ext cx="256032" cy="164592"/>
          </a:xfrm>
          <a:prstGeom prst="rect">
            <a:avLst/>
          </a:prstGeom>
          <a:solidFill>
            <a:schemeClr val="bg2"/>
          </a:solidFill>
          <a:ln w="9525">
            <a:solidFill>
              <a:schemeClr val="accent4"/>
            </a:solidFill>
            <a:prstDash val="solid"/>
          </a:ln>
        </p:spPr>
      </p:sp>
      <p:sp>
        <p:nvSpPr>
          <p:cNvPr id="34" name="Text 32"/>
          <p:cNvSpPr txBox="1"/>
          <p:nvPr/>
        </p:nvSpPr>
        <p:spPr>
          <a:xfrm>
            <a:off x="3593592"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input / data object</a:t>
            </a:r>
            <a:endParaRPr lang="en-US" sz="1050" dirty="0"/>
          </a:p>
        </p:txBody>
      </p:sp>
      <p:sp>
        <p:nvSpPr>
          <p:cNvPr id="35" name="Shape 33"/>
          <p:cNvSpPr/>
          <p:nvPr/>
        </p:nvSpPr>
        <p:spPr>
          <a:xfrm>
            <a:off x="5568696" y="6080760"/>
            <a:ext cx="256032" cy="164592"/>
          </a:xfrm>
          <a:prstGeom prst="roundRect">
            <a:avLst>
              <a:gd name="adj" fmla="val 22222"/>
            </a:avLst>
          </a:prstGeom>
          <a:solidFill>
            <a:schemeClr val="accent2"/>
          </a:solidFill>
          <a:ln/>
        </p:spPr>
      </p:sp>
      <p:sp>
        <p:nvSpPr>
          <p:cNvPr id="36" name="Text 34"/>
          <p:cNvSpPr txBox="1"/>
          <p:nvPr/>
        </p:nvSpPr>
        <p:spPr>
          <a:xfrm>
            <a:off x="5897880"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output / figure</a:t>
            </a:r>
            <a:endParaRPr lang="en-US" sz="1050" dirty="0"/>
          </a:p>
        </p:txBody>
      </p:sp>
      <p:sp>
        <p:nvSpPr>
          <p:cNvPr id="37" name="Shape 35"/>
          <p:cNvSpPr/>
          <p:nvPr/>
        </p:nvSpPr>
        <p:spPr>
          <a:xfrm>
            <a:off x="7543800" y="6080760"/>
            <a:ext cx="256032" cy="164592"/>
          </a:xfrm>
          <a:prstGeom prst="roundRect">
            <a:avLst>
              <a:gd name="adj" fmla="val 22222"/>
            </a:avLst>
          </a:prstGeom>
          <a:solidFill>
            <a:schemeClr val="accent3"/>
          </a:solidFill>
          <a:ln/>
        </p:spPr>
      </p:sp>
      <p:sp>
        <p:nvSpPr>
          <p:cNvPr id="38" name="Text 36"/>
          <p:cNvSpPr txBox="1"/>
          <p:nvPr/>
        </p:nvSpPr>
        <p:spPr>
          <a:xfrm>
            <a:off x="7872984"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check or rejection</a:t>
            </a:r>
            <a:endParaRPr lang="en-US" sz="10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Multi-station network solve</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Every station pose and every target solved together; the covariance comes from the fit itself</a:t>
            </a:r>
            <a:endParaRPr lang="en-US" sz="1600" dirty="0"/>
          </a:p>
        </p:txBody>
      </p:sp>
      <p:sp>
        <p:nvSpPr>
          <p:cNvPr id="4" name="badge 3"/>
          <p:cNvSpPr txBox="1"/>
          <p:nvPr/>
        </p:nvSpPr>
        <p:spPr>
          <a:xfrm>
            <a:off x="10927080" y="292608"/>
            <a:ext cx="713232" cy="713232"/>
          </a:xfrm>
          <a:prstGeom prst="ellipse">
            <a:avLst/>
          </a:prstGeom>
          <a:solidFill>
            <a:schemeClr val="accent1"/>
          </a:solidFill>
          <a:ln/>
        </p:spPr>
        <p:txBody>
          <a:bodyPr wrap="square" lIns="0" tIns="0" rIns="0" bIns="0" rtlCol="0" anchor="ctr"/>
          <a:lstStyle/>
          <a:p>
            <a:pPr algn="ctr" indent="0" marL="0">
              <a:buNone/>
            </a:pPr>
            <a:r>
              <a:rPr lang="en-US" sz="2300" b="1" dirty="0">
                <a:solidFill>
                  <a:schemeClr val="bg1"/>
                </a:solidFill>
                <a:latin typeface="Cambria" pitchFamily="34" charset="0"/>
                <a:ea typeface="Cambria" pitchFamily="34" charset="-122"/>
                <a:cs typeface="Cambria" pitchFamily="34" charset="-120"/>
              </a:rPr>
              <a:t>3</a:t>
            </a:r>
            <a:endParaRPr lang="en-US" sz="2300" dirty="0"/>
          </a:p>
        </p:txBody>
      </p:sp>
      <p:sp>
        <p:nvSpPr>
          <p:cNvPr id="5" name="Text 3"/>
          <p:cNvSpPr txBox="1"/>
          <p:nvPr/>
        </p:nvSpPr>
        <p:spPr>
          <a:xfrm>
            <a:off x="10835640" y="1024128"/>
            <a:ext cx="896112" cy="228600"/>
          </a:xfrm>
          <a:prstGeom prst="rect">
            <a:avLst/>
          </a:prstGeom>
          <a:noFill/>
          <a:ln/>
        </p:spPr>
        <p:txBody>
          <a:bodyPr wrap="square" lIns="0" tIns="0" rIns="0" bIns="0" rtlCol="0" anchor="ctr"/>
          <a:lstStyle/>
          <a:p>
            <a:pPr algn="ctr" indent="0" marL="0">
              <a:buNone/>
            </a:pPr>
            <a:r>
              <a:rPr lang="en-US" sz="1000" b="1" dirty="0">
                <a:solidFill>
                  <a:schemeClr val="accent1"/>
                </a:solidFill>
              </a:rPr>
              <a:t>STEP</a:t>
            </a:r>
            <a:endParaRPr lang="en-US" sz="1000" dirty="0"/>
          </a:p>
        </p:txBody>
      </p:sp>
      <p:sp>
        <p:nvSpPr>
          <p:cNvPr id="6" name="True targets + station poses"/>
          <p:cNvSpPr txBox="1"/>
          <p:nvPr/>
        </p:nvSpPr>
        <p:spPr>
          <a:xfrm>
            <a:off x="548640" y="1554480"/>
            <a:ext cx="5257800" cy="676656"/>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300" b="1" dirty="0">
                <a:solidFill>
                  <a:schemeClr val="tx1"/>
                </a:solidFill>
              </a:rPr>
              <a:t>True targets + station poses</a:t>
            </a:r>
            <a:endParaRPr lang="en-US" sz="1300" dirty="0"/>
          </a:p>
          <a:p>
            <a:pPr algn="ctr" indent="0" marL="0">
              <a:buNone/>
            </a:pPr>
            <a:r>
              <a:rPr lang="en-US" sz="1150" dirty="0">
                <a:solidFill>
                  <a:schemeClr val="tx2"/>
                </a:solidFill>
              </a:rPr>
              <a:t>scene geometry; each station boresighted at the targets</a:t>
            </a:r>
            <a:endParaRPr lang="en-US" sz="1300" dirty="0"/>
          </a:p>
        </p:txBody>
      </p:sp>
      <p:sp>
        <p:nvSpPr>
          <p:cNvPr id="7" name="simulate_observations(...)"/>
          <p:cNvSpPr txBox="1"/>
          <p:nvPr/>
        </p:nvSpPr>
        <p:spPr>
          <a:xfrm>
            <a:off x="548640" y="2414016"/>
            <a:ext cx="5257800" cy="676656"/>
          </a:xfrm>
          <a:prstGeom prst="roundRect">
            <a:avLst>
              <a:gd name="adj" fmla="val 10811"/>
            </a:avLst>
          </a:prstGeom>
          <a:solidFill>
            <a:schemeClr val="accent1"/>
          </a:solidFill>
          <a:ln/>
        </p:spPr>
        <p:txBody>
          <a:bodyPr wrap="square" lIns="63500" tIns="63500" rIns="63500" bIns="635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simulate_observations(...)</a:t>
            </a:r>
            <a:endParaRPr lang="en-US" sz="1300" dirty="0"/>
          </a:p>
          <a:p>
            <a:pPr algn="ctr" indent="0" marL="0">
              <a:buNone/>
            </a:pPr>
            <a:r>
              <a:rPr lang="en-US" sz="1150" dirty="0">
                <a:solidFill>
                  <a:schemeClr val="bg1"/>
                </a:solidFill>
              </a:rPr>
              <a:t>noisy (d, θ, φ) per station–target pair  ·  exact_observations(): noiseless, used for planning</a:t>
            </a:r>
            <a:endParaRPr lang="en-US" sz="1300" dirty="0"/>
          </a:p>
        </p:txBody>
      </p:sp>
      <p:sp>
        <p:nvSpPr>
          <p:cNvPr id="8" name="perturbed_initial_guess(...)"/>
          <p:cNvSpPr txBox="1"/>
          <p:nvPr/>
        </p:nvSpPr>
        <p:spPr>
          <a:xfrm>
            <a:off x="548640" y="3273552"/>
            <a:ext cx="5257800" cy="676656"/>
          </a:xfrm>
          <a:prstGeom prst="roundRect">
            <a:avLst>
              <a:gd name="adj" fmla="val 10811"/>
            </a:avLst>
          </a:prstGeom>
          <a:solidFill>
            <a:schemeClr val="accent1"/>
          </a:solidFill>
          <a:ln/>
        </p:spPr>
        <p:txBody>
          <a:bodyPr wrap="square" lIns="63500" tIns="63500" rIns="63500" bIns="635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perturbed_initial_guess(...)</a:t>
            </a:r>
            <a:endParaRPr lang="en-US" sz="1300" dirty="0"/>
          </a:p>
          <a:p>
            <a:pPr algn="ctr" indent="0" marL="0">
              <a:buNone/>
            </a:pPr>
            <a:r>
              <a:rPr lang="en-US" sz="1150" dirty="0">
                <a:solidFill>
                  <a:schemeClr val="bg1"/>
                </a:solidFill>
              </a:rPr>
              <a:t>rough starting point, as a real survey would have; anchor station kept exact</a:t>
            </a:r>
            <a:endParaRPr lang="en-US" sz="1300" dirty="0"/>
          </a:p>
        </p:txBody>
      </p:sp>
      <p:sp>
        <p:nvSpPr>
          <p:cNvPr id="9" name="solve_network(...)"/>
          <p:cNvSpPr txBox="1"/>
          <p:nvPr/>
        </p:nvSpPr>
        <p:spPr>
          <a:xfrm>
            <a:off x="548640" y="4133088"/>
            <a:ext cx="5257800" cy="676656"/>
          </a:xfrm>
          <a:prstGeom prst="roundRect">
            <a:avLst>
              <a:gd name="adj" fmla="val 10811"/>
            </a:avLst>
          </a:prstGeom>
          <a:solidFill>
            <a:schemeClr val="accent1"/>
          </a:solidFill>
          <a:ln/>
        </p:spPr>
        <p:txBody>
          <a:bodyPr wrap="square" lIns="63500" tIns="63500" rIns="63500" bIns="635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solve_network(...)</a:t>
            </a:r>
            <a:endParaRPr lang="en-US" sz="1300" dirty="0"/>
          </a:p>
          <a:p>
            <a:pPr algn="ctr" indent="0" marL="0">
              <a:buNone/>
            </a:pPr>
            <a:r>
              <a:rPr lang="en-US" sz="1150" dirty="0">
                <a:solidFill>
                  <a:schemeClr val="bg1"/>
                </a:solidFill>
              </a:rPr>
              <a:t>residuals ÷ σ  ·  anchor fixed (removes 6 gauge DOF)  ·  sparse Jacobian  ·  scipy least_squares</a:t>
            </a:r>
            <a:endParaRPr lang="en-US" sz="1300" dirty="0"/>
          </a:p>
        </p:txBody>
      </p:sp>
      <p:sp>
        <p:nvSpPr>
          <p:cNvPr id="10" name="NetworkSolveResult"/>
          <p:cNvSpPr txBox="1"/>
          <p:nvPr/>
        </p:nvSpPr>
        <p:spPr>
          <a:xfrm>
            <a:off x="548640" y="4992624"/>
            <a:ext cx="5257800" cy="676656"/>
          </a:xfrm>
          <a:prstGeom prst="roundRect">
            <a:avLst>
              <a:gd name="adj" fmla="val 10811"/>
            </a:avLst>
          </a:prstGeom>
          <a:solidFill>
            <a:schemeClr val="accent2"/>
          </a:solidFill>
          <a:ln/>
        </p:spPr>
        <p:txBody>
          <a:bodyPr wrap="square" lIns="63500" tIns="63500" rIns="63500" bIns="6350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NetworkSolveResult</a:t>
            </a:r>
            <a:endParaRPr lang="en-US" sz="1300" dirty="0"/>
          </a:p>
          <a:p>
            <a:pPr algn="ctr" indent="0" marL="0">
              <a:buNone/>
            </a:pPr>
            <a:r>
              <a:rPr lang="en-US" sz="1150" dirty="0">
                <a:solidFill>
                  <a:schemeClr val="tx1"/>
                </a:solidFill>
              </a:rPr>
              <a:t>Cov = (JᵀJ)⁺ → full joint target covariance (+ σ_sys² per target)</a:t>
            </a:r>
            <a:endParaRPr lang="en-US" sz="1300" dirty="0"/>
          </a:p>
        </p:txBody>
      </p:sp>
      <p:sp>
        <p:nvSpPr>
          <p:cNvPr id="11" name="Shape 9"/>
          <p:cNvSpPr/>
          <p:nvPr/>
        </p:nvSpPr>
        <p:spPr>
          <a:xfrm>
            <a:off x="3177540" y="2231136"/>
            <a:ext cx="0" cy="182880"/>
          </a:xfrm>
          <a:prstGeom prst="line">
            <a:avLst/>
          </a:prstGeom>
          <a:noFill/>
          <a:ln w="19050">
            <a:solidFill>
              <a:schemeClr val="accent4"/>
            </a:solidFill>
            <a:prstDash val="solid"/>
            <a:tailEnd type="triangle"/>
          </a:ln>
        </p:spPr>
      </p:sp>
      <p:sp>
        <p:nvSpPr>
          <p:cNvPr id="12" name="Shape 10"/>
          <p:cNvSpPr/>
          <p:nvPr/>
        </p:nvSpPr>
        <p:spPr>
          <a:xfrm>
            <a:off x="3177540" y="3090672"/>
            <a:ext cx="0" cy="182880"/>
          </a:xfrm>
          <a:prstGeom prst="line">
            <a:avLst/>
          </a:prstGeom>
          <a:noFill/>
          <a:ln w="19050">
            <a:solidFill>
              <a:schemeClr val="accent4"/>
            </a:solidFill>
            <a:prstDash val="solid"/>
            <a:tailEnd type="triangle"/>
          </a:ln>
        </p:spPr>
      </p:sp>
      <p:sp>
        <p:nvSpPr>
          <p:cNvPr id="13" name="Shape 11"/>
          <p:cNvSpPr/>
          <p:nvPr/>
        </p:nvSpPr>
        <p:spPr>
          <a:xfrm>
            <a:off x="3177540" y="3950208"/>
            <a:ext cx="0" cy="182880"/>
          </a:xfrm>
          <a:prstGeom prst="line">
            <a:avLst/>
          </a:prstGeom>
          <a:noFill/>
          <a:ln w="19050">
            <a:solidFill>
              <a:schemeClr val="accent4"/>
            </a:solidFill>
            <a:prstDash val="solid"/>
            <a:tailEnd type="triangle"/>
          </a:ln>
        </p:spPr>
      </p:sp>
      <p:sp>
        <p:nvSpPr>
          <p:cNvPr id="14" name="Shape 12"/>
          <p:cNvSpPr/>
          <p:nvPr/>
        </p:nvSpPr>
        <p:spPr>
          <a:xfrm>
            <a:off x="3177540" y="4809744"/>
            <a:ext cx="0" cy="182880"/>
          </a:xfrm>
          <a:prstGeom prst="line">
            <a:avLst/>
          </a:prstGeom>
          <a:noFill/>
          <a:ln w="19050">
            <a:solidFill>
              <a:schemeClr val="accent4"/>
            </a:solidFill>
            <a:prstDash val="solid"/>
            <a:tailEnd type="triangle"/>
          </a:ln>
        </p:spPr>
      </p:sp>
      <p:pic>
        <p:nvPicPr>
          <p:cNvPr id="15" name="Image 0" descr="Panel 2: solved versus true target positions from a three-station network">    </p:cNvPr>
          <p:cNvPicPr>
            <a:picLocks noChangeAspect="1"/>
          </p:cNvPicPr>
          <p:nvPr/>
        </p:nvPicPr>
        <p:blipFill>
          <a:blip r:embed="rId1"/>
          <a:stretch>
            <a:fillRect/>
          </a:stretch>
        </p:blipFill>
        <p:spPr>
          <a:xfrm>
            <a:off x="6080760" y="1554480"/>
            <a:ext cx="2293411" cy="2468880"/>
          </a:xfrm>
          <a:prstGeom prst="rect">
            <a:avLst/>
          </a:prstGeom>
        </p:spPr>
      </p:pic>
      <p:sp>
        <p:nvSpPr>
          <p:cNvPr id="16" name="Shape 13"/>
          <p:cNvSpPr/>
          <p:nvPr/>
        </p:nvSpPr>
        <p:spPr>
          <a:xfrm>
            <a:off x="6080760" y="1554480"/>
            <a:ext cx="2293411" cy="2468880"/>
          </a:xfrm>
          <a:prstGeom prst="rect">
            <a:avLst/>
          </a:prstGeom>
          <a:ln w="12700">
            <a:solidFill>
              <a:schemeClr val="bg2"/>
            </a:solidFill>
            <a:prstDash val="solid"/>
          </a:ln>
        </p:spPr>
      </p:sp>
      <p:pic>
        <p:nvPicPr>
          <p:cNvPr id="17" name="Image 1" descr="Panel 3: mean positional uncertainty versus number of stations">    </p:cNvPr>
          <p:cNvPicPr>
            <a:picLocks noChangeAspect="1"/>
          </p:cNvPicPr>
          <p:nvPr/>
        </p:nvPicPr>
        <p:blipFill>
          <a:blip r:embed="rId2"/>
          <a:stretch>
            <a:fillRect/>
          </a:stretch>
        </p:blipFill>
        <p:spPr>
          <a:xfrm>
            <a:off x="8557051" y="1554480"/>
            <a:ext cx="3069886" cy="2468880"/>
          </a:xfrm>
          <a:prstGeom prst="rect">
            <a:avLst/>
          </a:prstGeom>
        </p:spPr>
      </p:pic>
      <p:sp>
        <p:nvSpPr>
          <p:cNvPr id="18" name="Shape 14"/>
          <p:cNvSpPr/>
          <p:nvPr/>
        </p:nvSpPr>
        <p:spPr>
          <a:xfrm>
            <a:off x="8557051" y="1554480"/>
            <a:ext cx="3069886" cy="2468880"/>
          </a:xfrm>
          <a:prstGeom prst="rect">
            <a:avLst/>
          </a:prstGeom>
          <a:ln w="12700">
            <a:solidFill>
              <a:schemeClr val="bg2"/>
            </a:solidFill>
            <a:prstDash val="solid"/>
          </a:ln>
        </p:spPr>
      </p:sp>
      <p:sp>
        <p:nvSpPr>
          <p:cNvPr id="19" name="Text 15"/>
          <p:cNvSpPr txBox="1"/>
          <p:nvPr/>
        </p:nvSpPr>
        <p:spPr>
          <a:xfrm>
            <a:off x="6080760" y="4096512"/>
            <a:ext cx="2293411" cy="502920"/>
          </a:xfrm>
          <a:prstGeom prst="rect">
            <a:avLst/>
          </a:prstGeom>
          <a:noFill/>
          <a:ln/>
        </p:spPr>
        <p:txBody>
          <a:bodyPr wrap="square" lIns="0" tIns="0" rIns="0" bIns="0" rtlCol="0" anchor="t"/>
          <a:lstStyle/>
          <a:p>
            <a:pPr algn="l" indent="0" marL="0">
              <a:buNone/>
            </a:pPr>
            <a:r>
              <a:rPr lang="en-US" sz="1100" i="1" dirty="0">
                <a:solidFill>
                  <a:schemeClr val="tx2"/>
                </a:solidFill>
              </a:rPr>
              <a:t>make_panel2_network(): 12 targets, 3 stations, solved vs true positions</a:t>
            </a:r>
            <a:endParaRPr lang="en-US" sz="1100" dirty="0"/>
          </a:p>
        </p:txBody>
      </p:sp>
      <p:sp>
        <p:nvSpPr>
          <p:cNvPr id="20" name="Text 16"/>
          <p:cNvSpPr txBox="1"/>
          <p:nvPr/>
        </p:nvSpPr>
        <p:spPr>
          <a:xfrm>
            <a:off x="8557051" y="4096512"/>
            <a:ext cx="3069886" cy="502920"/>
          </a:xfrm>
          <a:prstGeom prst="rect">
            <a:avLst/>
          </a:prstGeom>
          <a:noFill/>
          <a:ln/>
        </p:spPr>
        <p:txBody>
          <a:bodyPr wrap="square" lIns="0" tIns="0" rIns="0" bIns="0" rtlCol="0" anchor="t"/>
          <a:lstStyle/>
          <a:p>
            <a:pPr algn="l" indent="0" marL="0">
              <a:buNone/>
            </a:pPr>
            <a:r>
              <a:rPr lang="en-US" sz="1100" i="1" dirty="0">
                <a:solidFill>
                  <a:schemeClr val="tx2"/>
                </a:solidFill>
              </a:rPr>
              <a:t>make_panel3_uncertainty(): 1 → 5 stations, against Wang, Forbes &amp; Maropoulos (2014)</a:t>
            </a:r>
            <a:endParaRPr lang="en-US" sz="1100" dirty="0"/>
          </a:p>
        </p:txBody>
      </p:sp>
      <p:sp>
        <p:nvSpPr>
          <p:cNvPr id="21" name="GATE callout"/>
          <p:cNvSpPr txBox="1"/>
          <p:nvPr/>
        </p:nvSpPr>
        <p:spPr>
          <a:xfrm>
            <a:off x="6080760" y="4846320"/>
            <a:ext cx="5546177" cy="640080"/>
          </a:xfrm>
          <a:prstGeom prst="roundRect">
            <a:avLst>
              <a:gd name="adj" fmla="val 11429"/>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250" b="1" dirty="0">
                <a:solidFill>
                  <a:schemeClr val="accent3"/>
                </a:solidFill>
              </a:rPr>
              <a:t>GATE   </a:t>
            </a:r>
            <a:pPr algn="l" indent="0" marL="0">
              <a:buNone/>
            </a:pPr>
            <a:r>
              <a:rPr lang="en-US" sz="1250" dirty="0">
                <a:solidFill>
                  <a:schemeClr val="tx1"/>
                </a:solidFill>
              </a:rPr>
              <a:t>uncertainty falls with station count and flattens after 4–5 stations</a:t>
            </a:r>
            <a:endParaRPr lang="en-US" sz="1250" dirty="0"/>
          </a:p>
        </p:txBody>
      </p:sp>
      <p:sp>
        <p:nvSpPr>
          <p:cNvPr id="22" name="Shape 18"/>
          <p:cNvSpPr/>
          <p:nvPr/>
        </p:nvSpPr>
        <p:spPr>
          <a:xfrm>
            <a:off x="548640" y="6080760"/>
            <a:ext cx="256032" cy="164592"/>
          </a:xfrm>
          <a:prstGeom prst="roundRect">
            <a:avLst>
              <a:gd name="adj" fmla="val 22222"/>
            </a:avLst>
          </a:prstGeom>
          <a:solidFill>
            <a:schemeClr val="accent1"/>
          </a:solidFill>
          <a:ln/>
        </p:spPr>
      </p:sp>
      <p:sp>
        <p:nvSpPr>
          <p:cNvPr id="23" name="Text 19"/>
          <p:cNvSpPr txBox="1"/>
          <p:nvPr/>
        </p:nvSpPr>
        <p:spPr>
          <a:xfrm>
            <a:off x="877824"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function in src/ or viz/</a:t>
            </a:r>
            <a:endParaRPr lang="en-US" sz="1050" dirty="0"/>
          </a:p>
        </p:txBody>
      </p:sp>
      <p:sp>
        <p:nvSpPr>
          <p:cNvPr id="24" name="Shape 20"/>
          <p:cNvSpPr/>
          <p:nvPr/>
        </p:nvSpPr>
        <p:spPr>
          <a:xfrm>
            <a:off x="3264408" y="6080760"/>
            <a:ext cx="256032" cy="164592"/>
          </a:xfrm>
          <a:prstGeom prst="rect">
            <a:avLst/>
          </a:prstGeom>
          <a:solidFill>
            <a:schemeClr val="bg2"/>
          </a:solidFill>
          <a:ln w="9525">
            <a:solidFill>
              <a:schemeClr val="accent4"/>
            </a:solidFill>
            <a:prstDash val="solid"/>
          </a:ln>
        </p:spPr>
      </p:sp>
      <p:sp>
        <p:nvSpPr>
          <p:cNvPr id="25" name="Text 21"/>
          <p:cNvSpPr txBox="1"/>
          <p:nvPr/>
        </p:nvSpPr>
        <p:spPr>
          <a:xfrm>
            <a:off x="3593592"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input / data object</a:t>
            </a:r>
            <a:endParaRPr lang="en-US" sz="1050" dirty="0"/>
          </a:p>
        </p:txBody>
      </p:sp>
      <p:sp>
        <p:nvSpPr>
          <p:cNvPr id="26" name="Shape 22"/>
          <p:cNvSpPr/>
          <p:nvPr/>
        </p:nvSpPr>
        <p:spPr>
          <a:xfrm>
            <a:off x="5568696" y="6080760"/>
            <a:ext cx="256032" cy="164592"/>
          </a:xfrm>
          <a:prstGeom prst="roundRect">
            <a:avLst>
              <a:gd name="adj" fmla="val 22222"/>
            </a:avLst>
          </a:prstGeom>
          <a:solidFill>
            <a:schemeClr val="accent2"/>
          </a:solidFill>
          <a:ln/>
        </p:spPr>
      </p:sp>
      <p:sp>
        <p:nvSpPr>
          <p:cNvPr id="27" name="Text 23"/>
          <p:cNvSpPr txBox="1"/>
          <p:nvPr/>
        </p:nvSpPr>
        <p:spPr>
          <a:xfrm>
            <a:off x="5897880"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output / figure</a:t>
            </a:r>
            <a:endParaRPr lang="en-US" sz="1050" dirty="0"/>
          </a:p>
        </p:txBody>
      </p:sp>
      <p:sp>
        <p:nvSpPr>
          <p:cNvPr id="28" name="Shape 24"/>
          <p:cNvSpPr/>
          <p:nvPr/>
        </p:nvSpPr>
        <p:spPr>
          <a:xfrm>
            <a:off x="7543800" y="6080760"/>
            <a:ext cx="256032" cy="164592"/>
          </a:xfrm>
          <a:prstGeom prst="roundRect">
            <a:avLst>
              <a:gd name="adj" fmla="val 22222"/>
            </a:avLst>
          </a:prstGeom>
          <a:solidFill>
            <a:schemeClr val="accent3"/>
          </a:solidFill>
          <a:ln/>
        </p:spPr>
      </p:sp>
      <p:sp>
        <p:nvSpPr>
          <p:cNvPr id="29" name="Text 25"/>
          <p:cNvSpPr txBox="1"/>
          <p:nvPr/>
        </p:nvSpPr>
        <p:spPr>
          <a:xfrm>
            <a:off x="7872984"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check or rejection</a:t>
            </a:r>
            <a:endParaRPr lang="en-US" sz="10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Project covariance onto the tolerance</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The same point, measured from the same station, carries a different uncertainty for each tolerance type</a:t>
            </a:r>
            <a:endParaRPr lang="en-US" sz="1600" dirty="0"/>
          </a:p>
        </p:txBody>
      </p:sp>
      <p:sp>
        <p:nvSpPr>
          <p:cNvPr id="4" name="badge 4"/>
          <p:cNvSpPr txBox="1"/>
          <p:nvPr/>
        </p:nvSpPr>
        <p:spPr>
          <a:xfrm>
            <a:off x="10927080" y="292608"/>
            <a:ext cx="713232" cy="713232"/>
          </a:xfrm>
          <a:prstGeom prst="ellipse">
            <a:avLst/>
          </a:prstGeom>
          <a:solidFill>
            <a:schemeClr val="accent1"/>
          </a:solidFill>
          <a:ln/>
        </p:spPr>
        <p:txBody>
          <a:bodyPr wrap="square" lIns="0" tIns="0" rIns="0" bIns="0" rtlCol="0" anchor="ctr"/>
          <a:lstStyle/>
          <a:p>
            <a:pPr algn="ctr" indent="0" marL="0">
              <a:buNone/>
            </a:pPr>
            <a:r>
              <a:rPr lang="en-US" sz="2300" b="1" dirty="0">
                <a:solidFill>
                  <a:schemeClr val="bg1"/>
                </a:solidFill>
                <a:latin typeface="Cambria" pitchFamily="34" charset="0"/>
                <a:ea typeface="Cambria" pitchFamily="34" charset="-122"/>
                <a:cs typeface="Cambria" pitchFamily="34" charset="-120"/>
              </a:rPr>
              <a:t>4</a:t>
            </a:r>
            <a:endParaRPr lang="en-US" sz="2300" dirty="0"/>
          </a:p>
        </p:txBody>
      </p:sp>
      <p:sp>
        <p:nvSpPr>
          <p:cNvPr id="5" name="Text 3"/>
          <p:cNvSpPr txBox="1"/>
          <p:nvPr/>
        </p:nvSpPr>
        <p:spPr>
          <a:xfrm>
            <a:off x="10835640" y="1024128"/>
            <a:ext cx="896112" cy="228600"/>
          </a:xfrm>
          <a:prstGeom prst="rect">
            <a:avLst/>
          </a:prstGeom>
          <a:noFill/>
          <a:ln/>
        </p:spPr>
        <p:txBody>
          <a:bodyPr wrap="square" lIns="0" tIns="0" rIns="0" bIns="0" rtlCol="0" anchor="ctr"/>
          <a:lstStyle/>
          <a:p>
            <a:pPr algn="ctr" indent="0" marL="0">
              <a:buNone/>
            </a:pPr>
            <a:r>
              <a:rPr lang="en-US" sz="1000" b="1" dirty="0">
                <a:solidFill>
                  <a:schemeClr val="accent1"/>
                </a:solidFill>
              </a:rPr>
              <a:t>STEP</a:t>
            </a:r>
            <a:endParaRPr lang="en-US" sz="1000" dirty="0"/>
          </a:p>
        </p:txBody>
      </p:sp>
      <p:sp>
        <p:nvSpPr>
          <p:cNvPr id="6" name="Σ (3×3) + Characteristic(tolerance, datum, target_indices)"/>
          <p:cNvSpPr txBox="1"/>
          <p:nvPr/>
        </p:nvSpPr>
        <p:spPr>
          <a:xfrm>
            <a:off x="548640" y="1554480"/>
            <a:ext cx="6126480" cy="566928"/>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300" b="1" dirty="0">
                <a:solidFill>
                  <a:schemeClr val="tx1"/>
                </a:solidFill>
              </a:rPr>
              <a:t>Σ (3×3) + Characteristic(tolerance, datum, target_indices)</a:t>
            </a:r>
            <a:endParaRPr lang="en-US" sz="1300" dirty="0"/>
          </a:p>
          <a:p>
            <a:pPr algn="ctr" indent="0" marL="0">
              <a:buNone/>
            </a:pPr>
            <a:r>
              <a:rPr lang="en-US" sz="1150" dirty="0">
                <a:solidFill>
                  <a:schemeClr val="tx2"/>
                </a:solidFill>
              </a:rPr>
              <a:t>point covariance from step 3  ·  which tolerance, which datum, which target</a:t>
            </a:r>
            <a:endParaRPr lang="en-US" sz="1300" dirty="0"/>
          </a:p>
        </p:txBody>
      </p:sp>
      <p:sp>
        <p:nvSpPr>
          <p:cNvPr id="7" name="tolerance.constraint_directions(datum)"/>
          <p:cNvSpPr txBox="1"/>
          <p:nvPr/>
        </p:nvSpPr>
        <p:spPr>
          <a:xfrm>
            <a:off x="548640" y="2331720"/>
            <a:ext cx="6126480" cy="566928"/>
          </a:xfrm>
          <a:prstGeom prst="roundRect">
            <a:avLst>
              <a:gd name="adj" fmla="val 12903"/>
            </a:avLst>
          </a:prstGeom>
          <a:solidFill>
            <a:schemeClr val="accent1"/>
          </a:solidFill>
          <a:ln/>
        </p:spPr>
        <p:txBody>
          <a:bodyPr wrap="square" lIns="63500" tIns="63500" rIns="63500" bIns="635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tolerance.constraint_directions(datum)</a:t>
            </a:r>
            <a:endParaRPr lang="en-US" sz="1300" dirty="0"/>
          </a:p>
          <a:p>
            <a:pPr algn="ctr" indent="0" marL="0">
              <a:buNone/>
            </a:pPr>
            <a:r>
              <a:rPr lang="en-US" sz="1150" dirty="0">
                <a:solidFill>
                  <a:schemeClr val="bg1"/>
                </a:solidFill>
              </a:rPr>
              <a:t>which directions D does this callout actually constrain?</a:t>
            </a:r>
            <a:endParaRPr lang="en-US" sz="1300" dirty="0"/>
          </a:p>
        </p:txBody>
      </p:sp>
      <p:sp>
        <p:nvSpPr>
          <p:cNvPr id="8" name="Shape 6"/>
          <p:cNvSpPr/>
          <p:nvPr/>
        </p:nvSpPr>
        <p:spPr>
          <a:xfrm>
            <a:off x="3611880" y="2121408"/>
            <a:ext cx="0" cy="210312"/>
          </a:xfrm>
          <a:prstGeom prst="line">
            <a:avLst/>
          </a:prstGeom>
          <a:noFill/>
          <a:ln w="19050">
            <a:solidFill>
              <a:schemeClr val="accent4"/>
            </a:solidFill>
            <a:prstDash val="solid"/>
            <a:tailEnd type="triangle"/>
          </a:ln>
        </p:spPr>
      </p:sp>
      <p:sp>
        <p:nvSpPr>
          <p:cNvPr id="9" name="PositionTolerance"/>
          <p:cNvSpPr txBox="1"/>
          <p:nvPr/>
        </p:nvSpPr>
        <p:spPr>
          <a:xfrm>
            <a:off x="548640" y="3154680"/>
            <a:ext cx="1920240" cy="868680"/>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150" b="1" dirty="0">
                <a:solidFill>
                  <a:schemeClr val="tx1"/>
                </a:solidFill>
                <a:latin typeface="Courier New" pitchFamily="34" charset="0"/>
                <a:ea typeface="Courier New" pitchFamily="34" charset="-122"/>
                <a:cs typeface="Courier New" pitchFamily="34" charset="-120"/>
              </a:rPr>
              <a:t>PositionTolerance</a:t>
            </a:r>
            <a:endParaRPr lang="en-US" sz="1150" dirty="0"/>
          </a:p>
          <a:p>
            <a:pPr algn="ctr" indent="0" marL="0">
              <a:buNone/>
            </a:pPr>
            <a:r>
              <a:rPr lang="en-US" sz="1100" dirty="0">
                <a:solidFill>
                  <a:schemeClr val="tx2"/>
                </a:solidFill>
              </a:rPr>
              <a:t>D = I: x, y and z (spherical zone)</a:t>
            </a:r>
            <a:endParaRPr lang="en-US" sz="1150" dirty="0"/>
          </a:p>
        </p:txBody>
      </p:sp>
      <p:sp>
        <p:nvSpPr>
          <p:cNvPr id="10" name="ProfileTolerance"/>
          <p:cNvSpPr txBox="1"/>
          <p:nvPr/>
        </p:nvSpPr>
        <p:spPr>
          <a:xfrm>
            <a:off x="2651760" y="3154680"/>
            <a:ext cx="1920240" cy="868680"/>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150" b="1" dirty="0">
                <a:solidFill>
                  <a:schemeClr val="tx1"/>
                </a:solidFill>
                <a:latin typeface="Courier New" pitchFamily="34" charset="0"/>
                <a:ea typeface="Courier New" pitchFamily="34" charset="-122"/>
                <a:cs typeface="Courier New" pitchFamily="34" charset="-120"/>
              </a:rPr>
              <a:t>ProfileTolerance</a:t>
            </a:r>
            <a:endParaRPr lang="en-US" sz="1150" dirty="0"/>
          </a:p>
          <a:p>
            <a:pPr algn="ctr" indent="0" marL="0">
              <a:buNone/>
            </a:pPr>
            <a:r>
              <a:rPr lang="en-US" sz="1100" dirty="0">
                <a:solidFill>
                  <a:schemeClr val="tx2"/>
                </a:solidFill>
              </a:rPr>
              <a:t>D = the surface normal (1 axis)</a:t>
            </a:r>
            <a:endParaRPr lang="en-US" sz="1150" dirty="0"/>
          </a:p>
        </p:txBody>
      </p:sp>
      <p:sp>
        <p:nvSpPr>
          <p:cNvPr id="11" name="ParallelismTolerance"/>
          <p:cNvSpPr txBox="1"/>
          <p:nvPr/>
        </p:nvSpPr>
        <p:spPr>
          <a:xfrm>
            <a:off x="4754880" y="3154680"/>
            <a:ext cx="1920240" cy="868680"/>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150" b="1" dirty="0">
                <a:solidFill>
                  <a:schemeClr val="tx1"/>
                </a:solidFill>
                <a:latin typeface="Courier New" pitchFamily="34" charset="0"/>
                <a:ea typeface="Courier New" pitchFamily="34" charset="-122"/>
                <a:cs typeface="Courier New" pitchFamily="34" charset="-120"/>
              </a:rPr>
              <a:t>ParallelismTolerance</a:t>
            </a:r>
            <a:endParaRPr lang="en-US" sz="1150" dirty="0"/>
          </a:p>
          <a:p>
            <a:pPr algn="ctr" indent="0" marL="0">
              <a:buNone/>
            </a:pPr>
            <a:r>
              <a:rPr lang="en-US" sz="1100" dirty="0">
                <a:solidFill>
                  <a:schemeClr val="tx2"/>
                </a:solidFill>
              </a:rPr>
              <a:t>D = the datum normal (+ datum variance)</a:t>
            </a:r>
            <a:endParaRPr lang="en-US" sz="1150" dirty="0"/>
          </a:p>
        </p:txBody>
      </p:sp>
      <p:sp>
        <p:nvSpPr>
          <p:cNvPr id="12" name="Shape 10"/>
          <p:cNvSpPr/>
          <p:nvPr/>
        </p:nvSpPr>
        <p:spPr>
          <a:xfrm>
            <a:off x="3611880" y="2898648"/>
            <a:ext cx="0" cy="128016"/>
          </a:xfrm>
          <a:prstGeom prst="line">
            <a:avLst/>
          </a:prstGeom>
          <a:noFill/>
          <a:ln w="19050">
            <a:solidFill>
              <a:schemeClr val="accent4"/>
            </a:solidFill>
            <a:prstDash val="solid"/>
          </a:ln>
        </p:spPr>
      </p:sp>
      <p:sp>
        <p:nvSpPr>
          <p:cNvPr id="13" name="Shape 11"/>
          <p:cNvSpPr/>
          <p:nvPr/>
        </p:nvSpPr>
        <p:spPr>
          <a:xfrm>
            <a:off x="1508760" y="3026664"/>
            <a:ext cx="4206240" cy="0"/>
          </a:xfrm>
          <a:prstGeom prst="line">
            <a:avLst/>
          </a:prstGeom>
          <a:noFill/>
          <a:ln w="19050">
            <a:solidFill>
              <a:schemeClr val="accent4"/>
            </a:solidFill>
            <a:prstDash val="solid"/>
          </a:ln>
        </p:spPr>
      </p:sp>
      <p:sp>
        <p:nvSpPr>
          <p:cNvPr id="14" name="Shape 12"/>
          <p:cNvSpPr/>
          <p:nvPr/>
        </p:nvSpPr>
        <p:spPr>
          <a:xfrm>
            <a:off x="1508760" y="3026664"/>
            <a:ext cx="0" cy="128016"/>
          </a:xfrm>
          <a:prstGeom prst="line">
            <a:avLst/>
          </a:prstGeom>
          <a:noFill/>
          <a:ln w="19050">
            <a:solidFill>
              <a:schemeClr val="accent4"/>
            </a:solidFill>
            <a:prstDash val="solid"/>
            <a:tailEnd type="triangle"/>
          </a:ln>
        </p:spPr>
      </p:sp>
      <p:sp>
        <p:nvSpPr>
          <p:cNvPr id="15" name="Shape 13"/>
          <p:cNvSpPr/>
          <p:nvPr/>
        </p:nvSpPr>
        <p:spPr>
          <a:xfrm>
            <a:off x="3611880" y="3026664"/>
            <a:ext cx="0" cy="128016"/>
          </a:xfrm>
          <a:prstGeom prst="line">
            <a:avLst/>
          </a:prstGeom>
          <a:noFill/>
          <a:ln w="19050">
            <a:solidFill>
              <a:schemeClr val="accent4"/>
            </a:solidFill>
            <a:prstDash val="solid"/>
            <a:tailEnd type="triangle"/>
          </a:ln>
        </p:spPr>
      </p:sp>
      <p:sp>
        <p:nvSpPr>
          <p:cNvPr id="16" name="Shape 14"/>
          <p:cNvSpPr/>
          <p:nvPr/>
        </p:nvSpPr>
        <p:spPr>
          <a:xfrm>
            <a:off x="5715000" y="3026664"/>
            <a:ext cx="0" cy="128016"/>
          </a:xfrm>
          <a:prstGeom prst="line">
            <a:avLst/>
          </a:prstGeom>
          <a:noFill/>
          <a:ln w="19050">
            <a:solidFill>
              <a:schemeClr val="accent4"/>
            </a:solidFill>
            <a:prstDash val="solid"/>
            <a:tailEnd type="triangle"/>
          </a:ln>
        </p:spPr>
      </p:sp>
      <p:sp>
        <p:nvSpPr>
          <p:cNvPr id="17" name="Shape 15"/>
          <p:cNvSpPr/>
          <p:nvPr/>
        </p:nvSpPr>
        <p:spPr>
          <a:xfrm>
            <a:off x="1508760" y="4023360"/>
            <a:ext cx="0" cy="118872"/>
          </a:xfrm>
          <a:prstGeom prst="line">
            <a:avLst/>
          </a:prstGeom>
          <a:noFill/>
          <a:ln w="19050">
            <a:solidFill>
              <a:schemeClr val="accent4"/>
            </a:solidFill>
            <a:prstDash val="solid"/>
          </a:ln>
        </p:spPr>
      </p:sp>
      <p:sp>
        <p:nvSpPr>
          <p:cNvPr id="18" name="Shape 16"/>
          <p:cNvSpPr/>
          <p:nvPr/>
        </p:nvSpPr>
        <p:spPr>
          <a:xfrm>
            <a:off x="3611880" y="4023360"/>
            <a:ext cx="0" cy="118872"/>
          </a:xfrm>
          <a:prstGeom prst="line">
            <a:avLst/>
          </a:prstGeom>
          <a:noFill/>
          <a:ln w="19050">
            <a:solidFill>
              <a:schemeClr val="accent4"/>
            </a:solidFill>
            <a:prstDash val="solid"/>
          </a:ln>
        </p:spPr>
      </p:sp>
      <p:sp>
        <p:nvSpPr>
          <p:cNvPr id="19" name="Shape 17"/>
          <p:cNvSpPr/>
          <p:nvPr/>
        </p:nvSpPr>
        <p:spPr>
          <a:xfrm>
            <a:off x="5715000" y="4023360"/>
            <a:ext cx="0" cy="118872"/>
          </a:xfrm>
          <a:prstGeom prst="line">
            <a:avLst/>
          </a:prstGeom>
          <a:noFill/>
          <a:ln w="19050">
            <a:solidFill>
              <a:schemeClr val="accent4"/>
            </a:solidFill>
            <a:prstDash val="solid"/>
          </a:ln>
        </p:spPr>
      </p:sp>
      <p:sp>
        <p:nvSpPr>
          <p:cNvPr id="20" name="Shape 18"/>
          <p:cNvSpPr/>
          <p:nvPr/>
        </p:nvSpPr>
        <p:spPr>
          <a:xfrm>
            <a:off x="1508760" y="4142232"/>
            <a:ext cx="4206240" cy="0"/>
          </a:xfrm>
          <a:prstGeom prst="line">
            <a:avLst/>
          </a:prstGeom>
          <a:noFill/>
          <a:ln w="19050">
            <a:solidFill>
              <a:schemeClr val="accent4"/>
            </a:solidFill>
            <a:prstDash val="solid"/>
          </a:ln>
        </p:spPr>
      </p:sp>
      <p:sp>
        <p:nvSpPr>
          <p:cNvPr id="21" name="Shape 19"/>
          <p:cNvSpPr/>
          <p:nvPr/>
        </p:nvSpPr>
        <p:spPr>
          <a:xfrm>
            <a:off x="3611880" y="4142232"/>
            <a:ext cx="0" cy="109728"/>
          </a:xfrm>
          <a:prstGeom prst="line">
            <a:avLst/>
          </a:prstGeom>
          <a:noFill/>
          <a:ln w="19050">
            <a:solidFill>
              <a:schemeClr val="accent4"/>
            </a:solidFill>
            <a:prstDash val="solid"/>
            <a:tailEnd type="triangle"/>
          </a:ln>
        </p:spPr>
      </p:sp>
      <p:sp>
        <p:nvSpPr>
          <p:cNvPr id="22" name="evaluate_characteristic(...)"/>
          <p:cNvSpPr txBox="1"/>
          <p:nvPr/>
        </p:nvSpPr>
        <p:spPr>
          <a:xfrm>
            <a:off x="548640" y="4251960"/>
            <a:ext cx="6126480" cy="640080"/>
          </a:xfrm>
          <a:prstGeom prst="roundRect">
            <a:avLst>
              <a:gd name="adj" fmla="val 11429"/>
            </a:avLst>
          </a:prstGeom>
          <a:solidFill>
            <a:schemeClr val="accent1"/>
          </a:solidFill>
          <a:ln/>
        </p:spPr>
        <p:txBody>
          <a:bodyPr wrap="square" lIns="63500" tIns="63500" rIns="63500" bIns="635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evaluate_characteristic(...)</a:t>
            </a:r>
            <a:endParaRPr lang="en-US" sz="1300" dirty="0"/>
          </a:p>
          <a:p>
            <a:pPr algn="ctr" indent="0" marL="0">
              <a:buNone/>
            </a:pPr>
            <a:r>
              <a:rPr lang="en-US" sz="1150" dirty="0">
                <a:solidFill>
                  <a:schemeClr val="bg1"/>
                </a:solidFill>
              </a:rPr>
              <a:t>Σ_proj = D · Σ · Dᵀ      →      u = √ trace(Σ_proj)</a:t>
            </a:r>
            <a:endParaRPr lang="en-US" sz="1300" dirty="0"/>
          </a:p>
        </p:txBody>
      </p:sp>
      <p:sp>
        <p:nvSpPr>
          <p:cNvPr id="23" name="uncertainty_m per characteristic  →  panel4_characteristics.png"/>
          <p:cNvSpPr txBox="1"/>
          <p:nvPr/>
        </p:nvSpPr>
        <p:spPr>
          <a:xfrm>
            <a:off x="548640" y="5120640"/>
            <a:ext cx="6126480" cy="621792"/>
          </a:xfrm>
          <a:prstGeom prst="roundRect">
            <a:avLst>
              <a:gd name="adj" fmla="val 11765"/>
            </a:avLst>
          </a:prstGeom>
          <a:solidFill>
            <a:schemeClr val="accent2"/>
          </a:solidFill>
          <a:ln/>
        </p:spPr>
        <p:txBody>
          <a:bodyPr wrap="square" lIns="63500" tIns="63500" rIns="63500" bIns="63500" rtlCol="0" anchor="ctr"/>
          <a:lstStyle/>
          <a:p>
            <a:pPr algn="ctr" indent="0" marL="0">
              <a:buNone/>
            </a:pPr>
            <a:r>
              <a:rPr lang="en-US" sz="1300" b="1" dirty="0">
                <a:solidFill>
                  <a:schemeClr val="tx1"/>
                </a:solidFill>
              </a:rPr>
              <a:t>uncertainty_m per characteristic  →  panel4_characteristics.png</a:t>
            </a:r>
            <a:endParaRPr lang="en-US" sz="1300" dirty="0"/>
          </a:p>
          <a:p>
            <a:pPr algn="ctr" indent="0" marL="0">
              <a:buNone/>
            </a:pPr>
            <a:r>
              <a:rPr lang="en-US" sz="1150" dirty="0">
                <a:solidFill>
                  <a:schemeClr val="tx1"/>
                </a:solidFill>
              </a:rPr>
              <a:t>make_panel4_characteristics(): one point at 2.5 m, one station, three tolerance types</a:t>
            </a:r>
            <a:endParaRPr lang="en-US" sz="1300" dirty="0"/>
          </a:p>
        </p:txBody>
      </p:sp>
      <p:sp>
        <p:nvSpPr>
          <p:cNvPr id="24" name="Shape 22"/>
          <p:cNvSpPr/>
          <p:nvPr/>
        </p:nvSpPr>
        <p:spPr>
          <a:xfrm>
            <a:off x="3611880" y="4892040"/>
            <a:ext cx="0" cy="228600"/>
          </a:xfrm>
          <a:prstGeom prst="line">
            <a:avLst/>
          </a:prstGeom>
          <a:noFill/>
          <a:ln w="19050">
            <a:solidFill>
              <a:schemeClr val="accent4"/>
            </a:solidFill>
            <a:prstDash val="solid"/>
            <a:tailEnd type="triangle"/>
          </a:ln>
        </p:spPr>
      </p:sp>
      <p:pic>
        <p:nvPicPr>
          <p:cNvPr id="25" name="Image 0" descr="Panel 4: one point's uncertainty under parallelism, profile and position tolerances">    </p:cNvPr>
          <p:cNvPicPr>
            <a:picLocks noChangeAspect="1"/>
          </p:cNvPicPr>
          <p:nvPr/>
        </p:nvPicPr>
        <p:blipFill>
          <a:blip r:embed="rId1"/>
          <a:stretch>
            <a:fillRect/>
          </a:stretch>
        </p:blipFill>
        <p:spPr>
          <a:xfrm>
            <a:off x="7086600" y="1554480"/>
            <a:ext cx="4553712" cy="3602095"/>
          </a:xfrm>
          <a:prstGeom prst="rect">
            <a:avLst/>
          </a:prstGeom>
        </p:spPr>
      </p:pic>
      <p:sp>
        <p:nvSpPr>
          <p:cNvPr id="26" name="Shape 23"/>
          <p:cNvSpPr/>
          <p:nvPr/>
        </p:nvSpPr>
        <p:spPr>
          <a:xfrm>
            <a:off x="7086600" y="1554480"/>
            <a:ext cx="4553712" cy="3602095"/>
          </a:xfrm>
          <a:prstGeom prst="rect">
            <a:avLst/>
          </a:prstGeom>
          <a:ln w="12700">
            <a:solidFill>
              <a:schemeClr val="bg2"/>
            </a:solidFill>
            <a:prstDash val="solid"/>
          </a:ln>
        </p:spPr>
      </p:sp>
      <p:sp>
        <p:nvSpPr>
          <p:cNvPr id="27" name="GATE callout"/>
          <p:cNvSpPr txBox="1"/>
          <p:nvPr/>
        </p:nvSpPr>
        <p:spPr>
          <a:xfrm>
            <a:off x="7086600" y="5257800"/>
            <a:ext cx="4553712" cy="658368"/>
          </a:xfrm>
          <a:prstGeom prst="roundRect">
            <a:avLst>
              <a:gd name="adj" fmla="val 11111"/>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250" b="1" dirty="0">
                <a:solidFill>
                  <a:schemeClr val="accent3"/>
                </a:solidFill>
              </a:rPr>
              <a:t>GATE   </a:t>
            </a:r>
            <a:pPr algn="l" indent="0" marL="0">
              <a:buNone/>
            </a:pPr>
            <a:r>
              <a:rPr lang="en-US" sz="1250" dirty="0">
                <a:solidFill>
                  <a:schemeClr val="tx1"/>
                </a:solidFill>
              </a:rPr>
              <a:t>same point, same station: 1.2 / 5.9 / 10.3 µm</a:t>
            </a:r>
            <a:endParaRPr lang="en-US" sz="1250" dirty="0"/>
          </a:p>
        </p:txBody>
      </p:sp>
      <p:sp>
        <p:nvSpPr>
          <p:cNvPr id="28" name="Shape 25"/>
          <p:cNvSpPr/>
          <p:nvPr/>
        </p:nvSpPr>
        <p:spPr>
          <a:xfrm>
            <a:off x="548640" y="6080760"/>
            <a:ext cx="256032" cy="164592"/>
          </a:xfrm>
          <a:prstGeom prst="roundRect">
            <a:avLst>
              <a:gd name="adj" fmla="val 22222"/>
            </a:avLst>
          </a:prstGeom>
          <a:solidFill>
            <a:schemeClr val="accent1"/>
          </a:solidFill>
          <a:ln/>
        </p:spPr>
      </p:sp>
      <p:sp>
        <p:nvSpPr>
          <p:cNvPr id="29" name="Text 26"/>
          <p:cNvSpPr txBox="1"/>
          <p:nvPr/>
        </p:nvSpPr>
        <p:spPr>
          <a:xfrm>
            <a:off x="877824"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function in src/ or viz/</a:t>
            </a:r>
            <a:endParaRPr lang="en-US" sz="1050" dirty="0"/>
          </a:p>
        </p:txBody>
      </p:sp>
      <p:sp>
        <p:nvSpPr>
          <p:cNvPr id="30" name="Shape 27"/>
          <p:cNvSpPr/>
          <p:nvPr/>
        </p:nvSpPr>
        <p:spPr>
          <a:xfrm>
            <a:off x="3264408" y="6080760"/>
            <a:ext cx="256032" cy="164592"/>
          </a:xfrm>
          <a:prstGeom prst="rect">
            <a:avLst/>
          </a:prstGeom>
          <a:solidFill>
            <a:schemeClr val="bg2"/>
          </a:solidFill>
          <a:ln w="9525">
            <a:solidFill>
              <a:schemeClr val="accent4"/>
            </a:solidFill>
            <a:prstDash val="solid"/>
          </a:ln>
        </p:spPr>
      </p:sp>
      <p:sp>
        <p:nvSpPr>
          <p:cNvPr id="31" name="Text 28"/>
          <p:cNvSpPr txBox="1"/>
          <p:nvPr/>
        </p:nvSpPr>
        <p:spPr>
          <a:xfrm>
            <a:off x="3593592"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input / data object</a:t>
            </a:r>
            <a:endParaRPr lang="en-US" sz="1050" dirty="0"/>
          </a:p>
        </p:txBody>
      </p:sp>
      <p:sp>
        <p:nvSpPr>
          <p:cNvPr id="32" name="Shape 29"/>
          <p:cNvSpPr/>
          <p:nvPr/>
        </p:nvSpPr>
        <p:spPr>
          <a:xfrm>
            <a:off x="5568696" y="6080760"/>
            <a:ext cx="256032" cy="164592"/>
          </a:xfrm>
          <a:prstGeom prst="roundRect">
            <a:avLst>
              <a:gd name="adj" fmla="val 22222"/>
            </a:avLst>
          </a:prstGeom>
          <a:solidFill>
            <a:schemeClr val="accent2"/>
          </a:solidFill>
          <a:ln/>
        </p:spPr>
      </p:sp>
      <p:sp>
        <p:nvSpPr>
          <p:cNvPr id="33" name="Text 30"/>
          <p:cNvSpPr txBox="1"/>
          <p:nvPr/>
        </p:nvSpPr>
        <p:spPr>
          <a:xfrm>
            <a:off x="5897880"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output / figure</a:t>
            </a:r>
            <a:endParaRPr lang="en-US" sz="1050" dirty="0"/>
          </a:p>
        </p:txBody>
      </p:sp>
      <p:sp>
        <p:nvSpPr>
          <p:cNvPr id="34" name="Shape 31"/>
          <p:cNvSpPr/>
          <p:nvPr/>
        </p:nvSpPr>
        <p:spPr>
          <a:xfrm>
            <a:off x="7543800" y="6080760"/>
            <a:ext cx="256032" cy="164592"/>
          </a:xfrm>
          <a:prstGeom prst="roundRect">
            <a:avLst>
              <a:gd name="adj" fmla="val 22222"/>
            </a:avLst>
          </a:prstGeom>
          <a:solidFill>
            <a:schemeClr val="accent3"/>
          </a:solidFill>
          <a:ln/>
        </p:spPr>
      </p:sp>
      <p:sp>
        <p:nvSpPr>
          <p:cNvPr id="35" name="Text 32"/>
          <p:cNvSpPr txBox="1"/>
          <p:nvPr/>
        </p:nvSpPr>
        <p:spPr>
          <a:xfrm>
            <a:off x="7872984"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check or rejection</a:t>
            </a:r>
            <a:endParaRPr lang="en-US" sz="10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From uncertainty to decision risk</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JCGM 106: the chance of a wrong accept or reject, given the process and the measurement</a:t>
            </a:r>
            <a:endParaRPr lang="en-US" sz="1600" dirty="0"/>
          </a:p>
        </p:txBody>
      </p:sp>
      <p:sp>
        <p:nvSpPr>
          <p:cNvPr id="4" name="badge 5"/>
          <p:cNvSpPr txBox="1"/>
          <p:nvPr/>
        </p:nvSpPr>
        <p:spPr>
          <a:xfrm>
            <a:off x="10927080" y="292608"/>
            <a:ext cx="713232" cy="713232"/>
          </a:xfrm>
          <a:prstGeom prst="ellipse">
            <a:avLst/>
          </a:prstGeom>
          <a:solidFill>
            <a:schemeClr val="accent1"/>
          </a:solidFill>
          <a:ln/>
        </p:spPr>
        <p:txBody>
          <a:bodyPr wrap="square" lIns="0" tIns="0" rIns="0" bIns="0" rtlCol="0" anchor="ctr"/>
          <a:lstStyle/>
          <a:p>
            <a:pPr algn="ctr" indent="0" marL="0">
              <a:buNone/>
            </a:pPr>
            <a:r>
              <a:rPr lang="en-US" sz="2300" b="1" dirty="0">
                <a:solidFill>
                  <a:schemeClr val="bg1"/>
                </a:solidFill>
                <a:latin typeface="Cambria" pitchFamily="34" charset="0"/>
                <a:ea typeface="Cambria" pitchFamily="34" charset="-122"/>
                <a:cs typeface="Cambria" pitchFamily="34" charset="-120"/>
              </a:rPr>
              <a:t>5</a:t>
            </a:r>
            <a:endParaRPr lang="en-US" sz="2300" dirty="0"/>
          </a:p>
        </p:txBody>
      </p:sp>
      <p:sp>
        <p:nvSpPr>
          <p:cNvPr id="5" name="Text 3"/>
          <p:cNvSpPr txBox="1"/>
          <p:nvPr/>
        </p:nvSpPr>
        <p:spPr>
          <a:xfrm>
            <a:off x="10835640" y="1024128"/>
            <a:ext cx="896112" cy="228600"/>
          </a:xfrm>
          <a:prstGeom prst="rect">
            <a:avLst/>
          </a:prstGeom>
          <a:noFill/>
          <a:ln/>
        </p:spPr>
        <p:txBody>
          <a:bodyPr wrap="square" lIns="0" tIns="0" rIns="0" bIns="0" rtlCol="0" anchor="ctr"/>
          <a:lstStyle/>
          <a:p>
            <a:pPr algn="ctr" indent="0" marL="0">
              <a:buNone/>
            </a:pPr>
            <a:r>
              <a:rPr lang="en-US" sz="1000" b="1" dirty="0">
                <a:solidFill>
                  <a:schemeClr val="accent1"/>
                </a:solidFill>
              </a:rPr>
              <a:t>STEP</a:t>
            </a:r>
            <a:endParaRPr lang="en-US" sz="1000" dirty="0"/>
          </a:p>
        </p:txBody>
      </p:sp>
      <p:sp>
        <p:nvSpPr>
          <p:cNvPr id="6" name="ProcessPrior(mean, std)"/>
          <p:cNvSpPr txBox="1"/>
          <p:nvPr/>
        </p:nvSpPr>
        <p:spPr>
          <a:xfrm>
            <a:off x="548640" y="1554480"/>
            <a:ext cx="2258568" cy="658368"/>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150" b="1" dirty="0">
                <a:solidFill>
                  <a:schemeClr val="tx1"/>
                </a:solidFill>
                <a:latin typeface="Courier New" pitchFamily="34" charset="0"/>
                <a:ea typeface="Courier New" pitchFamily="34" charset="-122"/>
                <a:cs typeface="Courier New" pitchFamily="34" charset="-120"/>
              </a:rPr>
              <a:t>ProcessPrior(mean, std)</a:t>
            </a:r>
            <a:endParaRPr lang="en-US" sz="1150" dirty="0"/>
          </a:p>
          <a:p>
            <a:pPr algn="ctr" indent="0" marL="0">
              <a:buNone/>
            </a:pPr>
            <a:r>
              <a:rPr lang="en-US" sz="1150" dirty="0">
                <a:solidFill>
                  <a:schemeClr val="tx2"/>
                </a:solidFill>
              </a:rPr>
              <a:t>per feature cluster, not per characteristic</a:t>
            </a:r>
            <a:endParaRPr lang="en-US" sz="1150" dirty="0"/>
          </a:p>
        </p:txBody>
      </p:sp>
      <p:sp>
        <p:nvSpPr>
          <p:cNvPr id="7" name="uncertainty_m"/>
          <p:cNvSpPr txBox="1"/>
          <p:nvPr/>
        </p:nvSpPr>
        <p:spPr>
          <a:xfrm>
            <a:off x="2990088" y="1554480"/>
            <a:ext cx="2258568" cy="658368"/>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150" b="1" dirty="0">
                <a:solidFill>
                  <a:schemeClr val="tx1"/>
                </a:solidFill>
                <a:latin typeface="Courier New" pitchFamily="34" charset="0"/>
                <a:ea typeface="Courier New" pitchFamily="34" charset="-122"/>
                <a:cs typeface="Courier New" pitchFamily="34" charset="-120"/>
              </a:rPr>
              <a:t>uncertainty_m</a:t>
            </a:r>
            <a:endParaRPr lang="en-US" sz="1150" dirty="0"/>
          </a:p>
          <a:p>
            <a:pPr algn="ctr" indent="0" marL="0">
              <a:buNone/>
            </a:pPr>
            <a:r>
              <a:rPr lang="en-US" sz="1150" dirty="0">
                <a:solidFill>
                  <a:schemeClr val="tx2"/>
                </a:solidFill>
              </a:rPr>
              <a:t>u for this characteristic, from step 4</a:t>
            </a:r>
            <a:endParaRPr lang="en-US" sz="1150" dirty="0"/>
          </a:p>
        </p:txBody>
      </p:sp>
      <p:sp>
        <p:nvSpPr>
          <p:cNvPr id="8" name="DecisionRule"/>
          <p:cNvSpPr txBox="1"/>
          <p:nvPr/>
        </p:nvSpPr>
        <p:spPr>
          <a:xfrm>
            <a:off x="5431536" y="1554480"/>
            <a:ext cx="2258568" cy="658368"/>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150" b="1" dirty="0">
                <a:solidFill>
                  <a:schemeClr val="tx1"/>
                </a:solidFill>
                <a:latin typeface="Courier New" pitchFamily="34" charset="0"/>
                <a:ea typeface="Courier New" pitchFamily="34" charset="-122"/>
                <a:cs typeface="Courier New" pitchFamily="34" charset="-120"/>
              </a:rPr>
              <a:t>DecisionRule</a:t>
            </a:r>
            <a:endParaRPr lang="en-US" sz="1150" dirty="0"/>
          </a:p>
          <a:p>
            <a:pPr algn="ctr" indent="0" marL="0">
              <a:buNone/>
            </a:pPr>
            <a:r>
              <a:rPr lang="en-US" sz="1150" dirty="0">
                <a:solidFill>
                  <a:schemeClr val="tx2"/>
                </a:solidFill>
              </a:rPr>
              <a:t>accept within ±50 µm (100 µm zone)</a:t>
            </a:r>
            <a:endParaRPr lang="en-US" sz="1150" dirty="0"/>
          </a:p>
        </p:txBody>
      </p:sp>
      <p:sp>
        <p:nvSpPr>
          <p:cNvPr id="9" name="Shape 7"/>
          <p:cNvSpPr/>
          <p:nvPr/>
        </p:nvSpPr>
        <p:spPr>
          <a:xfrm>
            <a:off x="1677924" y="2212848"/>
            <a:ext cx="0" cy="274320"/>
          </a:xfrm>
          <a:prstGeom prst="line">
            <a:avLst/>
          </a:prstGeom>
          <a:noFill/>
          <a:ln w="19050">
            <a:solidFill>
              <a:schemeClr val="accent4"/>
            </a:solidFill>
            <a:prstDash val="solid"/>
            <a:tailEnd type="triangle"/>
          </a:ln>
        </p:spPr>
      </p:sp>
      <p:sp>
        <p:nvSpPr>
          <p:cNvPr id="10" name="Shape 8"/>
          <p:cNvSpPr/>
          <p:nvPr/>
        </p:nvSpPr>
        <p:spPr>
          <a:xfrm>
            <a:off x="4119372" y="2212848"/>
            <a:ext cx="0" cy="274320"/>
          </a:xfrm>
          <a:prstGeom prst="line">
            <a:avLst/>
          </a:prstGeom>
          <a:noFill/>
          <a:ln w="19050">
            <a:solidFill>
              <a:schemeClr val="accent4"/>
            </a:solidFill>
            <a:prstDash val="solid"/>
            <a:tailEnd type="triangle"/>
          </a:ln>
        </p:spPr>
      </p:sp>
      <p:sp>
        <p:nvSpPr>
          <p:cNvPr id="11" name="Shape 9"/>
          <p:cNvSpPr/>
          <p:nvPr/>
        </p:nvSpPr>
        <p:spPr>
          <a:xfrm>
            <a:off x="6560820" y="2212848"/>
            <a:ext cx="0" cy="274320"/>
          </a:xfrm>
          <a:prstGeom prst="line">
            <a:avLst/>
          </a:prstGeom>
          <a:noFill/>
          <a:ln w="19050">
            <a:solidFill>
              <a:schemeClr val="accent4"/>
            </a:solidFill>
            <a:prstDash val="solid"/>
            <a:tailEnd type="triangle"/>
          </a:ln>
        </p:spPr>
      </p:sp>
      <p:sp>
        <p:nvSpPr>
          <p:cNvPr id="12" name="evaluate_conformity_risk(...)"/>
          <p:cNvSpPr txBox="1"/>
          <p:nvPr/>
        </p:nvSpPr>
        <p:spPr>
          <a:xfrm>
            <a:off x="548640" y="2487168"/>
            <a:ext cx="7141464" cy="658368"/>
          </a:xfrm>
          <a:prstGeom prst="roundRect">
            <a:avLst>
              <a:gd name="adj" fmla="val 11111"/>
            </a:avLst>
          </a:prstGeom>
          <a:solidFill>
            <a:schemeClr val="accent1"/>
          </a:solidFill>
          <a:ln/>
        </p:spPr>
        <p:txBody>
          <a:bodyPr wrap="square" lIns="63500" tIns="63500" rIns="63500" bIns="635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evaluate_conformity_risk(...)</a:t>
            </a:r>
            <a:endParaRPr lang="en-US" sz="1300" dirty="0"/>
          </a:p>
          <a:p>
            <a:pPr algn="ctr" indent="0" marL="0">
              <a:buNone/>
            </a:pPr>
            <a:r>
              <a:rPr lang="en-US" sz="1150" dirty="0">
                <a:solidFill>
                  <a:schemeClr val="bg1"/>
                </a:solidFill>
              </a:rPr>
              <a:t>Gaussian measurement error around each possible true value y, weighted by the process prior p(y)</a:t>
            </a:r>
            <a:endParaRPr lang="en-US" sz="1300" dirty="0"/>
          </a:p>
        </p:txBody>
      </p:sp>
      <p:sp>
        <p:nvSpPr>
          <p:cNvPr id="13" name="_global_false_acceptance"/>
          <p:cNvSpPr txBox="1"/>
          <p:nvPr/>
        </p:nvSpPr>
        <p:spPr>
          <a:xfrm>
            <a:off x="548640" y="3429000"/>
            <a:ext cx="3474720" cy="868680"/>
          </a:xfrm>
          <a:prstGeom prst="roundRect">
            <a:avLst>
              <a:gd name="adj" fmla="val 8421"/>
            </a:avLst>
          </a:prstGeom>
          <a:solidFill>
            <a:schemeClr val="accent1"/>
          </a:solidFill>
          <a:ln/>
        </p:spPr>
        <p:txBody>
          <a:bodyPr wrap="square" lIns="63500" tIns="63500" rIns="63500" bIns="63500" rtlCol="0" anchor="ctr"/>
          <a:lstStyle/>
          <a:p>
            <a:pPr algn="ctr" indent="0" marL="0">
              <a:buNone/>
            </a:pPr>
            <a:r>
              <a:rPr lang="en-US" sz="1250" b="1" dirty="0">
                <a:solidFill>
                  <a:schemeClr val="bg1"/>
                </a:solidFill>
                <a:latin typeface="Courier New" pitchFamily="34" charset="0"/>
                <a:ea typeface="Courier New" pitchFamily="34" charset="-122"/>
                <a:cs typeface="Courier New" pitchFamily="34" charset="-120"/>
              </a:rPr>
              <a:t>_global_false_acceptance</a:t>
            </a:r>
            <a:endParaRPr lang="en-US" sz="1250" dirty="0"/>
          </a:p>
          <a:p>
            <a:pPr algn="ctr" indent="0" marL="0">
              <a:buNone/>
            </a:pPr>
            <a:r>
              <a:rPr lang="en-US" sz="1200" dirty="0">
                <a:solidFill>
                  <a:schemeClr val="bg1"/>
                </a:solidFill>
              </a:rPr>
              <a:t>PFA = ∫ outside tolerance  p(y) · P(accept | y) dy</a:t>
            </a:r>
            <a:endParaRPr lang="en-US" sz="1250" dirty="0"/>
          </a:p>
        </p:txBody>
      </p:sp>
      <p:sp>
        <p:nvSpPr>
          <p:cNvPr id="14" name="_global_false_rejection"/>
          <p:cNvSpPr txBox="1"/>
          <p:nvPr/>
        </p:nvSpPr>
        <p:spPr>
          <a:xfrm>
            <a:off x="4215384" y="3429000"/>
            <a:ext cx="3474720" cy="868680"/>
          </a:xfrm>
          <a:prstGeom prst="roundRect">
            <a:avLst>
              <a:gd name="adj" fmla="val 8421"/>
            </a:avLst>
          </a:prstGeom>
          <a:solidFill>
            <a:schemeClr val="accent1"/>
          </a:solidFill>
          <a:ln/>
        </p:spPr>
        <p:txBody>
          <a:bodyPr wrap="square" lIns="63500" tIns="63500" rIns="63500" bIns="63500" rtlCol="0" anchor="ctr"/>
          <a:lstStyle/>
          <a:p>
            <a:pPr algn="ctr" indent="0" marL="0">
              <a:buNone/>
            </a:pPr>
            <a:r>
              <a:rPr lang="en-US" sz="1250" b="1" dirty="0">
                <a:solidFill>
                  <a:schemeClr val="bg1"/>
                </a:solidFill>
                <a:latin typeface="Courier New" pitchFamily="34" charset="0"/>
                <a:ea typeface="Courier New" pitchFamily="34" charset="-122"/>
                <a:cs typeface="Courier New" pitchFamily="34" charset="-120"/>
              </a:rPr>
              <a:t>_global_false_rejection</a:t>
            </a:r>
            <a:endParaRPr lang="en-US" sz="1250" dirty="0"/>
          </a:p>
          <a:p>
            <a:pPr algn="ctr" indent="0" marL="0">
              <a:buNone/>
            </a:pPr>
            <a:r>
              <a:rPr lang="en-US" sz="1200" dirty="0">
                <a:solidFill>
                  <a:schemeClr val="bg1"/>
                </a:solidFill>
              </a:rPr>
              <a:t>PFR = ∫ inside tolerance  p(y) · (1 − P(accept | y)) dy</a:t>
            </a:r>
            <a:endParaRPr lang="en-US" sz="1250" dirty="0"/>
          </a:p>
        </p:txBody>
      </p:sp>
      <p:sp>
        <p:nvSpPr>
          <p:cNvPr id="15" name="Shape 13"/>
          <p:cNvSpPr/>
          <p:nvPr/>
        </p:nvSpPr>
        <p:spPr>
          <a:xfrm>
            <a:off x="2286000" y="3145536"/>
            <a:ext cx="0" cy="283464"/>
          </a:xfrm>
          <a:prstGeom prst="line">
            <a:avLst/>
          </a:prstGeom>
          <a:noFill/>
          <a:ln w="19050">
            <a:solidFill>
              <a:schemeClr val="accent4"/>
            </a:solidFill>
            <a:prstDash val="solid"/>
            <a:tailEnd type="triangle"/>
          </a:ln>
        </p:spPr>
      </p:sp>
      <p:sp>
        <p:nvSpPr>
          <p:cNvPr id="16" name="Shape 14"/>
          <p:cNvSpPr/>
          <p:nvPr/>
        </p:nvSpPr>
        <p:spPr>
          <a:xfrm>
            <a:off x="5952744" y="3145536"/>
            <a:ext cx="0" cy="283464"/>
          </a:xfrm>
          <a:prstGeom prst="line">
            <a:avLst/>
          </a:prstGeom>
          <a:noFill/>
          <a:ln w="19050">
            <a:solidFill>
              <a:schemeClr val="accent4"/>
            </a:solidFill>
            <a:prstDash val="solid"/>
            <a:tailEnd type="triangle"/>
          </a:ln>
        </p:spPr>
      </p:sp>
      <p:sp>
        <p:nvSpPr>
          <p:cNvPr id="17" name="RiskResult  →  panel5_risk.png"/>
          <p:cNvSpPr txBox="1"/>
          <p:nvPr/>
        </p:nvSpPr>
        <p:spPr>
          <a:xfrm>
            <a:off x="548640" y="4572000"/>
            <a:ext cx="7141464" cy="658368"/>
          </a:xfrm>
          <a:prstGeom prst="roundRect">
            <a:avLst>
              <a:gd name="adj" fmla="val 11111"/>
            </a:avLst>
          </a:prstGeom>
          <a:solidFill>
            <a:schemeClr val="accent2"/>
          </a:solidFill>
          <a:ln/>
        </p:spPr>
        <p:txBody>
          <a:bodyPr wrap="square" lIns="63500" tIns="63500" rIns="63500" bIns="63500" rtlCol="0" anchor="ctr"/>
          <a:lstStyle/>
          <a:p>
            <a:pPr algn="ctr" indent="0" marL="0">
              <a:buNone/>
            </a:pPr>
            <a:r>
              <a:rPr lang="en-US" sz="1300" b="1" dirty="0">
                <a:solidFill>
                  <a:schemeClr val="tx1"/>
                </a:solidFill>
              </a:rPr>
              <a:t>RiskResult  →  panel5_risk.png</a:t>
            </a:r>
            <a:endParaRPr lang="en-US" sz="1300" dirty="0"/>
          </a:p>
          <a:p>
            <a:pPr algn="ctr" indent="0" marL="0">
              <a:buNone/>
            </a:pPr>
            <a:r>
              <a:rPr lang="en-US" sz="1150" dirty="0">
                <a:solidFill>
                  <a:schemeClr val="tx1"/>
                </a:solidFill>
              </a:rPr>
              <a:t>PFA, PFR and process Cpk for one characteristic  ·  make_panel5_risk(): sweep u from 1 to 60 µm for both clusters</a:t>
            </a:r>
            <a:endParaRPr lang="en-US" sz="1300" dirty="0"/>
          </a:p>
        </p:txBody>
      </p:sp>
      <p:sp>
        <p:nvSpPr>
          <p:cNvPr id="18" name="Shape 16"/>
          <p:cNvSpPr/>
          <p:nvPr/>
        </p:nvSpPr>
        <p:spPr>
          <a:xfrm>
            <a:off x="2286000" y="4297680"/>
            <a:ext cx="0" cy="274320"/>
          </a:xfrm>
          <a:prstGeom prst="line">
            <a:avLst/>
          </a:prstGeom>
          <a:noFill/>
          <a:ln w="19050">
            <a:solidFill>
              <a:schemeClr val="accent4"/>
            </a:solidFill>
            <a:prstDash val="solid"/>
            <a:tailEnd type="triangle"/>
          </a:ln>
        </p:spPr>
      </p:sp>
      <p:sp>
        <p:nvSpPr>
          <p:cNvPr id="19" name="Shape 17"/>
          <p:cNvSpPr/>
          <p:nvPr/>
        </p:nvSpPr>
        <p:spPr>
          <a:xfrm>
            <a:off x="5952744" y="4297680"/>
            <a:ext cx="0" cy="274320"/>
          </a:xfrm>
          <a:prstGeom prst="line">
            <a:avLst/>
          </a:prstGeom>
          <a:noFill/>
          <a:ln w="19050">
            <a:solidFill>
              <a:schemeClr val="accent4"/>
            </a:solidFill>
            <a:prstDash val="solid"/>
            <a:tailEnd type="triangle"/>
          </a:ln>
        </p:spPr>
      </p:sp>
      <p:pic>
        <p:nvPicPr>
          <p:cNvPr id="20" name="Image 0" descr="Panel 5: global risk against measurement uncertainty for a high-capability and a marginal process">    </p:cNvPr>
          <p:cNvPicPr>
            <a:picLocks noChangeAspect="1"/>
          </p:cNvPicPr>
          <p:nvPr/>
        </p:nvPicPr>
        <p:blipFill>
          <a:blip r:embed="rId1"/>
          <a:stretch>
            <a:fillRect/>
          </a:stretch>
        </p:blipFill>
        <p:spPr>
          <a:xfrm>
            <a:off x="8183880" y="1554480"/>
            <a:ext cx="3456432" cy="2726842"/>
          </a:xfrm>
          <a:prstGeom prst="rect">
            <a:avLst/>
          </a:prstGeom>
        </p:spPr>
      </p:pic>
      <p:sp>
        <p:nvSpPr>
          <p:cNvPr id="21" name="Shape 18"/>
          <p:cNvSpPr/>
          <p:nvPr/>
        </p:nvSpPr>
        <p:spPr>
          <a:xfrm>
            <a:off x="8183880" y="1554480"/>
            <a:ext cx="3456432" cy="2726842"/>
          </a:xfrm>
          <a:prstGeom prst="rect">
            <a:avLst/>
          </a:prstGeom>
          <a:ln w="12700">
            <a:solidFill>
              <a:schemeClr val="bg2"/>
            </a:solidFill>
            <a:prstDash val="solid"/>
          </a:ln>
        </p:spPr>
      </p:sp>
      <p:sp>
        <p:nvSpPr>
          <p:cNvPr id="22" name="GATE callout"/>
          <p:cNvSpPr txBox="1"/>
          <p:nvPr/>
        </p:nvSpPr>
        <p:spPr>
          <a:xfrm>
            <a:off x="8183880" y="4434840"/>
            <a:ext cx="3456432" cy="777240"/>
          </a:xfrm>
          <a:prstGeom prst="roundRect">
            <a:avLst>
              <a:gd name="adj" fmla="val 9412"/>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200" b="1" dirty="0">
                <a:solidFill>
                  <a:schemeClr val="accent3"/>
                </a:solidFill>
              </a:rPr>
              <a:t>GATE   </a:t>
            </a:r>
            <a:pPr algn="l" indent="0" marL="0">
              <a:buNone/>
            </a:pPr>
            <a:r>
              <a:rPr lang="en-US" sz="1200" dirty="0">
                <a:solidFill>
                  <a:schemeClr val="tx1"/>
                </a:solidFill>
              </a:rPr>
              <a:t>a high-capability characteristic shows near-zero risk at any uncertainty</a:t>
            </a:r>
            <a:endParaRPr lang="en-US" sz="1200" dirty="0"/>
          </a:p>
        </p:txBody>
      </p:sp>
      <p:sp>
        <p:nvSpPr>
          <p:cNvPr id="23" name="Text 20"/>
          <p:cNvSpPr txBox="1"/>
          <p:nvPr/>
        </p:nvSpPr>
        <p:spPr>
          <a:xfrm>
            <a:off x="8183880" y="5349240"/>
            <a:ext cx="3456432" cy="566928"/>
          </a:xfrm>
          <a:prstGeom prst="rect">
            <a:avLst/>
          </a:prstGeom>
          <a:noFill/>
          <a:ln/>
        </p:spPr>
        <p:txBody>
          <a:bodyPr wrap="square" lIns="0" tIns="0" rIns="0" bIns="0" rtlCol="0" anchor="t"/>
          <a:lstStyle/>
          <a:p>
            <a:pPr indent="0" marL="0">
              <a:buNone/>
            </a:pPr>
            <a:r>
              <a:rPr lang="en-US" sz="1150" b="1" dirty="0">
                <a:solidFill>
                  <a:schemeClr val="accent1"/>
                </a:solidFill>
              </a:rPr>
              <a:t>Clusters  </a:t>
            </a:r>
            <a:pPr indent="0" marL="0">
              <a:buNone/>
            </a:pPr>
            <a:r>
              <a:rPr lang="en-US" sz="1150" dirty="0">
                <a:solidFill>
                  <a:schemeClr val="tx1"/>
                </a:solidFill>
              </a:rPr>
              <a:t>high-capability: Cpk 2.0 (GKN critical tier)  ·  marginal: Cpk 1.33 (AS13006 floor)</a:t>
            </a:r>
            <a:endParaRPr lang="en-US" sz="1150" dirty="0"/>
          </a:p>
        </p:txBody>
      </p:sp>
      <p:sp>
        <p:nvSpPr>
          <p:cNvPr id="24" name="Shape 21"/>
          <p:cNvSpPr/>
          <p:nvPr/>
        </p:nvSpPr>
        <p:spPr>
          <a:xfrm>
            <a:off x="548640" y="6080760"/>
            <a:ext cx="256032" cy="164592"/>
          </a:xfrm>
          <a:prstGeom prst="roundRect">
            <a:avLst>
              <a:gd name="adj" fmla="val 22222"/>
            </a:avLst>
          </a:prstGeom>
          <a:solidFill>
            <a:schemeClr val="accent1"/>
          </a:solidFill>
          <a:ln/>
        </p:spPr>
      </p:sp>
      <p:sp>
        <p:nvSpPr>
          <p:cNvPr id="25" name="Text 22"/>
          <p:cNvSpPr txBox="1"/>
          <p:nvPr/>
        </p:nvSpPr>
        <p:spPr>
          <a:xfrm>
            <a:off x="877824"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function in src/ or viz/</a:t>
            </a:r>
            <a:endParaRPr lang="en-US" sz="1050" dirty="0"/>
          </a:p>
        </p:txBody>
      </p:sp>
      <p:sp>
        <p:nvSpPr>
          <p:cNvPr id="26" name="Shape 23"/>
          <p:cNvSpPr/>
          <p:nvPr/>
        </p:nvSpPr>
        <p:spPr>
          <a:xfrm>
            <a:off x="3264408" y="6080760"/>
            <a:ext cx="256032" cy="164592"/>
          </a:xfrm>
          <a:prstGeom prst="rect">
            <a:avLst/>
          </a:prstGeom>
          <a:solidFill>
            <a:schemeClr val="bg2"/>
          </a:solidFill>
          <a:ln w="9525">
            <a:solidFill>
              <a:schemeClr val="accent4"/>
            </a:solidFill>
            <a:prstDash val="solid"/>
          </a:ln>
        </p:spPr>
      </p:sp>
      <p:sp>
        <p:nvSpPr>
          <p:cNvPr id="27" name="Text 24"/>
          <p:cNvSpPr txBox="1"/>
          <p:nvPr/>
        </p:nvSpPr>
        <p:spPr>
          <a:xfrm>
            <a:off x="3593592"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input / data object</a:t>
            </a:r>
            <a:endParaRPr lang="en-US" sz="1050" dirty="0"/>
          </a:p>
        </p:txBody>
      </p:sp>
      <p:sp>
        <p:nvSpPr>
          <p:cNvPr id="28" name="Shape 25"/>
          <p:cNvSpPr/>
          <p:nvPr/>
        </p:nvSpPr>
        <p:spPr>
          <a:xfrm>
            <a:off x="5568696" y="6080760"/>
            <a:ext cx="256032" cy="164592"/>
          </a:xfrm>
          <a:prstGeom prst="roundRect">
            <a:avLst>
              <a:gd name="adj" fmla="val 22222"/>
            </a:avLst>
          </a:prstGeom>
          <a:solidFill>
            <a:schemeClr val="accent2"/>
          </a:solidFill>
          <a:ln/>
        </p:spPr>
      </p:sp>
      <p:sp>
        <p:nvSpPr>
          <p:cNvPr id="29" name="Text 26"/>
          <p:cNvSpPr txBox="1"/>
          <p:nvPr/>
        </p:nvSpPr>
        <p:spPr>
          <a:xfrm>
            <a:off x="5897880"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output / figure</a:t>
            </a:r>
            <a:endParaRPr lang="en-US" sz="1050" dirty="0"/>
          </a:p>
        </p:txBody>
      </p:sp>
      <p:sp>
        <p:nvSpPr>
          <p:cNvPr id="30" name="Shape 27"/>
          <p:cNvSpPr/>
          <p:nvPr/>
        </p:nvSpPr>
        <p:spPr>
          <a:xfrm>
            <a:off x="7543800" y="6080760"/>
            <a:ext cx="256032" cy="164592"/>
          </a:xfrm>
          <a:prstGeom prst="roundRect">
            <a:avLst>
              <a:gd name="adj" fmla="val 22222"/>
            </a:avLst>
          </a:prstGeom>
          <a:solidFill>
            <a:schemeClr val="accent3"/>
          </a:solidFill>
          <a:ln/>
        </p:spPr>
      </p:sp>
      <p:sp>
        <p:nvSpPr>
          <p:cNvPr id="31" name="Text 28"/>
          <p:cNvSpPr txBox="1"/>
          <p:nvPr/>
        </p:nvSpPr>
        <p:spPr>
          <a:xfrm>
            <a:off x="7872984"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check or rejection</a:t>
            </a:r>
            <a:endParaRPr lang="en-US" sz="10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731520" y="2148840"/>
            <a:ext cx="7132320" cy="457200"/>
          </a:xfrm>
          <a:prstGeom prst="rect">
            <a:avLst/>
          </a:prstGeom>
          <a:noFill/>
          <a:ln/>
        </p:spPr>
        <p:txBody>
          <a:bodyPr wrap="square" rtlCol="0" anchor="b"/>
          <a:lstStyle/>
          <a:p>
            <a:pPr indent="0" marL="0">
              <a:buNone/>
            </a:pPr>
            <a:r>
              <a:rPr lang="en-US" sz="1600" b="1" dirty="0">
                <a:solidFill>
                  <a:schemeClr val="accent2"/>
                </a:solidFill>
              </a:rPr>
              <a:t>PART 2</a:t>
            </a:r>
            <a:endParaRPr lang="en-US" sz="1600" dirty="0"/>
          </a:p>
        </p:txBody>
      </p:sp>
      <p:sp>
        <p:nvSpPr>
          <p:cNvPr id="3" name="Text 0"/>
          <p:cNvSpPr/>
          <p:nvPr>
            <p:ph idx="101" type="title" hasCustomPrompt="1"/>
          </p:nvPr>
        </p:nvSpPr>
        <p:spPr>
          <a:xfrm>
            <a:off x="731520" y="2651760"/>
            <a:ext cx="7680960" cy="1097280"/>
          </a:xfrm>
          <a:prstGeom prst="rect">
            <a:avLst/>
          </a:prstGeom>
          <a:noFill/>
          <a:ln/>
        </p:spPr>
        <p:txBody>
          <a:bodyPr wrap="square" rtlCol="0" anchor="ctr"/>
          <a:lstStyle/>
          <a:p>
            <a:pPr algn="l" indent="0" marL="0">
              <a:buNone/>
            </a:pPr>
            <a:r>
              <a:rPr lang="en-US" sz="4000" b="1" dirty="0">
                <a:solidFill>
                  <a:schemeClr val="bg1"/>
                </a:solidFill>
              </a:rPr>
              <a:t>The headline experiment</a:t>
            </a:r>
            <a:endParaRPr lang="en-US" sz="4000" dirty="0"/>
          </a:p>
        </p:txBody>
      </p:sp>
      <p:sp>
        <p:nvSpPr>
          <p:cNvPr id="4" name="Text 0"/>
          <p:cNvSpPr/>
          <p:nvPr>
            <p:ph idx="102" type="body" hasCustomPrompt="1"/>
          </p:nvPr>
        </p:nvSpPr>
        <p:spPr>
          <a:xfrm>
            <a:off x="731520" y="3794760"/>
            <a:ext cx="7315200" cy="1005840"/>
          </a:xfrm>
          <a:prstGeom prst="rect">
            <a:avLst/>
          </a:prstGeom>
          <a:noFill/>
          <a:ln/>
        </p:spPr>
        <p:txBody>
          <a:bodyPr wrap="square" rtlCol="0" anchor="t"/>
          <a:lstStyle/>
          <a:p>
            <a:pPr indent="0" marL="0">
              <a:buNone/>
            </a:pPr>
            <a:r>
              <a:rPr lang="en-US" sz="1800" dirty="0">
                <a:solidFill>
                  <a:schemeClr val="accent5"/>
                </a:solidFill>
              </a:rPr>
              <a:t>Build step 6: same optimiser, same scene, four objectives. Which plan does each one choose?</a:t>
            </a:r>
            <a:endParaRPr lang="en-US" sz="1800" dirty="0"/>
          </a:p>
        </p:txBody>
      </p:sp>
      <p:sp>
        <p:nvSpPr>
          <p:cNvPr id="5" name="section numeral"/>
          <p:cNvSpPr txBox="1"/>
          <p:nvPr/>
        </p:nvSpPr>
        <p:spPr>
          <a:xfrm>
            <a:off x="8503920" y="1280160"/>
            <a:ext cx="3108960" cy="3840480"/>
          </a:xfrm>
          <a:prstGeom prst="rect">
            <a:avLst/>
          </a:prstGeom>
          <a:noFill/>
          <a:ln/>
        </p:spPr>
        <p:txBody>
          <a:bodyPr wrap="square" lIns="0" tIns="0" rIns="0" bIns="0" rtlCol="0" anchor="ctr"/>
          <a:lstStyle/>
          <a:p>
            <a:pPr algn="r" indent="0" marL="0">
              <a:buNone/>
            </a:pPr>
            <a:r>
              <a:rPr lang="en-US" sz="24000" b="1" dirty="0">
                <a:solidFill>
                  <a:schemeClr val="accent1"/>
                </a:solidFill>
                <a:latin typeface="Cambria" pitchFamily="34" charset="0"/>
                <a:ea typeface="Cambria" pitchFamily="34" charset="-122"/>
                <a:cs typeface="Cambria" pitchFamily="34" charset="-120"/>
              </a:rPr>
              <a:t>2</a:t>
            </a:r>
            <a:endParaRPr lang="en-US" sz="24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Scoring one candidate plan</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evaluate_plan() runs the whole chain once; every objective then reads the same result</a:t>
            </a:r>
            <a:endParaRPr lang="en-US" sz="1600" dirty="0"/>
          </a:p>
        </p:txBody>
      </p:sp>
      <p:sp>
        <p:nvSpPr>
          <p:cNvPr id="4" name="badge 6"/>
          <p:cNvSpPr txBox="1"/>
          <p:nvPr/>
        </p:nvSpPr>
        <p:spPr>
          <a:xfrm>
            <a:off x="10927080" y="292608"/>
            <a:ext cx="713232" cy="713232"/>
          </a:xfrm>
          <a:prstGeom prst="ellipse">
            <a:avLst/>
          </a:prstGeom>
          <a:solidFill>
            <a:schemeClr val="accent1"/>
          </a:solidFill>
          <a:ln/>
        </p:spPr>
        <p:txBody>
          <a:bodyPr wrap="square" lIns="0" tIns="0" rIns="0" bIns="0" rtlCol="0" anchor="ctr"/>
          <a:lstStyle/>
          <a:p>
            <a:pPr algn="ctr" indent="0" marL="0">
              <a:buNone/>
            </a:pPr>
            <a:r>
              <a:rPr lang="en-US" sz="2300" b="1" dirty="0">
                <a:solidFill>
                  <a:schemeClr val="bg1"/>
                </a:solidFill>
                <a:latin typeface="Cambria" pitchFamily="34" charset="0"/>
                <a:ea typeface="Cambria" pitchFamily="34" charset="-122"/>
                <a:cs typeface="Cambria" pitchFamily="34" charset="-120"/>
              </a:rPr>
              <a:t>6</a:t>
            </a:r>
            <a:endParaRPr lang="en-US" sz="2300" dirty="0"/>
          </a:p>
        </p:txBody>
      </p:sp>
      <p:sp>
        <p:nvSpPr>
          <p:cNvPr id="5" name="Text 3"/>
          <p:cNvSpPr txBox="1"/>
          <p:nvPr/>
        </p:nvSpPr>
        <p:spPr>
          <a:xfrm>
            <a:off x="10835640" y="1024128"/>
            <a:ext cx="896112" cy="228600"/>
          </a:xfrm>
          <a:prstGeom prst="rect">
            <a:avLst/>
          </a:prstGeom>
          <a:noFill/>
          <a:ln/>
        </p:spPr>
        <p:txBody>
          <a:bodyPr wrap="square" lIns="0" tIns="0" rIns="0" bIns="0" rtlCol="0" anchor="ctr"/>
          <a:lstStyle/>
          <a:p>
            <a:pPr algn="ctr" indent="0" marL="0">
              <a:buNone/>
            </a:pPr>
            <a:r>
              <a:rPr lang="en-US" sz="1000" b="1" dirty="0">
                <a:solidFill>
                  <a:schemeClr val="accent1"/>
                </a:solidFill>
              </a:rPr>
              <a:t>STEP</a:t>
            </a:r>
            <a:endParaRPr lang="en-US" sz="1000" dirty="0"/>
          </a:p>
        </p:txBody>
      </p:sp>
      <p:sp>
        <p:nvSpPr>
          <p:cNvPr id="6" name="Candidate stations + anchor"/>
          <p:cNvSpPr txBox="1"/>
          <p:nvPr/>
        </p:nvSpPr>
        <p:spPr>
          <a:xfrm>
            <a:off x="548640" y="1645920"/>
            <a:ext cx="2057400" cy="914400"/>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300" b="1" dirty="0">
                <a:solidFill>
                  <a:schemeClr val="tx1"/>
                </a:solidFill>
              </a:rPr>
              <a:t>Candidate stations + anchor</a:t>
            </a:r>
            <a:endParaRPr lang="en-US" sz="1300" dirty="0"/>
          </a:p>
          <a:p>
            <a:pPr algn="ctr" indent="0" marL="0">
              <a:buNone/>
            </a:pPr>
            <a:r>
              <a:rPr lang="en-US" sz="1150" dirty="0">
                <a:solidFill>
                  <a:schemeClr val="tx2"/>
                </a:solidFill>
              </a:rPr>
              <a:t>poses proposed by the search; anchor always included</a:t>
            </a:r>
            <a:endParaRPr lang="en-US" sz="1300" dirty="0"/>
          </a:p>
        </p:txBody>
      </p:sp>
      <p:sp>
        <p:nvSpPr>
          <p:cNvPr id="7" name="exact_observations"/>
          <p:cNvSpPr txBox="1"/>
          <p:nvPr/>
        </p:nvSpPr>
        <p:spPr>
          <a:xfrm>
            <a:off x="2926080" y="1645920"/>
            <a:ext cx="2240280" cy="914400"/>
          </a:xfrm>
          <a:prstGeom prst="roundRect">
            <a:avLst>
              <a:gd name="adj" fmla="val 8000"/>
            </a:avLst>
          </a:prstGeom>
          <a:solidFill>
            <a:schemeClr val="accent1"/>
          </a:solidFill>
          <a:ln/>
        </p:spPr>
        <p:txBody>
          <a:bodyPr wrap="square" lIns="63500" tIns="63500" rIns="63500" bIns="63500" rtlCol="0" anchor="ctr"/>
          <a:lstStyle/>
          <a:p>
            <a:pPr algn="ctr" indent="0" marL="0">
              <a:buNone/>
            </a:pPr>
            <a:r>
              <a:rPr lang="en-US" sz="1150" b="1" dirty="0">
                <a:solidFill>
                  <a:schemeClr val="bg1"/>
                </a:solidFill>
                <a:latin typeface="Courier New" pitchFamily="34" charset="0"/>
                <a:ea typeface="Courier New" pitchFamily="34" charset="-122"/>
                <a:cs typeface="Courier New" pitchFamily="34" charset="-120"/>
              </a:rPr>
              <a:t>exact_observations</a:t>
            </a:r>
            <a:endParaRPr lang="en-US" sz="1150" dirty="0"/>
          </a:p>
          <a:p>
            <a:pPr algn="ctr" indent="0" marL="0">
              <a:buNone/>
            </a:pPr>
            <a:r>
              <a:rPr lang="en-US" sz="1150" dirty="0">
                <a:solidFill>
                  <a:schemeClr val="bg1"/>
                </a:solidFill>
              </a:rPr>
              <a:t>noiseless (d, θ, φ) for every station–target pair</a:t>
            </a:r>
            <a:endParaRPr lang="en-US" sz="1150" dirty="0"/>
          </a:p>
        </p:txBody>
      </p:sp>
      <p:sp>
        <p:nvSpPr>
          <p:cNvPr id="8" name="_visible_observations"/>
          <p:cNvSpPr txBox="1"/>
          <p:nvPr/>
        </p:nvSpPr>
        <p:spPr>
          <a:xfrm>
            <a:off x="5486400" y="1645920"/>
            <a:ext cx="2240280" cy="914400"/>
          </a:xfrm>
          <a:prstGeom prst="roundRect">
            <a:avLst>
              <a:gd name="adj" fmla="val 8000"/>
            </a:avLst>
          </a:prstGeom>
          <a:solidFill>
            <a:schemeClr val="accent1"/>
          </a:solidFill>
          <a:ln/>
        </p:spPr>
        <p:txBody>
          <a:bodyPr wrap="square" lIns="63500" tIns="63500" rIns="63500" bIns="63500" rtlCol="0" anchor="ctr"/>
          <a:lstStyle/>
          <a:p>
            <a:pPr algn="ctr" indent="0" marL="0">
              <a:buNone/>
            </a:pPr>
            <a:r>
              <a:rPr lang="en-US" sz="1150" b="1" dirty="0">
                <a:solidFill>
                  <a:schemeClr val="bg1"/>
                </a:solidFill>
                <a:latin typeface="Courier New" pitchFamily="34" charset="0"/>
                <a:ea typeface="Courier New" pitchFamily="34" charset="-122"/>
                <a:cs typeface="Courier New" pitchFamily="34" charset="-120"/>
              </a:rPr>
              <a:t>_visible_observations</a:t>
            </a:r>
            <a:endParaRPr lang="en-US" sz="1150" dirty="0"/>
          </a:p>
          <a:p>
            <a:pPr algn="ctr" indent="0" marL="0">
              <a:buNone/>
            </a:pPr>
            <a:r>
              <a:rPr lang="en-US" sz="1150" dirty="0">
                <a:solidFill>
                  <a:schemeClr val="bg1"/>
                </a:solidFill>
              </a:rPr>
              <a:t>the step 2 check, applied to every pair</a:t>
            </a:r>
            <a:endParaRPr lang="en-US" sz="1150" dirty="0"/>
          </a:p>
        </p:txBody>
      </p:sp>
      <p:sp>
        <p:nvSpPr>
          <p:cNvPr id="9" name="decision: every target seen? each station ≥ 3?"/>
          <p:cNvSpPr txBox="1"/>
          <p:nvPr/>
        </p:nvSpPr>
        <p:spPr>
          <a:xfrm>
            <a:off x="8046720" y="1444752"/>
            <a:ext cx="2011680" cy="1316736"/>
          </a:xfrm>
          <a:prstGeom prst="flowChartDecision">
            <a:avLst/>
          </a:prstGeom>
          <a:solidFill>
            <a:schemeClr val="bg1"/>
          </a:solidFill>
          <a:ln w="22225">
            <a:solidFill>
              <a:schemeClr val="accent3"/>
            </a:solidFill>
          </a:ln>
        </p:spPr>
        <p:txBody>
          <a:bodyPr wrap="square" lIns="25400" tIns="25400" rIns="25400" bIns="25400" rtlCol="0" anchor="ctr"/>
          <a:lstStyle/>
          <a:p>
            <a:pPr algn="ctr" indent="0" marL="0">
              <a:buNone/>
            </a:pPr>
            <a:r>
              <a:rPr lang="en-US" sz="1150" b="1" dirty="0">
                <a:solidFill>
                  <a:schemeClr val="tx1"/>
                </a:solidFill>
              </a:rPr>
              <a:t>every target seen? each station ≥ 3?</a:t>
            </a:r>
            <a:endParaRPr lang="en-US" sz="1150" dirty="0"/>
          </a:p>
        </p:txBody>
      </p:sp>
      <p:sp>
        <p:nvSpPr>
          <p:cNvPr id="10" name="return None"/>
          <p:cNvSpPr txBox="1"/>
          <p:nvPr/>
        </p:nvSpPr>
        <p:spPr>
          <a:xfrm>
            <a:off x="10378440" y="1719072"/>
            <a:ext cx="1261872" cy="768096"/>
          </a:xfrm>
          <a:prstGeom prst="roundRect">
            <a:avLst>
              <a:gd name="adj" fmla="val 9524"/>
            </a:avLst>
          </a:prstGeom>
          <a:solidFill>
            <a:schemeClr val="accent3"/>
          </a:solidFill>
          <a:ln/>
        </p:spPr>
        <p:txBody>
          <a:bodyPr wrap="square" lIns="63500" tIns="63500" rIns="63500" bIns="6350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return None</a:t>
            </a:r>
            <a:endParaRPr lang="en-US" sz="1200" dirty="0"/>
          </a:p>
          <a:p>
            <a:pPr algn="ctr" indent="0" marL="0">
              <a:buNone/>
            </a:pPr>
            <a:r>
              <a:rPr lang="en-US" sz="1100" dirty="0">
                <a:solidFill>
                  <a:schemeClr val="bg1"/>
                </a:solidFill>
              </a:rPr>
              <a:t>plan disqualified</a:t>
            </a:r>
            <a:endParaRPr lang="en-US" sz="1200" dirty="0"/>
          </a:p>
        </p:txBody>
      </p:sp>
      <p:sp>
        <p:nvSpPr>
          <p:cNvPr id="11" name="Shape 9"/>
          <p:cNvSpPr/>
          <p:nvPr/>
        </p:nvSpPr>
        <p:spPr>
          <a:xfrm>
            <a:off x="2606040" y="2103120"/>
            <a:ext cx="320040" cy="0"/>
          </a:xfrm>
          <a:prstGeom prst="line">
            <a:avLst/>
          </a:prstGeom>
          <a:noFill/>
          <a:ln w="19050">
            <a:solidFill>
              <a:schemeClr val="accent4"/>
            </a:solidFill>
            <a:prstDash val="solid"/>
            <a:tailEnd type="triangle"/>
          </a:ln>
        </p:spPr>
      </p:sp>
      <p:sp>
        <p:nvSpPr>
          <p:cNvPr id="12" name="Shape 10"/>
          <p:cNvSpPr/>
          <p:nvPr/>
        </p:nvSpPr>
        <p:spPr>
          <a:xfrm>
            <a:off x="5166360" y="2103120"/>
            <a:ext cx="320040" cy="0"/>
          </a:xfrm>
          <a:prstGeom prst="line">
            <a:avLst/>
          </a:prstGeom>
          <a:noFill/>
          <a:ln w="19050">
            <a:solidFill>
              <a:schemeClr val="accent4"/>
            </a:solidFill>
            <a:prstDash val="solid"/>
            <a:tailEnd type="triangle"/>
          </a:ln>
        </p:spPr>
      </p:sp>
      <p:sp>
        <p:nvSpPr>
          <p:cNvPr id="13" name="Shape 11"/>
          <p:cNvSpPr/>
          <p:nvPr/>
        </p:nvSpPr>
        <p:spPr>
          <a:xfrm>
            <a:off x="7726680" y="2103120"/>
            <a:ext cx="320040" cy="0"/>
          </a:xfrm>
          <a:prstGeom prst="line">
            <a:avLst/>
          </a:prstGeom>
          <a:noFill/>
          <a:ln w="19050">
            <a:solidFill>
              <a:schemeClr val="accent4"/>
            </a:solidFill>
            <a:prstDash val="solid"/>
            <a:tailEnd type="triangle"/>
          </a:ln>
        </p:spPr>
      </p:sp>
      <p:sp>
        <p:nvSpPr>
          <p:cNvPr id="14" name="Shape 12"/>
          <p:cNvSpPr/>
          <p:nvPr/>
        </p:nvSpPr>
        <p:spPr>
          <a:xfrm>
            <a:off x="10058400" y="2103120"/>
            <a:ext cx="320040" cy="0"/>
          </a:xfrm>
          <a:prstGeom prst="line">
            <a:avLst/>
          </a:prstGeom>
          <a:noFill/>
          <a:ln w="19050">
            <a:solidFill>
              <a:schemeClr val="accent4"/>
            </a:solidFill>
            <a:prstDash val="solid"/>
            <a:tailEnd type="triangle"/>
          </a:ln>
        </p:spPr>
      </p:sp>
      <p:sp>
        <p:nvSpPr>
          <p:cNvPr id="15" name="Text 13"/>
          <p:cNvSpPr txBox="1"/>
          <p:nvPr/>
        </p:nvSpPr>
        <p:spPr>
          <a:xfrm>
            <a:off x="10058400" y="1810512"/>
            <a:ext cx="320040" cy="256032"/>
          </a:xfrm>
          <a:prstGeom prst="rect">
            <a:avLst/>
          </a:prstGeom>
          <a:noFill/>
          <a:ln/>
        </p:spPr>
        <p:txBody>
          <a:bodyPr wrap="square" lIns="0" tIns="0" rIns="0" bIns="0" rtlCol="0" anchor="ctr"/>
          <a:lstStyle/>
          <a:p>
            <a:pPr algn="ctr" indent="0" marL="0">
              <a:buNone/>
            </a:pPr>
            <a:r>
              <a:rPr lang="en-US" sz="1100" i="1" dirty="0">
                <a:solidFill>
                  <a:schemeClr val="tx2"/>
                </a:solidFill>
              </a:rPr>
              <a:t>no</a:t>
            </a:r>
            <a:endParaRPr lang="en-US" sz="1100" dirty="0"/>
          </a:p>
        </p:txBody>
      </p:sp>
      <p:sp>
        <p:nvSpPr>
          <p:cNvPr id="16" name="solve_network"/>
          <p:cNvSpPr txBox="1"/>
          <p:nvPr/>
        </p:nvSpPr>
        <p:spPr>
          <a:xfrm>
            <a:off x="7909560" y="3337560"/>
            <a:ext cx="2286000" cy="914400"/>
          </a:xfrm>
          <a:prstGeom prst="roundRect">
            <a:avLst>
              <a:gd name="adj" fmla="val 8000"/>
            </a:avLst>
          </a:prstGeom>
          <a:solidFill>
            <a:schemeClr val="accent1"/>
          </a:solidFill>
          <a:ln/>
        </p:spPr>
        <p:txBody>
          <a:bodyPr wrap="square" lIns="63500" tIns="63500" rIns="63500" bIns="635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solve_network</a:t>
            </a:r>
            <a:endParaRPr lang="en-US" sz="1300" dirty="0"/>
          </a:p>
          <a:p>
            <a:pPr algn="ctr" indent="0" marL="0">
              <a:buNone/>
            </a:pPr>
            <a:r>
              <a:rPr lang="en-US" sz="1150" dirty="0">
                <a:solidFill>
                  <a:schemeClr val="bg1"/>
                </a:solidFill>
              </a:rPr>
              <a:t>step 3: joint fit, Cov = (JᵀJ)⁺</a:t>
            </a:r>
            <a:endParaRPr lang="en-US" sz="1300" dirty="0"/>
          </a:p>
        </p:txBody>
      </p:sp>
      <p:sp>
        <p:nvSpPr>
          <p:cNvPr id="17" name="evaluate_characteristic"/>
          <p:cNvSpPr txBox="1"/>
          <p:nvPr/>
        </p:nvSpPr>
        <p:spPr>
          <a:xfrm>
            <a:off x="5257800" y="3337560"/>
            <a:ext cx="2286000" cy="914400"/>
          </a:xfrm>
          <a:prstGeom prst="roundRect">
            <a:avLst>
              <a:gd name="adj" fmla="val 8000"/>
            </a:avLst>
          </a:prstGeom>
          <a:solidFill>
            <a:schemeClr val="accent1"/>
          </a:solidFill>
          <a:ln/>
        </p:spPr>
        <p:txBody>
          <a:bodyPr wrap="square" lIns="63500" tIns="63500" rIns="63500" bIns="63500" rtlCol="0" anchor="ctr"/>
          <a:lstStyle/>
          <a:p>
            <a:pPr algn="ctr" indent="0" marL="0">
              <a:buNone/>
            </a:pPr>
            <a:r>
              <a:rPr lang="en-US" sz="1150" b="1" dirty="0">
                <a:solidFill>
                  <a:schemeClr val="bg1"/>
                </a:solidFill>
                <a:latin typeface="Courier New" pitchFamily="34" charset="0"/>
                <a:ea typeface="Courier New" pitchFamily="34" charset="-122"/>
                <a:cs typeface="Courier New" pitchFamily="34" charset="-120"/>
              </a:rPr>
              <a:t>evaluate_characteristic</a:t>
            </a:r>
            <a:endParaRPr lang="en-US" sz="1150" dirty="0"/>
          </a:p>
          <a:p>
            <a:pPr algn="ctr" indent="0" marL="0">
              <a:buNone/>
            </a:pPr>
            <a:r>
              <a:rPr lang="en-US" sz="1150" dirty="0">
                <a:solidFill>
                  <a:schemeClr val="bg1"/>
                </a:solidFill>
              </a:rPr>
              <a:t>step 4: project onto each tolerance</a:t>
            </a:r>
            <a:endParaRPr lang="en-US" sz="1150" dirty="0"/>
          </a:p>
        </p:txBody>
      </p:sp>
      <p:sp>
        <p:nvSpPr>
          <p:cNvPr id="18" name="PlanEvaluation"/>
          <p:cNvSpPr txBox="1"/>
          <p:nvPr/>
        </p:nvSpPr>
        <p:spPr>
          <a:xfrm>
            <a:off x="2606040" y="3337560"/>
            <a:ext cx="2286000" cy="914400"/>
          </a:xfrm>
          <a:prstGeom prst="roundRect">
            <a:avLst>
              <a:gd name="adj" fmla="val 8000"/>
            </a:avLst>
          </a:prstGeom>
          <a:solidFill>
            <a:schemeClr val="accent2"/>
          </a:solidFill>
          <a:ln/>
        </p:spPr>
        <p:txBody>
          <a:bodyPr wrap="square" lIns="63500" tIns="63500" rIns="63500" bIns="6350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PlanEvaluation</a:t>
            </a:r>
            <a:endParaRPr lang="en-US" sz="1300" dirty="0"/>
          </a:p>
          <a:p>
            <a:pPr algn="ctr" indent="0" marL="0">
              <a:buNone/>
            </a:pPr>
            <a:r>
              <a:rPr lang="en-US" sz="1150" dirty="0">
                <a:solidFill>
                  <a:schemeClr val="tx1"/>
                </a:solidFill>
              </a:rPr>
              <a:t>u per characteristic + full covariance</a:t>
            </a:r>
            <a:endParaRPr lang="en-US" sz="1300" dirty="0"/>
          </a:p>
        </p:txBody>
      </p:sp>
      <p:sp>
        <p:nvSpPr>
          <p:cNvPr id="19" name="objective_fn"/>
          <p:cNvSpPr txBox="1"/>
          <p:nvPr/>
        </p:nvSpPr>
        <p:spPr>
          <a:xfrm>
            <a:off x="548640" y="3337560"/>
            <a:ext cx="1737360" cy="914400"/>
          </a:xfrm>
          <a:prstGeom prst="roundRect">
            <a:avLst>
              <a:gd name="adj" fmla="val 8000"/>
            </a:avLst>
          </a:prstGeom>
          <a:solidFill>
            <a:schemeClr val="accent1"/>
          </a:solidFill>
          <a:ln/>
        </p:spPr>
        <p:txBody>
          <a:bodyPr wrap="square" lIns="63500" tIns="63500" rIns="63500" bIns="63500" rtlCol="0" anchor="ctr"/>
          <a:lstStyle/>
          <a:p>
            <a:pPr algn="ctr" indent="0" marL="0">
              <a:buNone/>
            </a:pPr>
            <a:r>
              <a:rPr lang="en-US" sz="1250" b="1" dirty="0">
                <a:solidFill>
                  <a:schemeClr val="bg1"/>
                </a:solidFill>
                <a:latin typeface="Courier New" pitchFamily="34" charset="0"/>
                <a:ea typeface="Courier New" pitchFamily="34" charset="-122"/>
                <a:cs typeface="Courier New" pitchFamily="34" charset="-120"/>
              </a:rPr>
              <a:t>objective_fn</a:t>
            </a:r>
            <a:endParaRPr lang="en-US" sz="1250" dirty="0"/>
          </a:p>
          <a:p>
            <a:pPr algn="ctr" indent="0" marL="0">
              <a:buNone/>
            </a:pPr>
            <a:r>
              <a:rPr lang="en-US" sz="1150" dirty="0">
                <a:solidFill>
                  <a:schemeClr val="bg1"/>
                </a:solidFill>
              </a:rPr>
              <a:t>A0 / A1 / B / C → one number</a:t>
            </a:r>
            <a:endParaRPr lang="en-US" sz="1250" dirty="0"/>
          </a:p>
        </p:txBody>
      </p:sp>
      <p:sp>
        <p:nvSpPr>
          <p:cNvPr id="20" name="Shape 18"/>
          <p:cNvSpPr/>
          <p:nvPr/>
        </p:nvSpPr>
        <p:spPr>
          <a:xfrm>
            <a:off x="9052560" y="2761488"/>
            <a:ext cx="0" cy="576072"/>
          </a:xfrm>
          <a:prstGeom prst="line">
            <a:avLst/>
          </a:prstGeom>
          <a:noFill/>
          <a:ln w="19050">
            <a:solidFill>
              <a:schemeClr val="accent4"/>
            </a:solidFill>
            <a:prstDash val="solid"/>
            <a:tailEnd type="triangle"/>
          </a:ln>
        </p:spPr>
      </p:sp>
      <p:sp>
        <p:nvSpPr>
          <p:cNvPr id="21" name="Text 19"/>
          <p:cNvSpPr txBox="1"/>
          <p:nvPr/>
        </p:nvSpPr>
        <p:spPr>
          <a:xfrm>
            <a:off x="9125712" y="2761488"/>
            <a:ext cx="457200" cy="576072"/>
          </a:xfrm>
          <a:prstGeom prst="rect">
            <a:avLst/>
          </a:prstGeom>
          <a:noFill/>
          <a:ln/>
        </p:spPr>
        <p:txBody>
          <a:bodyPr wrap="square" lIns="0" tIns="0" rIns="0" bIns="0" rtlCol="0" anchor="ctr"/>
          <a:lstStyle/>
          <a:p>
            <a:pPr algn="l" indent="0" marL="0">
              <a:buNone/>
            </a:pPr>
            <a:r>
              <a:rPr lang="en-US" sz="1100" i="1" dirty="0">
                <a:solidFill>
                  <a:schemeClr val="tx2"/>
                </a:solidFill>
              </a:rPr>
              <a:t>yes</a:t>
            </a:r>
            <a:endParaRPr lang="en-US" sz="1100" dirty="0"/>
          </a:p>
        </p:txBody>
      </p:sp>
      <p:sp>
        <p:nvSpPr>
          <p:cNvPr id="22" name="Shape 20"/>
          <p:cNvSpPr/>
          <p:nvPr/>
        </p:nvSpPr>
        <p:spPr>
          <a:xfrm flipH="1">
            <a:off x="7543800" y="3794760"/>
            <a:ext cx="365760" cy="0"/>
          </a:xfrm>
          <a:prstGeom prst="line">
            <a:avLst/>
          </a:prstGeom>
          <a:noFill/>
          <a:ln w="19050">
            <a:solidFill>
              <a:schemeClr val="accent4"/>
            </a:solidFill>
            <a:prstDash val="solid"/>
            <a:tailEnd type="triangle"/>
          </a:ln>
        </p:spPr>
      </p:sp>
      <p:sp>
        <p:nvSpPr>
          <p:cNvPr id="23" name="Shape 21"/>
          <p:cNvSpPr/>
          <p:nvPr/>
        </p:nvSpPr>
        <p:spPr>
          <a:xfrm flipH="1">
            <a:off x="4892040" y="3794760"/>
            <a:ext cx="365760" cy="0"/>
          </a:xfrm>
          <a:prstGeom prst="line">
            <a:avLst/>
          </a:prstGeom>
          <a:noFill/>
          <a:ln w="19050">
            <a:solidFill>
              <a:schemeClr val="accent4"/>
            </a:solidFill>
            <a:prstDash val="solid"/>
            <a:tailEnd type="triangle"/>
          </a:ln>
        </p:spPr>
      </p:sp>
      <p:sp>
        <p:nvSpPr>
          <p:cNvPr id="24" name="Shape 22"/>
          <p:cNvSpPr/>
          <p:nvPr/>
        </p:nvSpPr>
        <p:spPr>
          <a:xfrm flipH="1">
            <a:off x="2286000" y="3794760"/>
            <a:ext cx="320040" cy="0"/>
          </a:xfrm>
          <a:prstGeom prst="line">
            <a:avLst/>
          </a:prstGeom>
          <a:noFill/>
          <a:ln w="19050">
            <a:solidFill>
              <a:schemeClr val="accent4"/>
            </a:solidFill>
            <a:prstDash val="solid"/>
            <a:tailEnd type="triangle"/>
          </a:ln>
        </p:spPr>
      </p:sp>
      <p:sp>
        <p:nvSpPr>
          <p:cNvPr id="25" name="WHY NOISELESS? callout"/>
          <p:cNvSpPr txBox="1"/>
          <p:nvPr/>
        </p:nvSpPr>
        <p:spPr>
          <a:xfrm>
            <a:off x="548640" y="4617720"/>
            <a:ext cx="5440680" cy="1051560"/>
          </a:xfrm>
          <a:prstGeom prst="roundRect">
            <a:avLst>
              <a:gd name="adj" fmla="val 6957"/>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200" b="1" dirty="0">
                <a:solidFill>
                  <a:schemeClr val="accent1"/>
                </a:solidFill>
              </a:rPr>
              <a:t>WHY NOISELESS?   </a:t>
            </a:r>
            <a:pPr algn="l" indent="0" marL="0">
              <a:buNone/>
            </a:pPr>
            <a:r>
              <a:rPr lang="en-US" sz="1200" dirty="0">
                <a:solidFill>
                  <a:schemeClr val="tx1"/>
                </a:solidFill>
              </a:rPr>
              <a:t>For this linear-Gaussian model, the covariance from exact observations equals a real noisy solve's (pinned by a test). Every plan is scored deterministically, with no random numbers.</a:t>
            </a:r>
            <a:endParaRPr lang="en-US" sz="1200" dirty="0"/>
          </a:p>
        </p:txBody>
      </p:sp>
      <p:sp>
        <p:nvSpPr>
          <p:cNvPr id="26" name="WHY DISQUALIFY? callout"/>
          <p:cNvSpPr txBox="1"/>
          <p:nvPr/>
        </p:nvSpPr>
        <p:spPr>
          <a:xfrm>
            <a:off x="6199632" y="4617720"/>
            <a:ext cx="5440680" cy="1051560"/>
          </a:xfrm>
          <a:prstGeom prst="roundRect">
            <a:avLst>
              <a:gd name="adj" fmla="val 6957"/>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200" b="1" dirty="0">
                <a:solidFill>
                  <a:schemeClr val="accent3"/>
                </a:solidFill>
              </a:rPr>
              <a:t>WHY DISQUALIFY?   </a:t>
            </a:r>
            <a:pPr algn="l" indent="0" marL="0">
              <a:buNone/>
            </a:pPr>
            <a:r>
              <a:rPr lang="en-US" sz="1200" dirty="0">
                <a:solidFill>
                  <a:schemeClr val="tx1"/>
                </a:solidFill>
              </a:rPr>
              <a:t>If a target has no observations, the pseudo-inverse assigns it zero variance, so it would look perfectly measured. Refusing to solve is the only honest answer.</a:t>
            </a:r>
            <a:endParaRPr lang="en-US" sz="1200" dirty="0"/>
          </a:p>
        </p:txBody>
      </p:sp>
      <p:sp>
        <p:nvSpPr>
          <p:cNvPr id="27" name="Shape 25"/>
          <p:cNvSpPr/>
          <p:nvPr/>
        </p:nvSpPr>
        <p:spPr>
          <a:xfrm>
            <a:off x="548640" y="6080760"/>
            <a:ext cx="256032" cy="164592"/>
          </a:xfrm>
          <a:prstGeom prst="roundRect">
            <a:avLst>
              <a:gd name="adj" fmla="val 22222"/>
            </a:avLst>
          </a:prstGeom>
          <a:solidFill>
            <a:schemeClr val="accent1"/>
          </a:solidFill>
          <a:ln/>
        </p:spPr>
      </p:sp>
      <p:sp>
        <p:nvSpPr>
          <p:cNvPr id="28" name="Text 26"/>
          <p:cNvSpPr txBox="1"/>
          <p:nvPr/>
        </p:nvSpPr>
        <p:spPr>
          <a:xfrm>
            <a:off x="877824"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function in src/ or viz/</a:t>
            </a:r>
            <a:endParaRPr lang="en-US" sz="1050" dirty="0"/>
          </a:p>
        </p:txBody>
      </p:sp>
      <p:sp>
        <p:nvSpPr>
          <p:cNvPr id="29" name="Shape 27"/>
          <p:cNvSpPr/>
          <p:nvPr/>
        </p:nvSpPr>
        <p:spPr>
          <a:xfrm>
            <a:off x="3264408" y="6080760"/>
            <a:ext cx="256032" cy="164592"/>
          </a:xfrm>
          <a:prstGeom prst="rect">
            <a:avLst/>
          </a:prstGeom>
          <a:solidFill>
            <a:schemeClr val="bg2"/>
          </a:solidFill>
          <a:ln w="9525">
            <a:solidFill>
              <a:schemeClr val="accent4"/>
            </a:solidFill>
            <a:prstDash val="solid"/>
          </a:ln>
        </p:spPr>
      </p:sp>
      <p:sp>
        <p:nvSpPr>
          <p:cNvPr id="30" name="Text 28"/>
          <p:cNvSpPr txBox="1"/>
          <p:nvPr/>
        </p:nvSpPr>
        <p:spPr>
          <a:xfrm>
            <a:off x="3593592"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input / data object</a:t>
            </a:r>
            <a:endParaRPr lang="en-US" sz="1050" dirty="0"/>
          </a:p>
        </p:txBody>
      </p:sp>
      <p:sp>
        <p:nvSpPr>
          <p:cNvPr id="31" name="Shape 29"/>
          <p:cNvSpPr/>
          <p:nvPr/>
        </p:nvSpPr>
        <p:spPr>
          <a:xfrm>
            <a:off x="5568696" y="6080760"/>
            <a:ext cx="256032" cy="164592"/>
          </a:xfrm>
          <a:prstGeom prst="roundRect">
            <a:avLst>
              <a:gd name="adj" fmla="val 22222"/>
            </a:avLst>
          </a:prstGeom>
          <a:solidFill>
            <a:schemeClr val="accent2"/>
          </a:solidFill>
          <a:ln/>
        </p:spPr>
      </p:sp>
      <p:sp>
        <p:nvSpPr>
          <p:cNvPr id="32" name="Text 30"/>
          <p:cNvSpPr txBox="1"/>
          <p:nvPr/>
        </p:nvSpPr>
        <p:spPr>
          <a:xfrm>
            <a:off x="5897880"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output / figure</a:t>
            </a:r>
            <a:endParaRPr lang="en-US" sz="1050" dirty="0"/>
          </a:p>
        </p:txBody>
      </p:sp>
      <p:sp>
        <p:nvSpPr>
          <p:cNvPr id="33" name="Shape 31"/>
          <p:cNvSpPr/>
          <p:nvPr/>
        </p:nvSpPr>
        <p:spPr>
          <a:xfrm>
            <a:off x="7543800" y="6080760"/>
            <a:ext cx="256032" cy="164592"/>
          </a:xfrm>
          <a:prstGeom prst="roundRect">
            <a:avLst>
              <a:gd name="adj" fmla="val 22222"/>
            </a:avLst>
          </a:prstGeom>
          <a:solidFill>
            <a:schemeClr val="accent3"/>
          </a:solidFill>
          <a:ln/>
        </p:spPr>
      </p:sp>
      <p:sp>
        <p:nvSpPr>
          <p:cNvPr id="34" name="Text 32"/>
          <p:cNvSpPr txBox="1"/>
          <p:nvPr/>
        </p:nvSpPr>
        <p:spPr>
          <a:xfrm>
            <a:off x="7872984"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check or rejection</a:t>
            </a:r>
            <a:endParaRPr lang="en-US" sz="10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Four objectives, one evaluation</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The search method is held fixed; only the scoring rule changes (CLAUDE.md §1, §3)</a:t>
            </a:r>
            <a:endParaRPr lang="en-US" sz="1600" dirty="0"/>
          </a:p>
        </p:txBody>
      </p:sp>
      <p:sp>
        <p:nvSpPr>
          <p:cNvPr id="4" name="badge 6"/>
          <p:cNvSpPr txBox="1"/>
          <p:nvPr/>
        </p:nvSpPr>
        <p:spPr>
          <a:xfrm>
            <a:off x="10927080" y="292608"/>
            <a:ext cx="713232" cy="713232"/>
          </a:xfrm>
          <a:prstGeom prst="ellipse">
            <a:avLst/>
          </a:prstGeom>
          <a:solidFill>
            <a:schemeClr val="accent1"/>
          </a:solidFill>
          <a:ln/>
        </p:spPr>
        <p:txBody>
          <a:bodyPr wrap="square" lIns="0" tIns="0" rIns="0" bIns="0" rtlCol="0" anchor="ctr"/>
          <a:lstStyle/>
          <a:p>
            <a:pPr algn="ctr" indent="0" marL="0">
              <a:buNone/>
            </a:pPr>
            <a:r>
              <a:rPr lang="en-US" sz="2300" b="1" dirty="0">
                <a:solidFill>
                  <a:schemeClr val="bg1"/>
                </a:solidFill>
                <a:latin typeface="Cambria" pitchFamily="34" charset="0"/>
                <a:ea typeface="Cambria" pitchFamily="34" charset="-122"/>
                <a:cs typeface="Cambria" pitchFamily="34" charset="-120"/>
              </a:rPr>
              <a:t>6</a:t>
            </a:r>
            <a:endParaRPr lang="en-US" sz="2300" dirty="0"/>
          </a:p>
        </p:txBody>
      </p:sp>
      <p:sp>
        <p:nvSpPr>
          <p:cNvPr id="5" name="Text 3"/>
          <p:cNvSpPr txBox="1"/>
          <p:nvPr/>
        </p:nvSpPr>
        <p:spPr>
          <a:xfrm>
            <a:off x="10835640" y="1024128"/>
            <a:ext cx="896112" cy="228600"/>
          </a:xfrm>
          <a:prstGeom prst="rect">
            <a:avLst/>
          </a:prstGeom>
          <a:noFill/>
          <a:ln/>
        </p:spPr>
        <p:txBody>
          <a:bodyPr wrap="square" lIns="0" tIns="0" rIns="0" bIns="0" rtlCol="0" anchor="ctr"/>
          <a:lstStyle/>
          <a:p>
            <a:pPr algn="ctr" indent="0" marL="0">
              <a:buNone/>
            </a:pPr>
            <a:r>
              <a:rPr lang="en-US" sz="1000" b="1" dirty="0">
                <a:solidFill>
                  <a:schemeClr val="accent1"/>
                </a:solidFill>
              </a:rPr>
              <a:t>STEP</a:t>
            </a:r>
            <a:endParaRPr lang="en-US" sz="1000" dirty="0"/>
          </a:p>
        </p:txBody>
      </p:sp>
      <p:sp>
        <p:nvSpPr>
          <p:cNvPr id="6" name="PlanEvaluation"/>
          <p:cNvSpPr txBox="1"/>
          <p:nvPr/>
        </p:nvSpPr>
        <p:spPr>
          <a:xfrm>
            <a:off x="548640" y="3200400"/>
            <a:ext cx="1828800" cy="914400"/>
          </a:xfrm>
          <a:prstGeom prst="roundRect">
            <a:avLst>
              <a:gd name="adj" fmla="val 8000"/>
            </a:avLst>
          </a:prstGeom>
          <a:solidFill>
            <a:schemeClr val="accent2"/>
          </a:solidFill>
          <a:ln/>
        </p:spPr>
        <p:txBody>
          <a:bodyPr wrap="square" lIns="63500" tIns="63500" rIns="63500" bIns="63500" rtlCol="0" anchor="ctr"/>
          <a:lstStyle/>
          <a:p>
            <a:pPr algn="ctr" indent="0" marL="0">
              <a:buNone/>
            </a:pPr>
            <a:r>
              <a:rPr lang="en-US" sz="1250" b="1" dirty="0">
                <a:solidFill>
                  <a:schemeClr val="tx1"/>
                </a:solidFill>
                <a:latin typeface="Courier New" pitchFamily="34" charset="0"/>
                <a:ea typeface="Courier New" pitchFamily="34" charset="-122"/>
                <a:cs typeface="Courier New" pitchFamily="34" charset="-120"/>
              </a:rPr>
              <a:t>PlanEvaluation</a:t>
            </a:r>
            <a:endParaRPr lang="en-US" sz="1250" dirty="0"/>
          </a:p>
          <a:p>
            <a:pPr algn="ctr" indent="0" marL="0">
              <a:buNone/>
            </a:pPr>
            <a:r>
              <a:rPr lang="en-US" sz="1150" dirty="0">
                <a:solidFill>
                  <a:schemeClr val="tx1"/>
                </a:solidFill>
              </a:rPr>
              <a:t>from the previous slide</a:t>
            </a:r>
            <a:endParaRPr lang="en-US" sz="1250" dirty="0"/>
          </a:p>
        </p:txBody>
      </p:sp>
      <p:sp>
        <p:nvSpPr>
          <p:cNvPr id="7" name="Shape 5"/>
          <p:cNvSpPr/>
          <p:nvPr/>
        </p:nvSpPr>
        <p:spPr>
          <a:xfrm>
            <a:off x="2377440" y="3657600"/>
            <a:ext cx="320040" cy="0"/>
          </a:xfrm>
          <a:prstGeom prst="line">
            <a:avLst/>
          </a:prstGeom>
          <a:noFill/>
          <a:ln w="19050">
            <a:solidFill>
              <a:schemeClr val="accent4"/>
            </a:solidFill>
            <a:prstDash val="solid"/>
          </a:ln>
        </p:spPr>
      </p:sp>
      <p:sp>
        <p:nvSpPr>
          <p:cNvPr id="8" name="Shape 6"/>
          <p:cNvSpPr/>
          <p:nvPr/>
        </p:nvSpPr>
        <p:spPr>
          <a:xfrm>
            <a:off x="2697480" y="2057400"/>
            <a:ext cx="0" cy="3291840"/>
          </a:xfrm>
          <a:prstGeom prst="line">
            <a:avLst/>
          </a:prstGeom>
          <a:noFill/>
          <a:ln w="19050">
            <a:solidFill>
              <a:schemeClr val="accent4"/>
            </a:solidFill>
            <a:prstDash val="solid"/>
          </a:ln>
        </p:spPr>
      </p:sp>
      <p:sp>
        <p:nvSpPr>
          <p:cNvPr id="9" name="objective A0"/>
          <p:cNvSpPr/>
          <p:nvPr/>
        </p:nvSpPr>
        <p:spPr>
          <a:xfrm>
            <a:off x="2971800" y="1600200"/>
            <a:ext cx="8668512" cy="914400"/>
          </a:xfrm>
          <a:prstGeom prst="roundRect">
            <a:avLst>
              <a:gd name="adj" fmla="val 8000"/>
            </a:avLst>
          </a:prstGeom>
          <a:solidFill>
            <a:schemeClr val="bg2"/>
          </a:solidFill>
          <a:ln/>
        </p:spPr>
      </p:sp>
      <p:sp>
        <p:nvSpPr>
          <p:cNvPr id="10" name="Shape 8"/>
          <p:cNvSpPr/>
          <p:nvPr/>
        </p:nvSpPr>
        <p:spPr>
          <a:xfrm>
            <a:off x="2697480" y="2057400"/>
            <a:ext cx="274320" cy="0"/>
          </a:xfrm>
          <a:prstGeom prst="line">
            <a:avLst/>
          </a:prstGeom>
          <a:noFill/>
          <a:ln w="19050">
            <a:solidFill>
              <a:schemeClr val="accent4"/>
            </a:solidFill>
            <a:prstDash val="solid"/>
            <a:tailEnd type="triangle"/>
          </a:ln>
        </p:spPr>
      </p:sp>
      <p:sp>
        <p:nvSpPr>
          <p:cNvPr id="11" name="badge A0"/>
          <p:cNvSpPr txBox="1"/>
          <p:nvPr/>
        </p:nvSpPr>
        <p:spPr>
          <a:xfrm>
            <a:off x="3136392" y="1773936"/>
            <a:ext cx="566928" cy="566928"/>
          </a:xfrm>
          <a:prstGeom prst="ellipse">
            <a:avLst/>
          </a:prstGeom>
          <a:solidFill>
            <a:schemeClr val="accent4"/>
          </a:solidFill>
          <a:ln/>
        </p:spPr>
        <p:txBody>
          <a:bodyPr wrap="square" lIns="0" tIns="0" rIns="0" bIns="0" rtlCol="0" anchor="ctr"/>
          <a:lstStyle/>
          <a:p>
            <a:pPr algn="ctr" indent="0" marL="0">
              <a:buNone/>
            </a:pPr>
            <a:r>
              <a:rPr lang="en-US" sz="1900" b="1" dirty="0">
                <a:solidFill>
                  <a:schemeClr val="bg1"/>
                </a:solidFill>
                <a:latin typeface="Cambria" pitchFamily="34" charset="0"/>
                <a:ea typeface="Cambria" pitchFamily="34" charset="-122"/>
                <a:cs typeface="Cambria" pitchFamily="34" charset="-120"/>
              </a:rPr>
              <a:t>A0</a:t>
            </a:r>
            <a:endParaRPr lang="en-US" sz="1900" dirty="0"/>
          </a:p>
        </p:txBody>
      </p:sp>
      <p:sp>
        <p:nvSpPr>
          <p:cNvPr id="12" name="Text 10"/>
          <p:cNvSpPr txBox="1"/>
          <p:nvPr/>
        </p:nvSpPr>
        <p:spPr>
          <a:xfrm>
            <a:off x="3867912" y="1691640"/>
            <a:ext cx="4297680" cy="347472"/>
          </a:xfrm>
          <a:prstGeom prst="rect">
            <a:avLst/>
          </a:prstGeom>
          <a:noFill/>
          <a:ln/>
        </p:spPr>
        <p:txBody>
          <a:bodyPr wrap="square" lIns="0" tIns="0" rIns="0" bIns="0" rtlCol="0" anchor="ctr"/>
          <a:lstStyle/>
          <a:p>
            <a:pPr indent="0" marL="0">
              <a:buNone/>
            </a:pPr>
            <a:r>
              <a:rPr lang="en-US" sz="1250" b="1" dirty="0">
                <a:solidFill>
                  <a:schemeClr val="tx1"/>
                </a:solidFill>
                <a:latin typeface="Courier New" pitchFamily="34" charset="0"/>
                <a:ea typeface="Courier New" pitchFamily="34" charset="-122"/>
                <a:cs typeface="Courier New" pitchFamily="34" charset="-120"/>
              </a:rPr>
              <a:t>objective_a0_trace_covariance</a:t>
            </a:r>
            <a:endParaRPr lang="en-US" sz="1250" dirty="0"/>
          </a:p>
        </p:txBody>
      </p:sp>
      <p:sp>
        <p:nvSpPr>
          <p:cNvPr id="13" name="Text 11"/>
          <p:cNvSpPr txBox="1"/>
          <p:nvPr/>
        </p:nvSpPr>
        <p:spPr>
          <a:xfrm>
            <a:off x="3867912" y="2057400"/>
            <a:ext cx="4297680" cy="365760"/>
          </a:xfrm>
          <a:prstGeom prst="rect">
            <a:avLst/>
          </a:prstGeom>
          <a:noFill/>
          <a:ln/>
        </p:spPr>
        <p:txBody>
          <a:bodyPr wrap="square" lIns="0" tIns="0" rIns="0" bIns="0" rtlCol="0" anchor="ctr"/>
          <a:lstStyle/>
          <a:p>
            <a:pPr indent="0" marL="0">
              <a:buNone/>
            </a:pPr>
            <a:r>
              <a:rPr lang="en-US" sz="1300" b="1" dirty="0">
                <a:solidFill>
                  <a:schemeClr val="accent1"/>
                </a:solidFill>
              </a:rPr>
              <a:t>Σ trace(Σ) over the toleranced points</a:t>
            </a:r>
            <a:endParaRPr lang="en-US" sz="1300" dirty="0"/>
          </a:p>
        </p:txBody>
      </p:sp>
      <p:sp>
        <p:nvSpPr>
          <p:cNvPr id="14" name="Text 12"/>
          <p:cNvSpPr txBox="1"/>
          <p:nvPr/>
        </p:nvSpPr>
        <p:spPr>
          <a:xfrm>
            <a:off x="8321040" y="1673352"/>
            <a:ext cx="3136392" cy="768096"/>
          </a:xfrm>
          <a:prstGeom prst="rect">
            <a:avLst/>
          </a:prstGeom>
          <a:noFill/>
          <a:ln/>
        </p:spPr>
        <p:txBody>
          <a:bodyPr wrap="square" lIns="0" tIns="0" rIns="0" bIns="0" rtlCol="0" anchor="ctr"/>
          <a:lstStyle/>
          <a:p>
            <a:pPr indent="0" marL="0">
              <a:buNone/>
            </a:pPr>
            <a:r>
              <a:rPr lang="en-US" sz="1250" dirty="0">
                <a:solidFill>
                  <a:schemeClr val="tx2"/>
                </a:solidFill>
              </a:rPr>
              <a:t>The field's own A-optimal criterion. Blind to tolerance direction.</a:t>
            </a:r>
            <a:endParaRPr lang="en-US" sz="1250" dirty="0"/>
          </a:p>
        </p:txBody>
      </p:sp>
      <p:sp>
        <p:nvSpPr>
          <p:cNvPr id="15" name="objective A1"/>
          <p:cNvSpPr/>
          <p:nvPr/>
        </p:nvSpPr>
        <p:spPr>
          <a:xfrm>
            <a:off x="2971800" y="2697480"/>
            <a:ext cx="8668512" cy="914400"/>
          </a:xfrm>
          <a:prstGeom prst="roundRect">
            <a:avLst>
              <a:gd name="adj" fmla="val 8000"/>
            </a:avLst>
          </a:prstGeom>
          <a:solidFill>
            <a:schemeClr val="bg2"/>
          </a:solidFill>
          <a:ln/>
        </p:spPr>
      </p:sp>
      <p:sp>
        <p:nvSpPr>
          <p:cNvPr id="16" name="Shape 14"/>
          <p:cNvSpPr/>
          <p:nvPr/>
        </p:nvSpPr>
        <p:spPr>
          <a:xfrm>
            <a:off x="2697480" y="3154680"/>
            <a:ext cx="274320" cy="0"/>
          </a:xfrm>
          <a:prstGeom prst="line">
            <a:avLst/>
          </a:prstGeom>
          <a:noFill/>
          <a:ln w="19050">
            <a:solidFill>
              <a:schemeClr val="accent4"/>
            </a:solidFill>
            <a:prstDash val="solid"/>
            <a:tailEnd type="triangle"/>
          </a:ln>
        </p:spPr>
      </p:sp>
      <p:sp>
        <p:nvSpPr>
          <p:cNvPr id="17" name="badge A1"/>
          <p:cNvSpPr txBox="1"/>
          <p:nvPr/>
        </p:nvSpPr>
        <p:spPr>
          <a:xfrm>
            <a:off x="3136392" y="2871216"/>
            <a:ext cx="566928" cy="566928"/>
          </a:xfrm>
          <a:prstGeom prst="ellipse">
            <a:avLst/>
          </a:prstGeom>
          <a:solidFill>
            <a:schemeClr val="tx2"/>
          </a:solidFill>
          <a:ln/>
        </p:spPr>
        <p:txBody>
          <a:bodyPr wrap="square" lIns="0" tIns="0" rIns="0" bIns="0" rtlCol="0" anchor="ctr"/>
          <a:lstStyle/>
          <a:p>
            <a:pPr algn="ctr" indent="0" marL="0">
              <a:buNone/>
            </a:pPr>
            <a:r>
              <a:rPr lang="en-US" sz="1900" b="1" dirty="0">
                <a:solidFill>
                  <a:schemeClr val="bg1"/>
                </a:solidFill>
                <a:latin typeface="Cambria" pitchFamily="34" charset="0"/>
                <a:ea typeface="Cambria" pitchFamily="34" charset="-122"/>
                <a:cs typeface="Cambria" pitchFamily="34" charset="-120"/>
              </a:rPr>
              <a:t>A1</a:t>
            </a:r>
            <a:endParaRPr lang="en-US" sz="1900" dirty="0"/>
          </a:p>
        </p:txBody>
      </p:sp>
      <p:sp>
        <p:nvSpPr>
          <p:cNvPr id="18" name="Text 16"/>
          <p:cNvSpPr txBox="1"/>
          <p:nvPr/>
        </p:nvSpPr>
        <p:spPr>
          <a:xfrm>
            <a:off x="3867912" y="2788920"/>
            <a:ext cx="4297680" cy="347472"/>
          </a:xfrm>
          <a:prstGeom prst="rect">
            <a:avLst/>
          </a:prstGeom>
          <a:noFill/>
          <a:ln/>
        </p:spPr>
        <p:txBody>
          <a:bodyPr wrap="square" lIns="0" tIns="0" rIns="0" bIns="0" rtlCol="0" anchor="ctr"/>
          <a:lstStyle/>
          <a:p>
            <a:pPr indent="0" marL="0">
              <a:buNone/>
            </a:pPr>
            <a:r>
              <a:rPr lang="en-US" sz="1250" b="1" dirty="0">
                <a:solidFill>
                  <a:schemeClr val="tx1"/>
                </a:solidFill>
                <a:latin typeface="Courier New" pitchFamily="34" charset="0"/>
                <a:ea typeface="Courier New" pitchFamily="34" charset="-122"/>
                <a:cs typeface="Courier New" pitchFamily="34" charset="-120"/>
              </a:rPr>
              <a:t>make_weighted_uncertainty_objective</a:t>
            </a:r>
            <a:endParaRPr lang="en-US" sz="1250" dirty="0"/>
          </a:p>
        </p:txBody>
      </p:sp>
      <p:sp>
        <p:nvSpPr>
          <p:cNvPr id="19" name="Text 17"/>
          <p:cNvSpPr txBox="1"/>
          <p:nvPr/>
        </p:nvSpPr>
        <p:spPr>
          <a:xfrm>
            <a:off x="3867912" y="3154680"/>
            <a:ext cx="4297680" cy="365760"/>
          </a:xfrm>
          <a:prstGeom prst="rect">
            <a:avLst/>
          </a:prstGeom>
          <a:noFill/>
          <a:ln/>
        </p:spPr>
        <p:txBody>
          <a:bodyPr wrap="square" lIns="0" tIns="0" rIns="0" bIns="0" rtlCol="0" anchor="ctr"/>
          <a:lstStyle/>
          <a:p>
            <a:pPr indent="0" marL="0">
              <a:buNone/>
            </a:pPr>
            <a:r>
              <a:rPr lang="en-US" sz="1300" b="1" dirty="0">
                <a:solidFill>
                  <a:schemeClr val="accent1"/>
                </a:solidFill>
              </a:rPr>
              <a:t>uniform_weights  →  Σ u</a:t>
            </a:r>
            <a:endParaRPr lang="en-US" sz="1300" dirty="0"/>
          </a:p>
        </p:txBody>
      </p:sp>
      <p:sp>
        <p:nvSpPr>
          <p:cNvPr id="20" name="Text 18"/>
          <p:cNvSpPr txBox="1"/>
          <p:nvPr/>
        </p:nvSpPr>
        <p:spPr>
          <a:xfrm>
            <a:off x="8321040" y="2770632"/>
            <a:ext cx="3136392" cy="768096"/>
          </a:xfrm>
          <a:prstGeom prst="rect">
            <a:avLst/>
          </a:prstGeom>
          <a:noFill/>
          <a:ln/>
        </p:spPr>
        <p:txBody>
          <a:bodyPr wrap="square" lIns="0" tIns="0" rIns="0" bIns="0" rtlCol="0" anchor="ctr"/>
          <a:lstStyle/>
          <a:p>
            <a:pPr indent="0" marL="0">
              <a:buNone/>
            </a:pPr>
            <a:r>
              <a:rPr lang="en-US" sz="1250" dirty="0">
                <a:solidFill>
                  <a:schemeClr val="tx2"/>
                </a:solidFill>
              </a:rPr>
              <a:t>Projected onto each tolerance, but every characteristic counts the same.</a:t>
            </a:r>
            <a:endParaRPr lang="en-US" sz="1250" dirty="0"/>
          </a:p>
        </p:txBody>
      </p:sp>
      <p:sp>
        <p:nvSpPr>
          <p:cNvPr id="21" name="objective B"/>
          <p:cNvSpPr/>
          <p:nvPr/>
        </p:nvSpPr>
        <p:spPr>
          <a:xfrm>
            <a:off x="2971800" y="3794760"/>
            <a:ext cx="8668512" cy="914400"/>
          </a:xfrm>
          <a:prstGeom prst="roundRect">
            <a:avLst>
              <a:gd name="adj" fmla="val 8000"/>
            </a:avLst>
          </a:prstGeom>
          <a:solidFill>
            <a:schemeClr val="bg2"/>
          </a:solidFill>
          <a:ln/>
        </p:spPr>
      </p:sp>
      <p:sp>
        <p:nvSpPr>
          <p:cNvPr id="22" name="Shape 20"/>
          <p:cNvSpPr/>
          <p:nvPr/>
        </p:nvSpPr>
        <p:spPr>
          <a:xfrm>
            <a:off x="2697480" y="4251960"/>
            <a:ext cx="274320" cy="0"/>
          </a:xfrm>
          <a:prstGeom prst="line">
            <a:avLst/>
          </a:prstGeom>
          <a:noFill/>
          <a:ln w="19050">
            <a:solidFill>
              <a:schemeClr val="accent4"/>
            </a:solidFill>
            <a:prstDash val="solid"/>
            <a:tailEnd type="triangle"/>
          </a:ln>
        </p:spPr>
      </p:sp>
      <p:sp>
        <p:nvSpPr>
          <p:cNvPr id="23" name="badge B"/>
          <p:cNvSpPr txBox="1"/>
          <p:nvPr/>
        </p:nvSpPr>
        <p:spPr>
          <a:xfrm>
            <a:off x="3136392" y="3968496"/>
            <a:ext cx="566928" cy="566928"/>
          </a:xfrm>
          <a:prstGeom prst="ellipse">
            <a:avLst/>
          </a:prstGeom>
          <a:solidFill>
            <a:schemeClr val="accent2"/>
          </a:solidFill>
          <a:ln/>
        </p:spPr>
        <p:txBody>
          <a:bodyPr wrap="square" lIns="0" tIns="0" rIns="0" bIns="0" rtlCol="0" anchor="ctr"/>
          <a:lstStyle/>
          <a:p>
            <a:pPr algn="ctr" indent="0" marL="0">
              <a:buNone/>
            </a:pPr>
            <a:r>
              <a:rPr lang="en-US" sz="1900" b="1" dirty="0">
                <a:solidFill>
                  <a:schemeClr val="tx1"/>
                </a:solidFill>
                <a:latin typeface="Cambria" pitchFamily="34" charset="0"/>
                <a:ea typeface="Cambria" pitchFamily="34" charset="-122"/>
                <a:cs typeface="Cambria" pitchFamily="34" charset="-120"/>
              </a:rPr>
              <a:t>B</a:t>
            </a:r>
            <a:endParaRPr lang="en-US" sz="1900" dirty="0"/>
          </a:p>
        </p:txBody>
      </p:sp>
      <p:sp>
        <p:nvSpPr>
          <p:cNvPr id="24" name="Text 22"/>
          <p:cNvSpPr txBox="1"/>
          <p:nvPr/>
        </p:nvSpPr>
        <p:spPr>
          <a:xfrm>
            <a:off x="3867912" y="3886200"/>
            <a:ext cx="4297680" cy="347472"/>
          </a:xfrm>
          <a:prstGeom prst="rect">
            <a:avLst/>
          </a:prstGeom>
          <a:noFill/>
          <a:ln/>
        </p:spPr>
        <p:txBody>
          <a:bodyPr wrap="square" lIns="0" tIns="0" rIns="0" bIns="0" rtlCol="0" anchor="ctr"/>
          <a:lstStyle/>
          <a:p>
            <a:pPr indent="0" marL="0">
              <a:buNone/>
            </a:pPr>
            <a:r>
              <a:rPr lang="en-US" sz="1250" b="1" dirty="0">
                <a:solidFill>
                  <a:schemeClr val="tx1"/>
                </a:solidFill>
                <a:latin typeface="Courier New" pitchFamily="34" charset="0"/>
                <a:ea typeface="Courier New" pitchFamily="34" charset="-122"/>
                <a:cs typeface="Courier New" pitchFamily="34" charset="-120"/>
              </a:rPr>
              <a:t>make_weighted_uncertainty_objective</a:t>
            </a:r>
            <a:endParaRPr lang="en-US" sz="1250" dirty="0"/>
          </a:p>
        </p:txBody>
      </p:sp>
      <p:sp>
        <p:nvSpPr>
          <p:cNvPr id="25" name="Text 23"/>
          <p:cNvSpPr txBox="1"/>
          <p:nvPr/>
        </p:nvSpPr>
        <p:spPr>
          <a:xfrm>
            <a:off x="3867912" y="4251960"/>
            <a:ext cx="4297680" cy="365760"/>
          </a:xfrm>
          <a:prstGeom prst="rect">
            <a:avLst/>
          </a:prstGeom>
          <a:noFill/>
          <a:ln/>
        </p:spPr>
        <p:txBody>
          <a:bodyPr wrap="square" lIns="0" tIns="0" rIns="0" bIns="0" rtlCol="0" anchor="ctr"/>
          <a:lstStyle/>
          <a:p>
            <a:pPr indent="0" marL="0">
              <a:buNone/>
            </a:pPr>
            <a:r>
              <a:rPr lang="en-US" sz="1300" b="1" dirty="0">
                <a:solidFill>
                  <a:schemeClr val="accent1"/>
                </a:solidFill>
              </a:rPr>
              <a:t>risk_derived_weights  →  Σ w · u,   w = d(risk)/du at 8 µm</a:t>
            </a:r>
            <a:endParaRPr lang="en-US" sz="1300" dirty="0"/>
          </a:p>
        </p:txBody>
      </p:sp>
      <p:sp>
        <p:nvSpPr>
          <p:cNvPr id="26" name="Text 24"/>
          <p:cNvSpPr txBox="1"/>
          <p:nvPr/>
        </p:nvSpPr>
        <p:spPr>
          <a:xfrm>
            <a:off x="8321040" y="3867912"/>
            <a:ext cx="3136392" cy="768096"/>
          </a:xfrm>
          <a:prstGeom prst="rect">
            <a:avLst/>
          </a:prstGeom>
          <a:noFill/>
          <a:ln/>
        </p:spPr>
        <p:txBody>
          <a:bodyPr wrap="square" lIns="0" tIns="0" rIns="0" bIns="0" rtlCol="0" anchor="ctr"/>
          <a:lstStyle/>
          <a:p>
            <a:pPr indent="0" marL="0">
              <a:buNone/>
            </a:pPr>
            <a:r>
              <a:rPr lang="en-US" sz="1250" dirty="0">
                <a:solidFill>
                  <a:schemeClr val="tx2"/>
                </a:solidFill>
              </a:rPr>
              <a:t>Weights fixed before the search: a drop-in for existing weighted planners.</a:t>
            </a:r>
            <a:endParaRPr lang="en-US" sz="1250" dirty="0"/>
          </a:p>
        </p:txBody>
      </p:sp>
      <p:sp>
        <p:nvSpPr>
          <p:cNvPr id="27" name="objective C"/>
          <p:cNvSpPr/>
          <p:nvPr/>
        </p:nvSpPr>
        <p:spPr>
          <a:xfrm>
            <a:off x="2971800" y="4892040"/>
            <a:ext cx="8668512" cy="914400"/>
          </a:xfrm>
          <a:prstGeom prst="roundRect">
            <a:avLst>
              <a:gd name="adj" fmla="val 8000"/>
            </a:avLst>
          </a:prstGeom>
          <a:solidFill>
            <a:schemeClr val="bg2"/>
          </a:solidFill>
          <a:ln/>
        </p:spPr>
      </p:sp>
      <p:sp>
        <p:nvSpPr>
          <p:cNvPr id="28" name="Shape 26"/>
          <p:cNvSpPr/>
          <p:nvPr/>
        </p:nvSpPr>
        <p:spPr>
          <a:xfrm>
            <a:off x="2697480" y="5349240"/>
            <a:ext cx="274320" cy="0"/>
          </a:xfrm>
          <a:prstGeom prst="line">
            <a:avLst/>
          </a:prstGeom>
          <a:noFill/>
          <a:ln w="19050">
            <a:solidFill>
              <a:schemeClr val="accent4"/>
            </a:solidFill>
            <a:prstDash val="solid"/>
            <a:tailEnd type="triangle"/>
          </a:ln>
        </p:spPr>
      </p:sp>
      <p:sp>
        <p:nvSpPr>
          <p:cNvPr id="29" name="badge C"/>
          <p:cNvSpPr txBox="1"/>
          <p:nvPr/>
        </p:nvSpPr>
        <p:spPr>
          <a:xfrm>
            <a:off x="3136392" y="5065776"/>
            <a:ext cx="566928" cy="566928"/>
          </a:xfrm>
          <a:prstGeom prst="ellipse">
            <a:avLst/>
          </a:prstGeom>
          <a:solidFill>
            <a:schemeClr val="accent3"/>
          </a:solidFill>
          <a:ln/>
        </p:spPr>
        <p:txBody>
          <a:bodyPr wrap="square" lIns="0" tIns="0" rIns="0" bIns="0" rtlCol="0" anchor="ctr"/>
          <a:lstStyle/>
          <a:p>
            <a:pPr algn="ctr" indent="0" marL="0">
              <a:buNone/>
            </a:pPr>
            <a:r>
              <a:rPr lang="en-US" sz="1900" b="1" dirty="0">
                <a:solidFill>
                  <a:schemeClr val="bg1"/>
                </a:solidFill>
                <a:latin typeface="Cambria" pitchFamily="34" charset="0"/>
                <a:ea typeface="Cambria" pitchFamily="34" charset="-122"/>
                <a:cs typeface="Cambria" pitchFamily="34" charset="-120"/>
              </a:rPr>
              <a:t>C</a:t>
            </a:r>
            <a:endParaRPr lang="en-US" sz="1900" dirty="0"/>
          </a:p>
        </p:txBody>
      </p:sp>
      <p:sp>
        <p:nvSpPr>
          <p:cNvPr id="30" name="Text 28"/>
          <p:cNvSpPr txBox="1"/>
          <p:nvPr/>
        </p:nvSpPr>
        <p:spPr>
          <a:xfrm>
            <a:off x="3867912" y="4983480"/>
            <a:ext cx="4297680" cy="347472"/>
          </a:xfrm>
          <a:prstGeom prst="rect">
            <a:avLst/>
          </a:prstGeom>
          <a:noFill/>
          <a:ln/>
        </p:spPr>
        <p:txBody>
          <a:bodyPr wrap="square" lIns="0" tIns="0" rIns="0" bIns="0" rtlCol="0" anchor="ctr"/>
          <a:lstStyle/>
          <a:p>
            <a:pPr indent="0" marL="0">
              <a:buNone/>
            </a:pPr>
            <a:r>
              <a:rPr lang="en-US" sz="1250" b="1" dirty="0">
                <a:solidFill>
                  <a:schemeClr val="tx1"/>
                </a:solidFill>
                <a:latin typeface="Courier New" pitchFamily="34" charset="0"/>
                <a:ea typeface="Courier New" pitchFamily="34" charset="-122"/>
                <a:cs typeface="Courier New" pitchFamily="34" charset="-120"/>
              </a:rPr>
              <a:t>objective_c_direct_risk</a:t>
            </a:r>
            <a:endParaRPr lang="en-US" sz="1250" dirty="0"/>
          </a:p>
        </p:txBody>
      </p:sp>
      <p:sp>
        <p:nvSpPr>
          <p:cNvPr id="31" name="Text 29"/>
          <p:cNvSpPr txBox="1"/>
          <p:nvPr/>
        </p:nvSpPr>
        <p:spPr>
          <a:xfrm>
            <a:off x="3867912" y="5349240"/>
            <a:ext cx="4297680" cy="365760"/>
          </a:xfrm>
          <a:prstGeom prst="rect">
            <a:avLst/>
          </a:prstGeom>
          <a:noFill/>
          <a:ln/>
        </p:spPr>
        <p:txBody>
          <a:bodyPr wrap="square" lIns="0" tIns="0" rIns="0" bIns="0" rtlCol="0" anchor="ctr"/>
          <a:lstStyle/>
          <a:p>
            <a:pPr indent="0" marL="0">
              <a:buNone/>
            </a:pPr>
            <a:r>
              <a:rPr lang="en-US" sz="1300" b="1" dirty="0">
                <a:solidFill>
                  <a:schemeClr val="accent1"/>
                </a:solidFill>
              </a:rPr>
              <a:t>Σ (PFA + PFR) at each candidate's own u</a:t>
            </a:r>
            <a:endParaRPr lang="en-US" sz="1300" dirty="0"/>
          </a:p>
        </p:txBody>
      </p:sp>
      <p:sp>
        <p:nvSpPr>
          <p:cNvPr id="32" name="Text 30"/>
          <p:cNvSpPr txBox="1"/>
          <p:nvPr/>
        </p:nvSpPr>
        <p:spPr>
          <a:xfrm>
            <a:off x="8321040" y="4965192"/>
            <a:ext cx="3136392" cy="768096"/>
          </a:xfrm>
          <a:prstGeom prst="rect">
            <a:avLst/>
          </a:prstGeom>
          <a:noFill/>
          <a:ln/>
        </p:spPr>
        <p:txBody>
          <a:bodyPr wrap="square" lIns="0" tIns="0" rIns="0" bIns="0" rtlCol="0" anchor="ctr"/>
          <a:lstStyle/>
          <a:p>
            <a:pPr indent="0" marL="0">
              <a:buNone/>
            </a:pPr>
            <a:r>
              <a:rPr lang="en-US" sz="1250" dirty="0">
                <a:solidFill>
                  <a:schemeClr val="tx2"/>
                </a:solidFill>
              </a:rPr>
              <a:t>Exact risk for every candidate, no linearisation: the direct test.</a:t>
            </a:r>
            <a:endParaRPr lang="en-US" sz="12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Searching for the best plan</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Grid search where exhaustive search is affordable; a standard GA where it is not</a:t>
            </a:r>
            <a:endParaRPr lang="en-US" sz="1600" dirty="0"/>
          </a:p>
        </p:txBody>
      </p:sp>
      <p:sp>
        <p:nvSpPr>
          <p:cNvPr id="4" name="badge 6"/>
          <p:cNvSpPr txBox="1"/>
          <p:nvPr/>
        </p:nvSpPr>
        <p:spPr>
          <a:xfrm>
            <a:off x="10927080" y="292608"/>
            <a:ext cx="713232" cy="713232"/>
          </a:xfrm>
          <a:prstGeom prst="ellipse">
            <a:avLst/>
          </a:prstGeom>
          <a:solidFill>
            <a:schemeClr val="accent1"/>
          </a:solidFill>
          <a:ln/>
        </p:spPr>
        <p:txBody>
          <a:bodyPr wrap="square" lIns="0" tIns="0" rIns="0" bIns="0" rtlCol="0" anchor="ctr"/>
          <a:lstStyle/>
          <a:p>
            <a:pPr algn="ctr" indent="0" marL="0">
              <a:buNone/>
            </a:pPr>
            <a:r>
              <a:rPr lang="en-US" sz="2300" b="1" dirty="0">
                <a:solidFill>
                  <a:schemeClr val="bg1"/>
                </a:solidFill>
                <a:latin typeface="Cambria" pitchFamily="34" charset="0"/>
                <a:ea typeface="Cambria" pitchFamily="34" charset="-122"/>
                <a:cs typeface="Cambria" pitchFamily="34" charset="-120"/>
              </a:rPr>
              <a:t>6</a:t>
            </a:r>
            <a:endParaRPr lang="en-US" sz="2300" dirty="0"/>
          </a:p>
        </p:txBody>
      </p:sp>
      <p:sp>
        <p:nvSpPr>
          <p:cNvPr id="5" name="Text 3"/>
          <p:cNvSpPr txBox="1"/>
          <p:nvPr/>
        </p:nvSpPr>
        <p:spPr>
          <a:xfrm>
            <a:off x="10835640" y="1024128"/>
            <a:ext cx="896112" cy="228600"/>
          </a:xfrm>
          <a:prstGeom prst="rect">
            <a:avLst/>
          </a:prstGeom>
          <a:noFill/>
          <a:ln/>
        </p:spPr>
        <p:txBody>
          <a:bodyPr wrap="square" lIns="0" tIns="0" rIns="0" bIns="0" rtlCol="0" anchor="ctr"/>
          <a:lstStyle/>
          <a:p>
            <a:pPr algn="ctr" indent="0" marL="0">
              <a:buNone/>
            </a:pPr>
            <a:r>
              <a:rPr lang="en-US" sz="1000" b="1" dirty="0">
                <a:solidFill>
                  <a:schemeClr val="accent1"/>
                </a:solidFill>
              </a:rPr>
              <a:t>STEP</a:t>
            </a:r>
            <a:endParaRPr lang="en-US" sz="1000" dirty="0"/>
          </a:p>
        </p:txBody>
      </p:sp>
      <p:sp>
        <p:nvSpPr>
          <p:cNvPr id="6" name="Text 4"/>
          <p:cNvSpPr txBox="1"/>
          <p:nvPr/>
        </p:nvSpPr>
        <p:spPr>
          <a:xfrm>
            <a:off x="548640" y="1417320"/>
            <a:ext cx="5394960" cy="384048"/>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Grid search: exhaustive</a:t>
            </a:r>
            <a:endParaRPr lang="en-US" sz="1800" dirty="0"/>
          </a:p>
        </p:txBody>
      </p:sp>
      <p:sp>
        <p:nvSpPr>
          <p:cNvPr id="7" name="hemisphere_candidate_poses(...)"/>
          <p:cNvSpPr txBox="1"/>
          <p:nvPr/>
        </p:nvSpPr>
        <p:spPr>
          <a:xfrm>
            <a:off x="548640" y="1920240"/>
            <a:ext cx="5394960" cy="640080"/>
          </a:xfrm>
          <a:prstGeom prst="roundRect">
            <a:avLst>
              <a:gd name="adj" fmla="val 11429"/>
            </a:avLst>
          </a:prstGeom>
          <a:solidFill>
            <a:schemeClr val="accent1"/>
          </a:solidFill>
          <a:ln/>
        </p:spPr>
        <p:txBody>
          <a:bodyPr wrap="square" lIns="63500" tIns="63500" rIns="63500" bIns="63500" rtlCol="0" anchor="ctr"/>
          <a:lstStyle/>
          <a:p>
            <a:pPr algn="ctr" indent="0" marL="0">
              <a:buNone/>
            </a:pPr>
            <a:r>
              <a:rPr lang="en-US" sz="1250" b="1" dirty="0">
                <a:solidFill>
                  <a:schemeClr val="bg1"/>
                </a:solidFill>
                <a:latin typeface="Courier New" pitchFamily="34" charset="0"/>
                <a:ea typeface="Courier New" pitchFamily="34" charset="-122"/>
                <a:cs typeface="Courier New" pitchFamily="34" charset="-120"/>
              </a:rPr>
              <a:t>hemisphere_candidate_poses(...)</a:t>
            </a:r>
            <a:endParaRPr lang="en-US" sz="1250" dirty="0"/>
          </a:p>
          <a:p>
            <a:pPr algn="ctr" indent="0" marL="0">
              <a:buNone/>
            </a:pPr>
            <a:r>
              <a:rPr lang="en-US" sz="1150" dirty="0">
                <a:solidFill>
                  <a:schemeClr val="bg1"/>
                </a:solidFill>
              </a:rPr>
              <a:t>24 poses: 12 azimuths × 2 elevations at 4 m, aimed at the centroid</a:t>
            </a:r>
            <a:endParaRPr lang="en-US" sz="1250" dirty="0"/>
          </a:p>
        </p:txBody>
      </p:sp>
      <p:sp>
        <p:nvSpPr>
          <p:cNvPr id="8" name="Shape 6"/>
          <p:cNvSpPr/>
          <p:nvPr/>
        </p:nvSpPr>
        <p:spPr>
          <a:xfrm>
            <a:off x="3246120" y="2560320"/>
            <a:ext cx="0" cy="182880"/>
          </a:xfrm>
          <a:prstGeom prst="line">
            <a:avLst/>
          </a:prstGeom>
          <a:noFill/>
          <a:ln w="19050">
            <a:solidFill>
              <a:schemeClr val="accent4"/>
            </a:solidFill>
            <a:prstDash val="solid"/>
            <a:tailEnd type="triangle"/>
          </a:ln>
        </p:spPr>
      </p:sp>
      <p:sp>
        <p:nvSpPr>
          <p:cNvPr id="9" name="itertools.combinations(...)"/>
          <p:cNvSpPr txBox="1"/>
          <p:nvPr/>
        </p:nvSpPr>
        <p:spPr>
          <a:xfrm>
            <a:off x="548640" y="2743200"/>
            <a:ext cx="5394960" cy="640080"/>
          </a:xfrm>
          <a:prstGeom prst="roundRect">
            <a:avLst>
              <a:gd name="adj" fmla="val 11429"/>
            </a:avLst>
          </a:prstGeom>
          <a:solidFill>
            <a:schemeClr val="accent1"/>
          </a:solidFill>
          <a:ln/>
        </p:spPr>
        <p:txBody>
          <a:bodyPr wrap="square" lIns="63500" tIns="63500" rIns="63500" bIns="63500" rtlCol="0" anchor="ctr"/>
          <a:lstStyle/>
          <a:p>
            <a:pPr algn="ctr" indent="0" marL="0">
              <a:buNone/>
            </a:pPr>
            <a:r>
              <a:rPr lang="en-US" sz="1250" b="1" dirty="0">
                <a:solidFill>
                  <a:schemeClr val="bg1"/>
                </a:solidFill>
                <a:latin typeface="Courier New" pitchFamily="34" charset="0"/>
                <a:ea typeface="Courier New" pitchFamily="34" charset="-122"/>
                <a:cs typeface="Courier New" pitchFamily="34" charset="-120"/>
              </a:rPr>
              <a:t>itertools.combinations(...)</a:t>
            </a:r>
            <a:endParaRPr lang="en-US" sz="1250" dirty="0"/>
          </a:p>
          <a:p>
            <a:pPr algn="ctr" indent="0" marL="0">
              <a:buNone/>
            </a:pPr>
            <a:r>
              <a:rPr lang="en-US" sz="1150" dirty="0">
                <a:solidFill>
                  <a:schemeClr val="bg1"/>
                </a:solidFill>
              </a:rPr>
              <a:t>every distinct set of n stations: C(24, 2) = 276 plans</a:t>
            </a:r>
            <a:endParaRPr lang="en-US" sz="1250" dirty="0"/>
          </a:p>
        </p:txBody>
      </p:sp>
      <p:sp>
        <p:nvSpPr>
          <p:cNvPr id="10" name="Shape 8"/>
          <p:cNvSpPr/>
          <p:nvPr/>
        </p:nvSpPr>
        <p:spPr>
          <a:xfrm>
            <a:off x="3246120" y="3383280"/>
            <a:ext cx="0" cy="182880"/>
          </a:xfrm>
          <a:prstGeom prst="line">
            <a:avLst/>
          </a:prstGeom>
          <a:noFill/>
          <a:ln w="19050">
            <a:solidFill>
              <a:schemeClr val="accent4"/>
            </a:solidFill>
            <a:prstDash val="solid"/>
            <a:tailEnd type="triangle"/>
          </a:ln>
        </p:spPr>
      </p:sp>
      <p:sp>
        <p:nvSpPr>
          <p:cNvPr id="11" name="evaluate_plan + objective_fn"/>
          <p:cNvSpPr txBox="1"/>
          <p:nvPr/>
        </p:nvSpPr>
        <p:spPr>
          <a:xfrm>
            <a:off x="548640" y="3566160"/>
            <a:ext cx="5394960" cy="640080"/>
          </a:xfrm>
          <a:prstGeom prst="roundRect">
            <a:avLst>
              <a:gd name="adj" fmla="val 11429"/>
            </a:avLst>
          </a:prstGeom>
          <a:solidFill>
            <a:schemeClr val="accent1"/>
          </a:solidFill>
          <a:ln/>
        </p:spPr>
        <p:txBody>
          <a:bodyPr wrap="square" lIns="63500" tIns="63500" rIns="63500" bIns="63500" rtlCol="0" anchor="ctr"/>
          <a:lstStyle/>
          <a:p>
            <a:pPr algn="ctr" indent="0" marL="0">
              <a:buNone/>
            </a:pPr>
            <a:r>
              <a:rPr lang="en-US" sz="1250" b="1" dirty="0">
                <a:solidFill>
                  <a:schemeClr val="bg1"/>
                </a:solidFill>
                <a:latin typeface="Courier New" pitchFamily="34" charset="0"/>
                <a:ea typeface="Courier New" pitchFamily="34" charset="-122"/>
                <a:cs typeface="Courier New" pitchFamily="34" charset="-120"/>
              </a:rPr>
              <a:t>evaluate_plan + objective_fn</a:t>
            </a:r>
            <a:endParaRPr lang="en-US" sz="1250" dirty="0"/>
          </a:p>
          <a:p>
            <a:pPr algn="ctr" indent="0" marL="0">
              <a:buNone/>
            </a:pPr>
            <a:r>
              <a:rPr lang="en-US" sz="1150" dirty="0">
                <a:solidFill>
                  <a:schemeClr val="bg1"/>
                </a:solidFill>
              </a:rPr>
              <a:t>the full chain, then the score, for every plan</a:t>
            </a:r>
            <a:endParaRPr lang="en-US" sz="1250" dirty="0"/>
          </a:p>
        </p:txBody>
      </p:sp>
      <p:sp>
        <p:nvSpPr>
          <p:cNvPr id="12" name="Shape 10"/>
          <p:cNvSpPr/>
          <p:nvPr/>
        </p:nvSpPr>
        <p:spPr>
          <a:xfrm>
            <a:off x="3246120" y="4206240"/>
            <a:ext cx="0" cy="182880"/>
          </a:xfrm>
          <a:prstGeom prst="line">
            <a:avLst/>
          </a:prstGeom>
          <a:noFill/>
          <a:ln w="19050">
            <a:solidFill>
              <a:schemeClr val="accent4"/>
            </a:solidFill>
            <a:prstDash val="solid"/>
            <a:tailEnd type="triangle"/>
          </a:ln>
        </p:spPr>
      </p:sp>
      <p:sp>
        <p:nvSpPr>
          <p:cNvPr id="13" name="infeasible plans skipped"/>
          <p:cNvSpPr txBox="1"/>
          <p:nvPr/>
        </p:nvSpPr>
        <p:spPr>
          <a:xfrm>
            <a:off x="548640" y="4389120"/>
            <a:ext cx="5394960" cy="640080"/>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250" b="1" dirty="0">
                <a:solidFill>
                  <a:schemeClr val="tx1"/>
                </a:solidFill>
                <a:latin typeface="Courier New" pitchFamily="34" charset="0"/>
                <a:ea typeface="Courier New" pitchFamily="34" charset="-122"/>
                <a:cs typeface="Courier New" pitchFamily="34" charset="-120"/>
              </a:rPr>
              <a:t>infeasible plans skipped</a:t>
            </a:r>
            <a:endParaRPr lang="en-US" sz="1250" dirty="0"/>
          </a:p>
          <a:p>
            <a:pPr algn="ctr" indent="0" marL="0">
              <a:buNone/>
            </a:pPr>
            <a:r>
              <a:rPr lang="en-US" sz="1150" dirty="0">
                <a:solidFill>
                  <a:schemeClr val="tx2"/>
                </a:solidFill>
              </a:rPr>
              <a:t>evaluate_plan returned None: counted in n_infeasible</a:t>
            </a:r>
            <a:endParaRPr lang="en-US" sz="1250" dirty="0"/>
          </a:p>
        </p:txBody>
      </p:sp>
      <p:sp>
        <p:nvSpPr>
          <p:cNvPr id="14" name="Shape 12"/>
          <p:cNvSpPr/>
          <p:nvPr/>
        </p:nvSpPr>
        <p:spPr>
          <a:xfrm>
            <a:off x="3246120" y="5029200"/>
            <a:ext cx="0" cy="182880"/>
          </a:xfrm>
          <a:prstGeom prst="line">
            <a:avLst/>
          </a:prstGeom>
          <a:noFill/>
          <a:ln w="19050">
            <a:solidFill>
              <a:schemeClr val="accent4"/>
            </a:solidFill>
            <a:prstDash val="solid"/>
            <a:tailEnd type="triangle"/>
          </a:ln>
        </p:spPr>
      </p:sp>
      <p:sp>
        <p:nvSpPr>
          <p:cNvPr id="15" name="GridSearchResult"/>
          <p:cNvSpPr txBox="1"/>
          <p:nvPr/>
        </p:nvSpPr>
        <p:spPr>
          <a:xfrm>
            <a:off x="548640" y="5212080"/>
            <a:ext cx="5394960" cy="640080"/>
          </a:xfrm>
          <a:prstGeom prst="roundRect">
            <a:avLst>
              <a:gd name="adj" fmla="val 11429"/>
            </a:avLst>
          </a:prstGeom>
          <a:solidFill>
            <a:schemeClr val="accent2"/>
          </a:solidFill>
          <a:ln/>
        </p:spPr>
        <p:txBody>
          <a:bodyPr wrap="square" lIns="63500" tIns="63500" rIns="63500" bIns="63500" rtlCol="0" anchor="ctr"/>
          <a:lstStyle/>
          <a:p>
            <a:pPr algn="ctr" indent="0" marL="0">
              <a:buNone/>
            </a:pPr>
            <a:r>
              <a:rPr lang="en-US" sz="1250" b="1" dirty="0">
                <a:solidFill>
                  <a:schemeClr val="tx1"/>
                </a:solidFill>
                <a:latin typeface="Courier New" pitchFamily="34" charset="0"/>
                <a:ea typeface="Courier New" pitchFamily="34" charset="-122"/>
                <a:cs typeface="Courier New" pitchFamily="34" charset="-120"/>
              </a:rPr>
              <a:t>GridSearchResult</a:t>
            </a:r>
            <a:endParaRPr lang="en-US" sz="1250" dirty="0"/>
          </a:p>
          <a:p>
            <a:pPr algn="ctr" indent="0" marL="0">
              <a:buNone/>
            </a:pPr>
            <a:r>
              <a:rPr lang="en-US" sz="1150" dirty="0">
                <a:solidFill>
                  <a:schemeClr val="tx1"/>
                </a:solidFill>
              </a:rPr>
              <a:t>provably the best plan in the candidate set</a:t>
            </a:r>
            <a:endParaRPr lang="en-US" sz="1250" dirty="0"/>
          </a:p>
        </p:txBody>
      </p:sp>
      <p:sp>
        <p:nvSpPr>
          <p:cNvPr id="16" name="Text 14"/>
          <p:cNvSpPr txBox="1"/>
          <p:nvPr/>
        </p:nvSpPr>
        <p:spPr>
          <a:xfrm>
            <a:off x="6245352" y="1417320"/>
            <a:ext cx="5394960" cy="384048"/>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Genetic algorithm: scalable</a:t>
            </a:r>
            <a:endParaRPr lang="en-US" sz="1800" dirty="0"/>
          </a:p>
        </p:txBody>
      </p:sp>
      <p:sp>
        <p:nvSpPr>
          <p:cNvPr id="17" name="bounds_m  +  seed_station_positions_m"/>
          <p:cNvSpPr txBox="1"/>
          <p:nvPr/>
        </p:nvSpPr>
        <p:spPr>
          <a:xfrm>
            <a:off x="6245352" y="1920240"/>
            <a:ext cx="5394960" cy="640080"/>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250" b="1" dirty="0">
                <a:solidFill>
                  <a:schemeClr val="tx1"/>
                </a:solidFill>
                <a:latin typeface="Courier New" pitchFamily="34" charset="0"/>
                <a:ea typeface="Courier New" pitchFamily="34" charset="-122"/>
                <a:cs typeface="Courier New" pitchFamily="34" charset="-120"/>
              </a:rPr>
              <a:t>bounds_m  +  seed_station_positions_m</a:t>
            </a:r>
            <a:endParaRPr lang="en-US" sz="1250" dirty="0"/>
          </a:p>
          <a:p>
            <a:pPr algn="ctr" indent="0" marL="0">
              <a:buNone/>
            </a:pPr>
            <a:r>
              <a:rPr lang="en-US" sz="1150" dirty="0">
                <a:solidFill>
                  <a:schemeClr val="tx2"/>
                </a:solidFill>
              </a:rPr>
              <a:t>a search box per station (x, y, z); optional known-good starts</a:t>
            </a:r>
            <a:endParaRPr lang="en-US" sz="1250" dirty="0"/>
          </a:p>
        </p:txBody>
      </p:sp>
      <p:sp>
        <p:nvSpPr>
          <p:cNvPr id="18" name="Shape 16"/>
          <p:cNvSpPr/>
          <p:nvPr/>
        </p:nvSpPr>
        <p:spPr>
          <a:xfrm>
            <a:off x="8942832" y="2560320"/>
            <a:ext cx="0" cy="182880"/>
          </a:xfrm>
          <a:prstGeom prst="line">
            <a:avLst/>
          </a:prstGeom>
          <a:noFill/>
          <a:ln w="19050">
            <a:solidFill>
              <a:schemeClr val="accent4"/>
            </a:solidFill>
            <a:prstDash val="solid"/>
            <a:tailEnd type="triangle"/>
          </a:ln>
        </p:spPr>
      </p:sp>
      <p:sp>
        <p:nvSpPr>
          <p:cNvPr id="19" name="scipy differential_evolution"/>
          <p:cNvSpPr txBox="1"/>
          <p:nvPr/>
        </p:nvSpPr>
        <p:spPr>
          <a:xfrm>
            <a:off x="6245352" y="2743200"/>
            <a:ext cx="5394960" cy="640080"/>
          </a:xfrm>
          <a:prstGeom prst="roundRect">
            <a:avLst>
              <a:gd name="adj" fmla="val 11429"/>
            </a:avLst>
          </a:prstGeom>
          <a:solidFill>
            <a:schemeClr val="accent1"/>
          </a:solidFill>
          <a:ln/>
        </p:spPr>
        <p:txBody>
          <a:bodyPr wrap="square" lIns="63500" tIns="63500" rIns="63500" bIns="63500" rtlCol="0" anchor="ctr"/>
          <a:lstStyle/>
          <a:p>
            <a:pPr algn="ctr" indent="0" marL="0">
              <a:buNone/>
            </a:pPr>
            <a:r>
              <a:rPr lang="en-US" sz="1250" b="1" dirty="0">
                <a:solidFill>
                  <a:schemeClr val="bg1"/>
                </a:solidFill>
                <a:latin typeface="Courier New" pitchFamily="34" charset="0"/>
                <a:ea typeface="Courier New" pitchFamily="34" charset="-122"/>
                <a:cs typeface="Courier New" pitchFamily="34" charset="-120"/>
              </a:rPr>
              <a:t>scipy differential_evolution</a:t>
            </a:r>
            <a:endParaRPr lang="en-US" sz="1250" dirty="0"/>
          </a:p>
          <a:p>
            <a:pPr algn="ctr" indent="0" marL="0">
              <a:buNone/>
            </a:pPr>
            <a:r>
              <a:rPr lang="en-US" sz="1150" dirty="0">
                <a:solidFill>
                  <a:schemeClr val="bg1"/>
                </a:solidFill>
              </a:rPr>
              <a:t>population of station-position vectors, evaluated in parallel</a:t>
            </a:r>
            <a:endParaRPr lang="en-US" sz="1250" dirty="0"/>
          </a:p>
        </p:txBody>
      </p:sp>
      <p:sp>
        <p:nvSpPr>
          <p:cNvPr id="20" name="Shape 18"/>
          <p:cNvSpPr/>
          <p:nvPr/>
        </p:nvSpPr>
        <p:spPr>
          <a:xfrm>
            <a:off x="8942832" y="3383280"/>
            <a:ext cx="0" cy="182880"/>
          </a:xfrm>
          <a:prstGeom prst="line">
            <a:avLst/>
          </a:prstGeom>
          <a:noFill/>
          <a:ln w="19050">
            <a:solidFill>
              <a:schemeClr val="accent4"/>
            </a:solidFill>
            <a:prstDash val="solid"/>
            <a:tailEnd type="triangle"/>
          </a:ln>
        </p:spPr>
      </p:sp>
      <p:sp>
        <p:nvSpPr>
          <p:cNvPr id="21" name="_StationPlacementCost"/>
          <p:cNvSpPr txBox="1"/>
          <p:nvPr/>
        </p:nvSpPr>
        <p:spPr>
          <a:xfrm>
            <a:off x="6245352" y="3566160"/>
            <a:ext cx="5394960" cy="640080"/>
          </a:xfrm>
          <a:prstGeom prst="roundRect">
            <a:avLst>
              <a:gd name="adj" fmla="val 11429"/>
            </a:avLst>
          </a:prstGeom>
          <a:solidFill>
            <a:schemeClr val="accent1"/>
          </a:solidFill>
          <a:ln/>
        </p:spPr>
        <p:txBody>
          <a:bodyPr wrap="square" lIns="63500" tIns="63500" rIns="63500" bIns="63500" rtlCol="0" anchor="ctr"/>
          <a:lstStyle/>
          <a:p>
            <a:pPr algn="ctr" indent="0" marL="0">
              <a:buNone/>
            </a:pPr>
            <a:r>
              <a:rPr lang="en-US" sz="1250" b="1" dirty="0">
                <a:solidFill>
                  <a:schemeClr val="bg1"/>
                </a:solidFill>
                <a:latin typeface="Courier New" pitchFamily="34" charset="0"/>
                <a:ea typeface="Courier New" pitchFamily="34" charset="-122"/>
                <a:cs typeface="Courier New" pitchFamily="34" charset="-120"/>
              </a:rPr>
              <a:t>_StationPlacementCost</a:t>
            </a:r>
            <a:endParaRPr lang="en-US" sz="1250" dirty="0"/>
          </a:p>
          <a:p>
            <a:pPr algn="ctr" indent="0" marL="0">
              <a:buNone/>
            </a:pPr>
            <a:r>
              <a:rPr lang="en-US" sz="1150" dirty="0">
                <a:solidFill>
                  <a:schemeClr val="bg1"/>
                </a:solidFill>
              </a:rPr>
              <a:t>look_at_orientation → evaluate_plan → objective_fn</a:t>
            </a:r>
            <a:endParaRPr lang="en-US" sz="1250" dirty="0"/>
          </a:p>
        </p:txBody>
      </p:sp>
      <p:sp>
        <p:nvSpPr>
          <p:cNvPr id="22" name="Shape 20"/>
          <p:cNvSpPr/>
          <p:nvPr/>
        </p:nvSpPr>
        <p:spPr>
          <a:xfrm>
            <a:off x="8942832" y="4206240"/>
            <a:ext cx="0" cy="182880"/>
          </a:xfrm>
          <a:prstGeom prst="line">
            <a:avLst/>
          </a:prstGeom>
          <a:noFill/>
          <a:ln w="19050">
            <a:solidFill>
              <a:schemeClr val="accent4"/>
            </a:solidFill>
            <a:prstDash val="solid"/>
            <a:tailEnd type="triangle"/>
          </a:ln>
        </p:spPr>
      </p:sp>
      <p:sp>
        <p:nvSpPr>
          <p:cNvPr id="23" name="infeasible → INFEASIBLE_PENALTY"/>
          <p:cNvSpPr txBox="1"/>
          <p:nvPr/>
        </p:nvSpPr>
        <p:spPr>
          <a:xfrm>
            <a:off x="6245352" y="4389120"/>
            <a:ext cx="5394960" cy="640080"/>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250" b="1" dirty="0">
                <a:solidFill>
                  <a:schemeClr val="tx1"/>
                </a:solidFill>
                <a:latin typeface="Courier New" pitchFamily="34" charset="0"/>
                <a:ea typeface="Courier New" pitchFamily="34" charset="-122"/>
                <a:cs typeface="Courier New" pitchFamily="34" charset="-120"/>
              </a:rPr>
              <a:t>infeasible → INFEASIBLE_PENALTY</a:t>
            </a:r>
            <a:endParaRPr lang="en-US" sz="1250" dirty="0"/>
          </a:p>
          <a:p>
            <a:pPr algn="ctr" indent="0" marL="0">
              <a:buNone/>
            </a:pPr>
            <a:r>
              <a:rPr lang="en-US" sz="1150" dirty="0">
                <a:solidFill>
                  <a:schemeClr val="tx2"/>
                </a:solidFill>
              </a:rPr>
              <a:t>1e6 rather than ∞, so the GA can still rank it</a:t>
            </a:r>
            <a:endParaRPr lang="en-US" sz="1250" dirty="0"/>
          </a:p>
        </p:txBody>
      </p:sp>
      <p:sp>
        <p:nvSpPr>
          <p:cNvPr id="24" name="Shape 22"/>
          <p:cNvSpPr/>
          <p:nvPr/>
        </p:nvSpPr>
        <p:spPr>
          <a:xfrm>
            <a:off x="8942832" y="5029200"/>
            <a:ext cx="0" cy="182880"/>
          </a:xfrm>
          <a:prstGeom prst="line">
            <a:avLst/>
          </a:prstGeom>
          <a:noFill/>
          <a:ln w="19050">
            <a:solidFill>
              <a:schemeClr val="accent4"/>
            </a:solidFill>
            <a:prstDash val="solid"/>
            <a:tailEnd type="triangle"/>
          </a:ln>
        </p:spPr>
      </p:sp>
      <p:sp>
        <p:nvSpPr>
          <p:cNvPr id="25" name="GASearchResult"/>
          <p:cNvSpPr txBox="1"/>
          <p:nvPr/>
        </p:nvSpPr>
        <p:spPr>
          <a:xfrm>
            <a:off x="6245352" y="5212080"/>
            <a:ext cx="5394960" cy="640080"/>
          </a:xfrm>
          <a:prstGeom prst="roundRect">
            <a:avLst>
              <a:gd name="adj" fmla="val 11429"/>
            </a:avLst>
          </a:prstGeom>
          <a:solidFill>
            <a:schemeClr val="accent2"/>
          </a:solidFill>
          <a:ln/>
        </p:spPr>
        <p:txBody>
          <a:bodyPr wrap="square" lIns="63500" tIns="63500" rIns="63500" bIns="63500" rtlCol="0" anchor="ctr"/>
          <a:lstStyle/>
          <a:p>
            <a:pPr algn="ctr" indent="0" marL="0">
              <a:buNone/>
            </a:pPr>
            <a:r>
              <a:rPr lang="en-US" sz="1250" b="1" dirty="0">
                <a:solidFill>
                  <a:schemeClr val="tx1"/>
                </a:solidFill>
                <a:latin typeface="Courier New" pitchFamily="34" charset="0"/>
                <a:ea typeface="Courier New" pitchFamily="34" charset="-122"/>
                <a:cs typeface="Courier New" pitchFamily="34" charset="-120"/>
              </a:rPr>
              <a:t>GASearchResult</a:t>
            </a:r>
            <a:endParaRPr lang="en-US" sz="1250" dirty="0"/>
          </a:p>
          <a:p>
            <a:pPr algn="ctr" indent="0" marL="0">
              <a:buNone/>
            </a:pPr>
            <a:r>
              <a:rPr lang="en-US" sz="1150" dirty="0">
                <a:solidFill>
                  <a:schemeClr val="tx1"/>
                </a:solidFill>
              </a:rPr>
              <a:t>a good plan found, not a certified optimum</a:t>
            </a:r>
            <a:endParaRPr lang="en-US" sz="1250" dirty="0"/>
          </a:p>
        </p:txBody>
      </p:sp>
      <p:sp>
        <p:nvSpPr>
          <p:cNvPr id="26" name="Shape 24"/>
          <p:cNvSpPr/>
          <p:nvPr/>
        </p:nvSpPr>
        <p:spPr>
          <a:xfrm>
            <a:off x="6140196" y="1463040"/>
            <a:ext cx="0" cy="4389120"/>
          </a:xfrm>
          <a:prstGeom prst="line">
            <a:avLst/>
          </a:prstGeom>
          <a:noFill/>
          <a:ln w="19050">
            <a:solidFill>
              <a:schemeClr val="bg2"/>
            </a:solidFill>
            <a:prstDash val="solid"/>
          </a:ln>
        </p:spPr>
      </p:sp>
      <p:sp>
        <p:nvSpPr>
          <p:cNvPr id="27" name="Shape 25"/>
          <p:cNvSpPr/>
          <p:nvPr/>
        </p:nvSpPr>
        <p:spPr>
          <a:xfrm>
            <a:off x="548640" y="6080760"/>
            <a:ext cx="256032" cy="164592"/>
          </a:xfrm>
          <a:prstGeom prst="roundRect">
            <a:avLst>
              <a:gd name="adj" fmla="val 22222"/>
            </a:avLst>
          </a:prstGeom>
          <a:solidFill>
            <a:schemeClr val="accent1"/>
          </a:solidFill>
          <a:ln/>
        </p:spPr>
      </p:sp>
      <p:sp>
        <p:nvSpPr>
          <p:cNvPr id="28" name="Text 26"/>
          <p:cNvSpPr txBox="1"/>
          <p:nvPr/>
        </p:nvSpPr>
        <p:spPr>
          <a:xfrm>
            <a:off x="877824"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function in src/ or viz/</a:t>
            </a:r>
            <a:endParaRPr lang="en-US" sz="1050" dirty="0"/>
          </a:p>
        </p:txBody>
      </p:sp>
      <p:sp>
        <p:nvSpPr>
          <p:cNvPr id="29" name="Shape 27"/>
          <p:cNvSpPr/>
          <p:nvPr/>
        </p:nvSpPr>
        <p:spPr>
          <a:xfrm>
            <a:off x="3264408" y="6080760"/>
            <a:ext cx="256032" cy="164592"/>
          </a:xfrm>
          <a:prstGeom prst="rect">
            <a:avLst/>
          </a:prstGeom>
          <a:solidFill>
            <a:schemeClr val="bg2"/>
          </a:solidFill>
          <a:ln w="9525">
            <a:solidFill>
              <a:schemeClr val="accent4"/>
            </a:solidFill>
            <a:prstDash val="solid"/>
          </a:ln>
        </p:spPr>
      </p:sp>
      <p:sp>
        <p:nvSpPr>
          <p:cNvPr id="30" name="Text 28"/>
          <p:cNvSpPr txBox="1"/>
          <p:nvPr/>
        </p:nvSpPr>
        <p:spPr>
          <a:xfrm>
            <a:off x="3593592"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input / data object</a:t>
            </a:r>
            <a:endParaRPr lang="en-US" sz="1050" dirty="0"/>
          </a:p>
        </p:txBody>
      </p:sp>
      <p:sp>
        <p:nvSpPr>
          <p:cNvPr id="31" name="Shape 29"/>
          <p:cNvSpPr/>
          <p:nvPr/>
        </p:nvSpPr>
        <p:spPr>
          <a:xfrm>
            <a:off x="5568696" y="6080760"/>
            <a:ext cx="256032" cy="164592"/>
          </a:xfrm>
          <a:prstGeom prst="roundRect">
            <a:avLst>
              <a:gd name="adj" fmla="val 22222"/>
            </a:avLst>
          </a:prstGeom>
          <a:solidFill>
            <a:schemeClr val="accent2"/>
          </a:solidFill>
          <a:ln/>
        </p:spPr>
      </p:sp>
      <p:sp>
        <p:nvSpPr>
          <p:cNvPr id="32" name="Text 30"/>
          <p:cNvSpPr txBox="1"/>
          <p:nvPr/>
        </p:nvSpPr>
        <p:spPr>
          <a:xfrm>
            <a:off x="5897880"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output / figure</a:t>
            </a:r>
            <a:endParaRPr lang="en-US" sz="1050" dirty="0"/>
          </a:p>
        </p:txBody>
      </p:sp>
      <p:sp>
        <p:nvSpPr>
          <p:cNvPr id="33" name="Shape 31"/>
          <p:cNvSpPr/>
          <p:nvPr/>
        </p:nvSpPr>
        <p:spPr>
          <a:xfrm>
            <a:off x="7543800" y="6080760"/>
            <a:ext cx="256032" cy="164592"/>
          </a:xfrm>
          <a:prstGeom prst="roundRect">
            <a:avLst>
              <a:gd name="adj" fmla="val 22222"/>
            </a:avLst>
          </a:prstGeom>
          <a:solidFill>
            <a:schemeClr val="accent3"/>
          </a:solidFill>
          <a:ln/>
        </p:spPr>
      </p:sp>
      <p:sp>
        <p:nvSpPr>
          <p:cNvPr id="34" name="Text 32"/>
          <p:cNvSpPr txBox="1"/>
          <p:nvPr/>
        </p:nvSpPr>
        <p:spPr>
          <a:xfrm>
            <a:off x="7872984"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check or rejection</a:t>
            </a:r>
            <a:endParaRPr lang="en-US" sz="10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Headline experiment: two-cluster scene</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run_headline_experiment() → panels 6, 7 and 8, regenerated by python -m viz.make_figures</a:t>
            </a:r>
            <a:endParaRPr lang="en-US" sz="1600" dirty="0"/>
          </a:p>
        </p:txBody>
      </p:sp>
      <p:sp>
        <p:nvSpPr>
          <p:cNvPr id="4" name="badge 6"/>
          <p:cNvSpPr txBox="1"/>
          <p:nvPr/>
        </p:nvSpPr>
        <p:spPr>
          <a:xfrm>
            <a:off x="10927080" y="292608"/>
            <a:ext cx="713232" cy="713232"/>
          </a:xfrm>
          <a:prstGeom prst="ellipse">
            <a:avLst/>
          </a:prstGeom>
          <a:solidFill>
            <a:schemeClr val="accent1"/>
          </a:solidFill>
          <a:ln/>
        </p:spPr>
        <p:txBody>
          <a:bodyPr wrap="square" lIns="0" tIns="0" rIns="0" bIns="0" rtlCol="0" anchor="ctr"/>
          <a:lstStyle/>
          <a:p>
            <a:pPr algn="ctr" indent="0" marL="0">
              <a:buNone/>
            </a:pPr>
            <a:r>
              <a:rPr lang="en-US" sz="2300" b="1" dirty="0">
                <a:solidFill>
                  <a:schemeClr val="bg1"/>
                </a:solidFill>
                <a:latin typeface="Cambria" pitchFamily="34" charset="0"/>
                <a:ea typeface="Cambria" pitchFamily="34" charset="-122"/>
                <a:cs typeface="Cambria" pitchFamily="34" charset="-120"/>
              </a:rPr>
              <a:t>6</a:t>
            </a:r>
            <a:endParaRPr lang="en-US" sz="2300" dirty="0"/>
          </a:p>
        </p:txBody>
      </p:sp>
      <p:sp>
        <p:nvSpPr>
          <p:cNvPr id="5" name="Text 3"/>
          <p:cNvSpPr txBox="1"/>
          <p:nvPr/>
        </p:nvSpPr>
        <p:spPr>
          <a:xfrm>
            <a:off x="10835640" y="1024128"/>
            <a:ext cx="896112" cy="228600"/>
          </a:xfrm>
          <a:prstGeom prst="rect">
            <a:avLst/>
          </a:prstGeom>
          <a:noFill/>
          <a:ln/>
        </p:spPr>
        <p:txBody>
          <a:bodyPr wrap="square" lIns="0" tIns="0" rIns="0" bIns="0" rtlCol="0" anchor="ctr"/>
          <a:lstStyle/>
          <a:p>
            <a:pPr algn="ctr" indent="0" marL="0">
              <a:buNone/>
            </a:pPr>
            <a:r>
              <a:rPr lang="en-US" sz="1000" b="1" dirty="0">
                <a:solidFill>
                  <a:schemeClr val="accent1"/>
                </a:solidFill>
              </a:rPr>
              <a:t>STEP</a:t>
            </a:r>
            <a:endParaRPr lang="en-US" sz="1000" dirty="0"/>
          </a:p>
        </p:txBody>
      </p:sp>
      <p:sp>
        <p:nvSpPr>
          <p:cNvPr id="6" name="default_two_cluster_scenario()"/>
          <p:cNvSpPr txBox="1"/>
          <p:nvPr/>
        </p:nvSpPr>
        <p:spPr>
          <a:xfrm>
            <a:off x="548640" y="1554480"/>
            <a:ext cx="5852160" cy="731520"/>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default_two_cluster_scenario()</a:t>
            </a:r>
            <a:endParaRPr lang="en-US" sz="1300" dirty="0"/>
          </a:p>
          <a:p>
            <a:pPr algn="ctr" indent="0" marL="0">
              <a:buNone/>
            </a:pPr>
            <a:r>
              <a:rPr lang="en-US" sz="1150" dirty="0">
                <a:solidFill>
                  <a:schemeClr val="tx2"/>
                </a:solidFill>
              </a:rPr>
              <a:t>6 profile characteristics in 2 clusters (y ≈ ±2 m)  ·  high-capability vs marginal  ·  fixed anchor</a:t>
            </a:r>
            <a:endParaRPr lang="en-US" sz="1300" dirty="0"/>
          </a:p>
        </p:txBody>
      </p:sp>
      <p:sp>
        <p:nvSpPr>
          <p:cNvPr id="7" name="uniform_weights  ·  risk_derived_weights(8 µm)"/>
          <p:cNvSpPr txBox="1"/>
          <p:nvPr/>
        </p:nvSpPr>
        <p:spPr>
          <a:xfrm>
            <a:off x="548640" y="2487168"/>
            <a:ext cx="5852160" cy="731520"/>
          </a:xfrm>
          <a:prstGeom prst="roundRect">
            <a:avLst>
              <a:gd name="adj" fmla="val 10000"/>
            </a:avLst>
          </a:prstGeom>
          <a:solidFill>
            <a:schemeClr val="accent1"/>
          </a:solidFill>
          <a:ln/>
        </p:spPr>
        <p:txBody>
          <a:bodyPr wrap="square" lIns="63500" tIns="63500" rIns="63500" bIns="635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uniform_weights  ·  risk_derived_weights(8 µm)</a:t>
            </a:r>
            <a:endParaRPr lang="en-US" sz="1300" dirty="0"/>
          </a:p>
          <a:p>
            <a:pPr algn="ctr" indent="0" marL="0">
              <a:buNone/>
            </a:pPr>
            <a:r>
              <a:rPr lang="en-US" sz="1150" dirty="0">
                <a:solidFill>
                  <a:schemeClr val="bg1"/>
                </a:solidFill>
              </a:rPr>
              <a:t>computed once, before any search starts</a:t>
            </a:r>
            <a:endParaRPr lang="en-US" sz="1300" dirty="0"/>
          </a:p>
        </p:txBody>
      </p:sp>
      <p:sp>
        <p:nvSpPr>
          <p:cNvPr id="8" name="grid_search_station_placement  × 4"/>
          <p:cNvSpPr txBox="1"/>
          <p:nvPr/>
        </p:nvSpPr>
        <p:spPr>
          <a:xfrm>
            <a:off x="548640" y="3419856"/>
            <a:ext cx="5852160" cy="731520"/>
          </a:xfrm>
          <a:prstGeom prst="roundRect">
            <a:avLst>
              <a:gd name="adj" fmla="val 10000"/>
            </a:avLst>
          </a:prstGeom>
          <a:solidFill>
            <a:schemeClr val="accent1"/>
          </a:solidFill>
          <a:ln/>
        </p:spPr>
        <p:txBody>
          <a:bodyPr wrap="square" lIns="63500" tIns="63500" rIns="63500" bIns="635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grid_search_station_placement  × 4</a:t>
            </a:r>
            <a:endParaRPr lang="en-US" sz="1300" dirty="0"/>
          </a:p>
          <a:p>
            <a:pPr algn="ctr" indent="0" marL="0">
              <a:buNone/>
            </a:pPr>
            <a:r>
              <a:rPr lang="en-US" sz="1150" dirty="0">
                <a:solidFill>
                  <a:schemeClr val="bg1"/>
                </a:solidFill>
              </a:rPr>
              <a:t>A0, A1, B, C: same 276 plans, same scene, only the score differs</a:t>
            </a:r>
            <a:endParaRPr lang="en-US" sz="1300" dirty="0"/>
          </a:p>
        </p:txBody>
      </p:sp>
      <p:sp>
        <p:nvSpPr>
          <p:cNvPr id="9" name="HeadlineExperimentResult → PlanReport"/>
          <p:cNvSpPr txBox="1"/>
          <p:nvPr/>
        </p:nvSpPr>
        <p:spPr>
          <a:xfrm>
            <a:off x="548640" y="4352544"/>
            <a:ext cx="5852160" cy="731520"/>
          </a:xfrm>
          <a:prstGeom prst="roundRect">
            <a:avLst>
              <a:gd name="adj" fmla="val 10000"/>
            </a:avLst>
          </a:prstGeom>
          <a:solidFill>
            <a:schemeClr val="accent2"/>
          </a:solidFill>
          <a:ln/>
        </p:spPr>
        <p:txBody>
          <a:bodyPr wrap="square" lIns="63500" tIns="63500" rIns="63500" bIns="6350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HeadlineExperimentResult → PlanReport</a:t>
            </a:r>
            <a:endParaRPr lang="en-US" sz="1300" dirty="0"/>
          </a:p>
          <a:p>
            <a:pPr algn="ctr" indent="0" marL="0">
              <a:buNone/>
            </a:pPr>
            <a:r>
              <a:rPr lang="en-US" sz="1150" dirty="0">
                <a:solidFill>
                  <a:schemeClr val="tx1"/>
                </a:solidFill>
              </a:rPr>
              <a:t>stations, u per characteristic, global PFA and PFR  →  panel6a, 6b, 7</a:t>
            </a:r>
            <a:endParaRPr lang="en-US" sz="1300" dirty="0"/>
          </a:p>
        </p:txBody>
      </p:sp>
      <p:sp>
        <p:nvSpPr>
          <p:cNvPr id="10" name="Shape 8"/>
          <p:cNvSpPr/>
          <p:nvPr/>
        </p:nvSpPr>
        <p:spPr>
          <a:xfrm>
            <a:off x="3474720" y="2286000"/>
            <a:ext cx="0" cy="201168"/>
          </a:xfrm>
          <a:prstGeom prst="line">
            <a:avLst/>
          </a:prstGeom>
          <a:noFill/>
          <a:ln w="19050">
            <a:solidFill>
              <a:schemeClr val="accent4"/>
            </a:solidFill>
            <a:prstDash val="solid"/>
            <a:tailEnd type="triangle"/>
          </a:ln>
        </p:spPr>
      </p:sp>
      <p:sp>
        <p:nvSpPr>
          <p:cNvPr id="11" name="Shape 9"/>
          <p:cNvSpPr/>
          <p:nvPr/>
        </p:nvSpPr>
        <p:spPr>
          <a:xfrm>
            <a:off x="3474720" y="3218688"/>
            <a:ext cx="0" cy="201168"/>
          </a:xfrm>
          <a:prstGeom prst="line">
            <a:avLst/>
          </a:prstGeom>
          <a:noFill/>
          <a:ln w="19050">
            <a:solidFill>
              <a:schemeClr val="accent4"/>
            </a:solidFill>
            <a:prstDash val="solid"/>
            <a:tailEnd type="triangle"/>
          </a:ln>
        </p:spPr>
      </p:sp>
      <p:sp>
        <p:nvSpPr>
          <p:cNvPr id="12" name="Shape 10"/>
          <p:cNvSpPr/>
          <p:nvPr/>
        </p:nvSpPr>
        <p:spPr>
          <a:xfrm>
            <a:off x="3474720" y="4151376"/>
            <a:ext cx="0" cy="201168"/>
          </a:xfrm>
          <a:prstGeom prst="line">
            <a:avLst/>
          </a:prstGeom>
          <a:noFill/>
          <a:ln w="19050">
            <a:solidFill>
              <a:schemeClr val="accent4"/>
            </a:solidFill>
            <a:prstDash val="solid"/>
            <a:tailEnd type="triangle"/>
          </a:ln>
        </p:spPr>
      </p:sp>
      <p:sp>
        <p:nvSpPr>
          <p:cNvPr id="13" name="Text 11"/>
          <p:cNvSpPr txBox="1"/>
          <p:nvPr/>
        </p:nvSpPr>
        <p:spPr>
          <a:xfrm>
            <a:off x="548640" y="5303520"/>
            <a:ext cx="5852160" cy="603504"/>
          </a:xfrm>
          <a:prstGeom prst="rect">
            <a:avLst/>
          </a:prstGeom>
          <a:solidFill>
            <a:schemeClr val="bg2"/>
          </a:solidFill>
          <a:ln w="12700">
            <a:solidFill>
              <a:schemeClr val="accent4"/>
            </a:solidFill>
          </a:ln>
        </p:spPr>
        <p:txBody>
          <a:bodyPr wrap="square" lIns="101600" tIns="101600" rIns="101600" bIns="101600" rtlCol="0" anchor="ctr"/>
          <a:lstStyle/>
          <a:p>
            <a:pPr indent="0" marL="0">
              <a:buNone/>
            </a:pPr>
            <a:r>
              <a:rPr lang="en-US" sz="1200" b="1" dirty="0">
                <a:solidFill>
                  <a:schemeClr val="accent1"/>
                </a:solidFill>
              </a:rPr>
              <a:t>Variants  </a:t>
            </a:r>
            <a:pPr indent="0" marL="0">
              <a:buNone/>
            </a:pPr>
            <a:r>
              <a:rPr lang="en-US" sz="1200" dirty="0">
                <a:solidFill>
                  <a:schemeClr val="tx1"/>
                </a:solidFill>
              </a:rPr>
              <a:t>+10 µm systematic term → *_systematic10um  ·  mixed_tolerance_two_cluster_scenario() → *_mixedtol, panel8c</a:t>
            </a:r>
            <a:endParaRPr lang="en-US" sz="1200" dirty="0"/>
          </a:p>
        </p:txBody>
      </p:sp>
      <p:pic>
        <p:nvPicPr>
          <p:cNvPr id="14" name="Image 0" descr="Panel 6b: per-characteristic uncertainty for the aggregate-uncertainty plan against the risk-based plan">    </p:cNvPr>
          <p:cNvPicPr>
            <a:picLocks noChangeAspect="1"/>
          </p:cNvPicPr>
          <p:nvPr/>
        </p:nvPicPr>
        <p:blipFill>
          <a:blip r:embed="rId1"/>
          <a:stretch>
            <a:fillRect/>
          </a:stretch>
        </p:blipFill>
        <p:spPr>
          <a:xfrm>
            <a:off x="6720840" y="1554480"/>
            <a:ext cx="4919472" cy="3046528"/>
          </a:xfrm>
          <a:prstGeom prst="rect">
            <a:avLst/>
          </a:prstGeom>
        </p:spPr>
      </p:pic>
      <p:sp>
        <p:nvSpPr>
          <p:cNvPr id="15" name="Shape 12"/>
          <p:cNvSpPr/>
          <p:nvPr/>
        </p:nvSpPr>
        <p:spPr>
          <a:xfrm>
            <a:off x="6720840" y="1554480"/>
            <a:ext cx="4919472" cy="3046528"/>
          </a:xfrm>
          <a:prstGeom prst="rect">
            <a:avLst/>
          </a:prstGeom>
          <a:ln w="12700">
            <a:solidFill>
              <a:schemeClr val="bg2"/>
            </a:solidFill>
            <a:prstDash val="solid"/>
          </a:ln>
        </p:spPr>
      </p:sp>
      <p:sp>
        <p:nvSpPr>
          <p:cNvPr id="16" name="Shape 13"/>
          <p:cNvSpPr/>
          <p:nvPr/>
        </p:nvSpPr>
        <p:spPr>
          <a:xfrm>
            <a:off x="6720840" y="4846320"/>
            <a:ext cx="2368296" cy="1060704"/>
          </a:xfrm>
          <a:prstGeom prst="roundRect">
            <a:avLst>
              <a:gd name="adj" fmla="val 6897"/>
            </a:avLst>
          </a:prstGeom>
          <a:solidFill>
            <a:schemeClr val="bg2"/>
          </a:solidFill>
          <a:ln/>
        </p:spPr>
      </p:sp>
      <p:sp>
        <p:nvSpPr>
          <p:cNvPr id="17" name="Text 14"/>
          <p:cNvSpPr txBox="1"/>
          <p:nvPr/>
        </p:nvSpPr>
        <p:spPr>
          <a:xfrm>
            <a:off x="6858000" y="4892040"/>
            <a:ext cx="2093976" cy="615208"/>
          </a:xfrm>
          <a:prstGeom prst="rect">
            <a:avLst/>
          </a:prstGeom>
          <a:noFill/>
          <a:ln/>
        </p:spPr>
        <p:txBody>
          <a:bodyPr wrap="square" lIns="0" tIns="0" rIns="0" bIns="0" rtlCol="0" anchor="b"/>
          <a:lstStyle/>
          <a:p>
            <a:pPr algn="l" indent="0" marL="0">
              <a:buNone/>
            </a:pPr>
            <a:r>
              <a:rPr lang="en-US" sz="3200" b="1" dirty="0">
                <a:solidFill>
                  <a:schemeClr val="accent1"/>
                </a:solidFill>
                <a:latin typeface="Cambria" pitchFamily="34" charset="0"/>
                <a:ea typeface="Cambria" pitchFamily="34" charset="-122"/>
                <a:cs typeface="Cambria" pitchFamily="34" charset="-120"/>
              </a:rPr>
              <a:t>−3.2%</a:t>
            </a:r>
            <a:endParaRPr lang="en-US" sz="3200" dirty="0"/>
          </a:p>
        </p:txBody>
      </p:sp>
      <p:sp>
        <p:nvSpPr>
          <p:cNvPr id="18" name="Text 15"/>
          <p:cNvSpPr txBox="1"/>
          <p:nvPr/>
        </p:nvSpPr>
        <p:spPr>
          <a:xfrm>
            <a:off x="6858000" y="5503956"/>
            <a:ext cx="2093976" cy="350032"/>
          </a:xfrm>
          <a:prstGeom prst="rect">
            <a:avLst/>
          </a:prstGeom>
          <a:noFill/>
          <a:ln/>
        </p:spPr>
        <p:txBody>
          <a:bodyPr wrap="square" lIns="0" tIns="0" rIns="0" bIns="0" rtlCol="0" anchor="t"/>
          <a:lstStyle/>
          <a:p>
            <a:pPr algn="l" indent="0" marL="0">
              <a:buNone/>
            </a:pPr>
            <a:r>
              <a:rPr lang="en-US" sz="1200" dirty="0">
                <a:solidFill>
                  <a:schemeClr val="tx2"/>
                </a:solidFill>
              </a:rPr>
              <a:t>global risk, A0 = A1 → B = C</a:t>
            </a:r>
            <a:endParaRPr lang="en-US" sz="1200" dirty="0"/>
          </a:p>
        </p:txBody>
      </p:sp>
      <p:sp>
        <p:nvSpPr>
          <p:cNvPr id="19" name="Shape 16"/>
          <p:cNvSpPr/>
          <p:nvPr/>
        </p:nvSpPr>
        <p:spPr>
          <a:xfrm>
            <a:off x="9272016" y="4846320"/>
            <a:ext cx="2368296" cy="1060704"/>
          </a:xfrm>
          <a:prstGeom prst="roundRect">
            <a:avLst>
              <a:gd name="adj" fmla="val 6897"/>
            </a:avLst>
          </a:prstGeom>
          <a:solidFill>
            <a:schemeClr val="bg2"/>
          </a:solidFill>
          <a:ln/>
        </p:spPr>
      </p:sp>
      <p:sp>
        <p:nvSpPr>
          <p:cNvPr id="20" name="Text 17"/>
          <p:cNvSpPr txBox="1"/>
          <p:nvPr/>
        </p:nvSpPr>
        <p:spPr>
          <a:xfrm>
            <a:off x="9409176" y="4892040"/>
            <a:ext cx="2093976" cy="615208"/>
          </a:xfrm>
          <a:prstGeom prst="rect">
            <a:avLst/>
          </a:prstGeom>
          <a:noFill/>
          <a:ln/>
        </p:spPr>
        <p:txBody>
          <a:bodyPr wrap="square" lIns="0" tIns="0" rIns="0" bIns="0" rtlCol="0" anchor="b"/>
          <a:lstStyle/>
          <a:p>
            <a:pPr algn="l" indent="0" marL="0">
              <a:buNone/>
            </a:pPr>
            <a:r>
              <a:rPr lang="en-US" sz="3200" b="1" dirty="0">
                <a:solidFill>
                  <a:schemeClr val="accent2"/>
                </a:solidFill>
                <a:latin typeface="Cambria" pitchFamily="34" charset="0"/>
                <a:ea typeface="Cambria" pitchFamily="34" charset="-122"/>
                <a:cs typeface="Cambria" pitchFamily="34" charset="-120"/>
              </a:rPr>
              <a:t>+5.1%</a:t>
            </a:r>
            <a:endParaRPr lang="en-US" sz="3200" dirty="0"/>
          </a:p>
        </p:txBody>
      </p:sp>
      <p:sp>
        <p:nvSpPr>
          <p:cNvPr id="21" name="Text 18"/>
          <p:cNvSpPr txBox="1"/>
          <p:nvPr/>
        </p:nvSpPr>
        <p:spPr>
          <a:xfrm>
            <a:off x="9409176" y="5503956"/>
            <a:ext cx="2093976" cy="350032"/>
          </a:xfrm>
          <a:prstGeom prst="rect">
            <a:avLst/>
          </a:prstGeom>
          <a:noFill/>
          <a:ln/>
        </p:spPr>
        <p:txBody>
          <a:bodyPr wrap="square" lIns="0" tIns="0" rIns="0" bIns="0" rtlCol="0" anchor="t"/>
          <a:lstStyle/>
          <a:p>
            <a:pPr algn="l" indent="0" marL="0">
              <a:buNone/>
            </a:pPr>
            <a:r>
              <a:rPr lang="en-US" sz="1200" dirty="0">
                <a:solidFill>
                  <a:schemeClr val="tx2"/>
                </a:solidFill>
              </a:rPr>
              <a:t>summed uncertainty, the price paid</a:t>
            </a:r>
            <a:endParaRPr lang="en-US" sz="1200" dirty="0"/>
          </a:p>
        </p:txBody>
      </p:sp>
      <p:sp>
        <p:nvSpPr>
          <p:cNvPr id="22" name="Shape 19"/>
          <p:cNvSpPr/>
          <p:nvPr/>
        </p:nvSpPr>
        <p:spPr>
          <a:xfrm>
            <a:off x="548640" y="6080760"/>
            <a:ext cx="256032" cy="164592"/>
          </a:xfrm>
          <a:prstGeom prst="roundRect">
            <a:avLst>
              <a:gd name="adj" fmla="val 22222"/>
            </a:avLst>
          </a:prstGeom>
          <a:solidFill>
            <a:schemeClr val="accent1"/>
          </a:solidFill>
          <a:ln/>
        </p:spPr>
      </p:sp>
      <p:sp>
        <p:nvSpPr>
          <p:cNvPr id="23" name="Text 20"/>
          <p:cNvSpPr txBox="1"/>
          <p:nvPr/>
        </p:nvSpPr>
        <p:spPr>
          <a:xfrm>
            <a:off x="877824"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function in src/ or viz/</a:t>
            </a:r>
            <a:endParaRPr lang="en-US" sz="1050" dirty="0"/>
          </a:p>
        </p:txBody>
      </p:sp>
      <p:sp>
        <p:nvSpPr>
          <p:cNvPr id="24" name="Shape 21"/>
          <p:cNvSpPr/>
          <p:nvPr/>
        </p:nvSpPr>
        <p:spPr>
          <a:xfrm>
            <a:off x="3264408" y="6080760"/>
            <a:ext cx="256032" cy="164592"/>
          </a:xfrm>
          <a:prstGeom prst="rect">
            <a:avLst/>
          </a:prstGeom>
          <a:solidFill>
            <a:schemeClr val="bg2"/>
          </a:solidFill>
          <a:ln w="9525">
            <a:solidFill>
              <a:schemeClr val="accent4"/>
            </a:solidFill>
            <a:prstDash val="solid"/>
          </a:ln>
        </p:spPr>
      </p:sp>
      <p:sp>
        <p:nvSpPr>
          <p:cNvPr id="25" name="Text 22"/>
          <p:cNvSpPr txBox="1"/>
          <p:nvPr/>
        </p:nvSpPr>
        <p:spPr>
          <a:xfrm>
            <a:off x="3593592"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input / data object</a:t>
            </a:r>
            <a:endParaRPr lang="en-US" sz="1050" dirty="0"/>
          </a:p>
        </p:txBody>
      </p:sp>
      <p:sp>
        <p:nvSpPr>
          <p:cNvPr id="26" name="Shape 23"/>
          <p:cNvSpPr/>
          <p:nvPr/>
        </p:nvSpPr>
        <p:spPr>
          <a:xfrm>
            <a:off x="5568696" y="6080760"/>
            <a:ext cx="256032" cy="164592"/>
          </a:xfrm>
          <a:prstGeom prst="roundRect">
            <a:avLst>
              <a:gd name="adj" fmla="val 22222"/>
            </a:avLst>
          </a:prstGeom>
          <a:solidFill>
            <a:schemeClr val="accent2"/>
          </a:solidFill>
          <a:ln/>
        </p:spPr>
      </p:sp>
      <p:sp>
        <p:nvSpPr>
          <p:cNvPr id="27" name="Text 24"/>
          <p:cNvSpPr txBox="1"/>
          <p:nvPr/>
        </p:nvSpPr>
        <p:spPr>
          <a:xfrm>
            <a:off x="5897880"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output / figure</a:t>
            </a:r>
            <a:endParaRPr lang="en-US" sz="1050" dirty="0"/>
          </a:p>
        </p:txBody>
      </p:sp>
      <p:sp>
        <p:nvSpPr>
          <p:cNvPr id="28" name="Shape 25"/>
          <p:cNvSpPr/>
          <p:nvPr/>
        </p:nvSpPr>
        <p:spPr>
          <a:xfrm>
            <a:off x="7543800" y="6080760"/>
            <a:ext cx="256032" cy="164592"/>
          </a:xfrm>
          <a:prstGeom prst="roundRect">
            <a:avLst>
              <a:gd name="adj" fmla="val 22222"/>
            </a:avLst>
          </a:prstGeom>
          <a:solidFill>
            <a:schemeClr val="accent3"/>
          </a:solidFill>
          <a:ln/>
        </p:spPr>
      </p:sp>
      <p:sp>
        <p:nvSpPr>
          <p:cNvPr id="29" name="Text 26"/>
          <p:cNvSpPr txBox="1"/>
          <p:nvPr/>
        </p:nvSpPr>
        <p:spPr>
          <a:xfrm>
            <a:off x="7872984" y="6053328"/>
            <a:ext cx="2103120" cy="219456"/>
          </a:xfrm>
          <a:prstGeom prst="rect">
            <a:avLst/>
          </a:prstGeom>
          <a:noFill/>
          <a:ln/>
        </p:spPr>
        <p:txBody>
          <a:bodyPr wrap="square" lIns="0" tIns="0" rIns="0" bIns="0" rtlCol="0" anchor="ctr"/>
          <a:lstStyle/>
          <a:p>
            <a:pPr indent="0" marL="0">
              <a:buNone/>
            </a:pPr>
            <a:r>
              <a:rPr lang="en-US" sz="1050" dirty="0">
                <a:solidFill>
                  <a:schemeClr val="tx2"/>
                </a:solidFill>
              </a:rPr>
              <a:t>check or rejection</a:t>
            </a:r>
            <a:endParaRPr lang="en-US" sz="10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The wing scenario: occlusion, GA and seeding</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run_wing_experiment() → panel 9, regenerated by python -m viz.make_wing_figures (about 14 minutes)</a:t>
            </a:r>
            <a:endParaRPr lang="en-US" sz="1600" dirty="0"/>
          </a:p>
        </p:txBody>
      </p:sp>
      <p:sp>
        <p:nvSpPr>
          <p:cNvPr id="4" name="badge 6"/>
          <p:cNvSpPr txBox="1"/>
          <p:nvPr/>
        </p:nvSpPr>
        <p:spPr>
          <a:xfrm>
            <a:off x="10927080" y="292608"/>
            <a:ext cx="713232" cy="713232"/>
          </a:xfrm>
          <a:prstGeom prst="ellipse">
            <a:avLst/>
          </a:prstGeom>
          <a:solidFill>
            <a:schemeClr val="accent1"/>
          </a:solidFill>
          <a:ln/>
        </p:spPr>
        <p:txBody>
          <a:bodyPr wrap="square" lIns="0" tIns="0" rIns="0" bIns="0" rtlCol="0" anchor="ctr"/>
          <a:lstStyle/>
          <a:p>
            <a:pPr algn="ctr" indent="0" marL="0">
              <a:buNone/>
            </a:pPr>
            <a:r>
              <a:rPr lang="en-US" sz="2300" b="1" dirty="0">
                <a:solidFill>
                  <a:schemeClr val="bg1"/>
                </a:solidFill>
                <a:latin typeface="Cambria" pitchFamily="34" charset="0"/>
                <a:ea typeface="Cambria" pitchFamily="34" charset="-122"/>
                <a:cs typeface="Cambria" pitchFamily="34" charset="-120"/>
              </a:rPr>
              <a:t>6</a:t>
            </a:r>
            <a:endParaRPr lang="en-US" sz="2300" dirty="0"/>
          </a:p>
        </p:txBody>
      </p:sp>
      <p:sp>
        <p:nvSpPr>
          <p:cNvPr id="5" name="Text 3"/>
          <p:cNvSpPr txBox="1"/>
          <p:nvPr/>
        </p:nvSpPr>
        <p:spPr>
          <a:xfrm>
            <a:off x="10835640" y="1024128"/>
            <a:ext cx="896112" cy="228600"/>
          </a:xfrm>
          <a:prstGeom prst="rect">
            <a:avLst/>
          </a:prstGeom>
          <a:noFill/>
          <a:ln/>
        </p:spPr>
        <p:txBody>
          <a:bodyPr wrap="square" lIns="0" tIns="0" rIns="0" bIns="0" rtlCol="0" anchor="ctr"/>
          <a:lstStyle/>
          <a:p>
            <a:pPr algn="ctr" indent="0" marL="0">
              <a:buNone/>
            </a:pPr>
            <a:r>
              <a:rPr lang="en-US" sz="1000" b="1" dirty="0">
                <a:solidFill>
                  <a:schemeClr val="accent1"/>
                </a:solidFill>
              </a:rPr>
              <a:t>STEP</a:t>
            </a:r>
            <a:endParaRPr lang="en-US" sz="1000" dirty="0"/>
          </a:p>
        </p:txBody>
      </p:sp>
      <p:sp>
        <p:nvSpPr>
          <p:cNvPr id="6" name="wing_four_point_scenario()"/>
          <p:cNvSpPr txBox="1"/>
          <p:nvPr/>
        </p:nvSpPr>
        <p:spPr>
          <a:xfrm>
            <a:off x="548640" y="1554480"/>
            <a:ext cx="2514600" cy="1005840"/>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150" b="1" dirty="0">
                <a:solidFill>
                  <a:schemeClr val="tx1"/>
                </a:solidFill>
                <a:latin typeface="Courier New" pitchFamily="34" charset="0"/>
                <a:ea typeface="Courier New" pitchFamily="34" charset="-122"/>
                <a:cs typeface="Courier New" pitchFamily="34" charset="-120"/>
              </a:rPr>
              <a:t>wing_four_point_scenario()</a:t>
            </a:r>
            <a:endParaRPr lang="en-US" sz="1150" dirty="0"/>
          </a:p>
          <a:p>
            <a:pPr algn="ctr" indent="0" marL="0">
              <a:buNone/>
            </a:pPr>
            <a:r>
              <a:rPr lang="en-US" sz="1100" dirty="0">
                <a:solidFill>
                  <a:schemeClr val="tx2"/>
                </a:solidFill>
              </a:rPr>
              <a:t>30 m span · 4 fittings + 4 tie points · support tower (box_mesh)</a:t>
            </a:r>
            <a:endParaRPr lang="en-US" sz="1150" dirty="0"/>
          </a:p>
        </p:txBody>
      </p:sp>
      <p:sp>
        <p:nvSpPr>
          <p:cNvPr id="7" name="GA · A0"/>
          <p:cNvSpPr txBox="1"/>
          <p:nvPr/>
        </p:nvSpPr>
        <p:spPr>
          <a:xfrm>
            <a:off x="3383280" y="1554480"/>
            <a:ext cx="1645920" cy="1005840"/>
          </a:xfrm>
          <a:prstGeom prst="roundRect">
            <a:avLst>
              <a:gd name="adj" fmla="val 7273"/>
            </a:avLst>
          </a:prstGeom>
          <a:solidFill>
            <a:schemeClr val="accent1"/>
          </a:solidFill>
          <a:ln/>
        </p:spPr>
        <p:txBody>
          <a:bodyPr wrap="square" lIns="63500" tIns="63500" rIns="63500" bIns="63500" rtlCol="0" anchor="ctr"/>
          <a:lstStyle/>
          <a:p>
            <a:pPr algn="ctr" indent="0" marL="0">
              <a:buNone/>
            </a:pPr>
            <a:r>
              <a:rPr lang="en-US" sz="1400" b="1" dirty="0">
                <a:solidFill>
                  <a:schemeClr val="bg1"/>
                </a:solidFill>
              </a:rPr>
              <a:t>GA · A0</a:t>
            </a:r>
            <a:endParaRPr lang="en-US" sz="1400" dirty="0"/>
          </a:p>
          <a:p>
            <a:pPr algn="ctr" indent="0" marL="0">
              <a:buNone/>
            </a:pPr>
            <a:r>
              <a:rPr lang="en-US" sz="1150" dirty="0">
                <a:solidFill>
                  <a:schemeClr val="bg1"/>
                </a:solidFill>
              </a:rPr>
              <a:t>blind random start</a:t>
            </a:r>
            <a:endParaRPr lang="en-US" sz="1400" dirty="0"/>
          </a:p>
        </p:txBody>
      </p:sp>
      <p:sp>
        <p:nvSpPr>
          <p:cNvPr id="8" name="GA · A1"/>
          <p:cNvSpPr txBox="1"/>
          <p:nvPr/>
        </p:nvSpPr>
        <p:spPr>
          <a:xfrm>
            <a:off x="5486400" y="1554480"/>
            <a:ext cx="1645920" cy="1005840"/>
          </a:xfrm>
          <a:prstGeom prst="roundRect">
            <a:avLst>
              <a:gd name="adj" fmla="val 7273"/>
            </a:avLst>
          </a:prstGeom>
          <a:solidFill>
            <a:schemeClr val="accent1"/>
          </a:solidFill>
          <a:ln/>
        </p:spPr>
        <p:txBody>
          <a:bodyPr wrap="square" lIns="63500" tIns="63500" rIns="63500" bIns="63500" rtlCol="0" anchor="ctr"/>
          <a:lstStyle/>
          <a:p>
            <a:pPr algn="ctr" indent="0" marL="0">
              <a:buNone/>
            </a:pPr>
            <a:r>
              <a:rPr lang="en-US" sz="1400" b="1" dirty="0">
                <a:solidFill>
                  <a:schemeClr val="bg1"/>
                </a:solidFill>
              </a:rPr>
              <a:t>GA · A1</a:t>
            </a:r>
            <a:endParaRPr lang="en-US" sz="1400" dirty="0"/>
          </a:p>
          <a:p>
            <a:pPr algn="ctr" indent="0" marL="0">
              <a:buNone/>
            </a:pPr>
            <a:r>
              <a:rPr lang="en-US" sz="1150" dirty="0">
                <a:solidFill>
                  <a:schemeClr val="bg1"/>
                </a:solidFill>
              </a:rPr>
              <a:t>seeded with A0</a:t>
            </a:r>
            <a:endParaRPr lang="en-US" sz="1400" dirty="0"/>
          </a:p>
        </p:txBody>
      </p:sp>
      <p:sp>
        <p:nvSpPr>
          <p:cNvPr id="9" name="GA · B"/>
          <p:cNvSpPr txBox="1"/>
          <p:nvPr/>
        </p:nvSpPr>
        <p:spPr>
          <a:xfrm>
            <a:off x="7589520" y="1554480"/>
            <a:ext cx="1645920" cy="1005840"/>
          </a:xfrm>
          <a:prstGeom prst="roundRect">
            <a:avLst>
              <a:gd name="adj" fmla="val 7273"/>
            </a:avLst>
          </a:prstGeom>
          <a:solidFill>
            <a:schemeClr val="accent1"/>
          </a:solidFill>
          <a:ln/>
        </p:spPr>
        <p:txBody>
          <a:bodyPr wrap="square" lIns="63500" tIns="63500" rIns="63500" bIns="63500" rtlCol="0" anchor="ctr"/>
          <a:lstStyle/>
          <a:p>
            <a:pPr algn="ctr" indent="0" marL="0">
              <a:buNone/>
            </a:pPr>
            <a:r>
              <a:rPr lang="en-US" sz="1400" b="1" dirty="0">
                <a:solidFill>
                  <a:schemeClr val="bg1"/>
                </a:solidFill>
              </a:rPr>
              <a:t>GA · B</a:t>
            </a:r>
            <a:endParaRPr lang="en-US" sz="1400" dirty="0"/>
          </a:p>
          <a:p>
            <a:pPr algn="ctr" indent="0" marL="0">
              <a:buNone/>
            </a:pPr>
            <a:r>
              <a:rPr lang="en-US" sz="1150" dirty="0">
                <a:solidFill>
                  <a:schemeClr val="bg1"/>
                </a:solidFill>
              </a:rPr>
              <a:t>seeded with A0, A1</a:t>
            </a:r>
            <a:endParaRPr lang="en-US" sz="1400" dirty="0"/>
          </a:p>
        </p:txBody>
      </p:sp>
      <p:sp>
        <p:nvSpPr>
          <p:cNvPr id="10" name="GA · C"/>
          <p:cNvSpPr txBox="1"/>
          <p:nvPr/>
        </p:nvSpPr>
        <p:spPr>
          <a:xfrm>
            <a:off x="9692640" y="1554480"/>
            <a:ext cx="1645920" cy="1005840"/>
          </a:xfrm>
          <a:prstGeom prst="roundRect">
            <a:avLst>
              <a:gd name="adj" fmla="val 7273"/>
            </a:avLst>
          </a:prstGeom>
          <a:solidFill>
            <a:schemeClr val="accent1"/>
          </a:solidFill>
          <a:ln/>
        </p:spPr>
        <p:txBody>
          <a:bodyPr wrap="square" lIns="63500" tIns="63500" rIns="63500" bIns="63500" rtlCol="0" anchor="ctr"/>
          <a:lstStyle/>
          <a:p>
            <a:pPr algn="ctr" indent="0" marL="0">
              <a:buNone/>
            </a:pPr>
            <a:r>
              <a:rPr lang="en-US" sz="1400" b="1" dirty="0">
                <a:solidFill>
                  <a:schemeClr val="bg1"/>
                </a:solidFill>
              </a:rPr>
              <a:t>GA · C</a:t>
            </a:r>
            <a:endParaRPr lang="en-US" sz="1400" dirty="0"/>
          </a:p>
          <a:p>
            <a:pPr algn="ctr" indent="0" marL="0">
              <a:buNone/>
            </a:pPr>
            <a:r>
              <a:rPr lang="en-US" sz="1150" dirty="0">
                <a:solidFill>
                  <a:schemeClr val="bg1"/>
                </a:solidFill>
              </a:rPr>
              <a:t>seeded with A0, A1, B</a:t>
            </a:r>
            <a:endParaRPr lang="en-US" sz="1400" dirty="0"/>
          </a:p>
        </p:txBody>
      </p:sp>
      <p:sp>
        <p:nvSpPr>
          <p:cNvPr id="11" name="Shape 9"/>
          <p:cNvSpPr/>
          <p:nvPr/>
        </p:nvSpPr>
        <p:spPr>
          <a:xfrm>
            <a:off x="3063240" y="2057400"/>
            <a:ext cx="320040" cy="0"/>
          </a:xfrm>
          <a:prstGeom prst="line">
            <a:avLst/>
          </a:prstGeom>
          <a:noFill/>
          <a:ln w="19050">
            <a:solidFill>
              <a:schemeClr val="accent4"/>
            </a:solidFill>
            <a:prstDash val="solid"/>
            <a:tailEnd type="triangle"/>
          </a:ln>
        </p:spPr>
      </p:sp>
      <p:sp>
        <p:nvSpPr>
          <p:cNvPr id="12" name="Shape 10"/>
          <p:cNvSpPr/>
          <p:nvPr/>
        </p:nvSpPr>
        <p:spPr>
          <a:xfrm>
            <a:off x="5029200" y="2057400"/>
            <a:ext cx="457200" cy="0"/>
          </a:xfrm>
          <a:prstGeom prst="line">
            <a:avLst/>
          </a:prstGeom>
          <a:noFill/>
          <a:ln w="19050">
            <a:solidFill>
              <a:schemeClr val="accent4"/>
            </a:solidFill>
            <a:prstDash val="solid"/>
            <a:tailEnd type="triangle"/>
          </a:ln>
        </p:spPr>
      </p:sp>
      <p:sp>
        <p:nvSpPr>
          <p:cNvPr id="13" name="Text 11"/>
          <p:cNvSpPr txBox="1"/>
          <p:nvPr/>
        </p:nvSpPr>
        <p:spPr>
          <a:xfrm>
            <a:off x="4983480" y="1746504"/>
            <a:ext cx="548640" cy="256032"/>
          </a:xfrm>
          <a:prstGeom prst="rect">
            <a:avLst/>
          </a:prstGeom>
          <a:noFill/>
          <a:ln/>
        </p:spPr>
        <p:txBody>
          <a:bodyPr wrap="square" lIns="0" tIns="0" rIns="0" bIns="0" rtlCol="0" anchor="ctr"/>
          <a:lstStyle/>
          <a:p>
            <a:pPr algn="ctr" indent="0" marL="0">
              <a:buNone/>
            </a:pPr>
            <a:r>
              <a:rPr lang="en-US" sz="1050" i="1" dirty="0">
                <a:solidFill>
                  <a:schemeClr val="tx2"/>
                </a:solidFill>
              </a:rPr>
              <a:t>seeds</a:t>
            </a:r>
            <a:endParaRPr lang="en-US" sz="1050" dirty="0"/>
          </a:p>
        </p:txBody>
      </p:sp>
      <p:sp>
        <p:nvSpPr>
          <p:cNvPr id="14" name="Shape 12"/>
          <p:cNvSpPr/>
          <p:nvPr/>
        </p:nvSpPr>
        <p:spPr>
          <a:xfrm>
            <a:off x="7132320" y="2057400"/>
            <a:ext cx="457200" cy="0"/>
          </a:xfrm>
          <a:prstGeom prst="line">
            <a:avLst/>
          </a:prstGeom>
          <a:noFill/>
          <a:ln w="19050">
            <a:solidFill>
              <a:schemeClr val="accent4"/>
            </a:solidFill>
            <a:prstDash val="solid"/>
            <a:tailEnd type="triangle"/>
          </a:ln>
        </p:spPr>
      </p:sp>
      <p:sp>
        <p:nvSpPr>
          <p:cNvPr id="15" name="Text 13"/>
          <p:cNvSpPr txBox="1"/>
          <p:nvPr/>
        </p:nvSpPr>
        <p:spPr>
          <a:xfrm>
            <a:off x="7086600" y="1746504"/>
            <a:ext cx="548640" cy="256032"/>
          </a:xfrm>
          <a:prstGeom prst="rect">
            <a:avLst/>
          </a:prstGeom>
          <a:noFill/>
          <a:ln/>
        </p:spPr>
        <p:txBody>
          <a:bodyPr wrap="square" lIns="0" tIns="0" rIns="0" bIns="0" rtlCol="0" anchor="ctr"/>
          <a:lstStyle/>
          <a:p>
            <a:pPr algn="ctr" indent="0" marL="0">
              <a:buNone/>
            </a:pPr>
            <a:r>
              <a:rPr lang="en-US" sz="1050" i="1" dirty="0">
                <a:solidFill>
                  <a:schemeClr val="tx2"/>
                </a:solidFill>
              </a:rPr>
              <a:t>seeds</a:t>
            </a:r>
            <a:endParaRPr lang="en-US" sz="1050" dirty="0"/>
          </a:p>
        </p:txBody>
      </p:sp>
      <p:sp>
        <p:nvSpPr>
          <p:cNvPr id="16" name="Shape 14"/>
          <p:cNvSpPr/>
          <p:nvPr/>
        </p:nvSpPr>
        <p:spPr>
          <a:xfrm>
            <a:off x="9235440" y="2057400"/>
            <a:ext cx="457200" cy="0"/>
          </a:xfrm>
          <a:prstGeom prst="line">
            <a:avLst/>
          </a:prstGeom>
          <a:noFill/>
          <a:ln w="19050">
            <a:solidFill>
              <a:schemeClr val="accent4"/>
            </a:solidFill>
            <a:prstDash val="solid"/>
            <a:tailEnd type="triangle"/>
          </a:ln>
        </p:spPr>
      </p:sp>
      <p:sp>
        <p:nvSpPr>
          <p:cNvPr id="17" name="Text 15"/>
          <p:cNvSpPr txBox="1"/>
          <p:nvPr/>
        </p:nvSpPr>
        <p:spPr>
          <a:xfrm>
            <a:off x="9189720" y="1746504"/>
            <a:ext cx="548640" cy="256032"/>
          </a:xfrm>
          <a:prstGeom prst="rect">
            <a:avLst/>
          </a:prstGeom>
          <a:noFill/>
          <a:ln/>
        </p:spPr>
        <p:txBody>
          <a:bodyPr wrap="square" lIns="0" tIns="0" rIns="0" bIns="0" rtlCol="0" anchor="ctr"/>
          <a:lstStyle/>
          <a:p>
            <a:pPr algn="ctr" indent="0" marL="0">
              <a:buNone/>
            </a:pPr>
            <a:r>
              <a:rPr lang="en-US" sz="1050" i="1" dirty="0">
                <a:solidFill>
                  <a:schemeClr val="tx2"/>
                </a:solidFill>
              </a:rPr>
              <a:t>seeds</a:t>
            </a:r>
            <a:endParaRPr lang="en-US" sz="1050" dirty="0"/>
          </a:p>
        </p:txBody>
      </p:sp>
      <p:pic>
        <p:nvPicPr>
          <p:cNvPr id="18" name="Image 0" descr="Panel 9a: wing scenario station layouts for objective A0 and objective C">    </p:cNvPr>
          <p:cNvPicPr>
            <a:picLocks noChangeAspect="1"/>
          </p:cNvPicPr>
          <p:nvPr/>
        </p:nvPicPr>
        <p:blipFill>
          <a:blip r:embed="rId1"/>
          <a:stretch>
            <a:fillRect/>
          </a:stretch>
        </p:blipFill>
        <p:spPr>
          <a:xfrm>
            <a:off x="548640" y="2880360"/>
            <a:ext cx="5486400" cy="2933750"/>
          </a:xfrm>
          <a:prstGeom prst="rect">
            <a:avLst/>
          </a:prstGeom>
        </p:spPr>
      </p:pic>
      <p:sp>
        <p:nvSpPr>
          <p:cNvPr id="19" name="Shape 16"/>
          <p:cNvSpPr/>
          <p:nvPr/>
        </p:nvSpPr>
        <p:spPr>
          <a:xfrm>
            <a:off x="548640" y="2880360"/>
            <a:ext cx="5486400" cy="2933750"/>
          </a:xfrm>
          <a:prstGeom prst="rect">
            <a:avLst/>
          </a:prstGeom>
          <a:ln w="12700">
            <a:solidFill>
              <a:schemeClr val="bg2"/>
            </a:solidFill>
            <a:prstDash val="solid"/>
          </a:ln>
        </p:spPr>
      </p:sp>
      <p:sp>
        <p:nvSpPr>
          <p:cNvPr id="20" name="WingExperimentResult → _make_wing_panels"/>
          <p:cNvSpPr txBox="1"/>
          <p:nvPr/>
        </p:nvSpPr>
        <p:spPr>
          <a:xfrm>
            <a:off x="6355080" y="2880360"/>
            <a:ext cx="5285232" cy="731520"/>
          </a:xfrm>
          <a:prstGeom prst="roundRect">
            <a:avLst>
              <a:gd name="adj" fmla="val 10000"/>
            </a:avLst>
          </a:prstGeom>
          <a:solidFill>
            <a:schemeClr val="accent2"/>
          </a:solidFill>
          <a:ln/>
        </p:spPr>
        <p:txBody>
          <a:bodyPr wrap="square" lIns="63500" tIns="63500" rIns="63500" bIns="6350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WingExperimentResult → _make_wing_panels</a:t>
            </a:r>
            <a:endParaRPr lang="en-US" sz="1200" dirty="0"/>
          </a:p>
          <a:p>
            <a:pPr algn="ctr" indent="0" marL="0">
              <a:buNone/>
            </a:pPr>
            <a:r>
              <a:rPr lang="en-US" sz="1150" dirty="0">
                <a:solidFill>
                  <a:schemeClr val="tx1"/>
                </a:solidFill>
              </a:rPr>
              <a:t>panel9a: station layouts (A0 vs C)  ·  panel9b: per-characteristic bars</a:t>
            </a:r>
            <a:endParaRPr lang="en-US" sz="1200" dirty="0"/>
          </a:p>
        </p:txBody>
      </p:sp>
      <p:sp>
        <p:nvSpPr>
          <p:cNvPr id="21" name="Shape 18"/>
          <p:cNvSpPr/>
          <p:nvPr/>
        </p:nvSpPr>
        <p:spPr>
          <a:xfrm>
            <a:off x="10515600" y="2560320"/>
            <a:ext cx="0" cy="320040"/>
          </a:xfrm>
          <a:prstGeom prst="line">
            <a:avLst/>
          </a:prstGeom>
          <a:noFill/>
          <a:ln w="19050">
            <a:solidFill>
              <a:schemeClr val="accent4"/>
            </a:solidFill>
            <a:prstDash val="solid"/>
            <a:tailEnd type="triangle"/>
          </a:ln>
        </p:spPr>
      </p:sp>
      <p:sp>
        <p:nvSpPr>
          <p:cNvPr id="22" name="CHECK callout"/>
          <p:cNvSpPr txBox="1"/>
          <p:nvPr/>
        </p:nvSpPr>
        <p:spPr>
          <a:xfrm>
            <a:off x="6355080" y="3767328"/>
            <a:ext cx="5285232" cy="896112"/>
          </a:xfrm>
          <a:prstGeom prst="roundRect">
            <a:avLst>
              <a:gd name="adj" fmla="val 8163"/>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200" b="1" dirty="0">
                <a:solidFill>
                  <a:schemeClr val="accent3"/>
                </a:solidFill>
              </a:rPr>
              <a:t>CHECK   </a:t>
            </a:r>
            <a:pPr algn="l" indent="0" marL="0">
              <a:buNone/>
            </a:pPr>
            <a:r>
              <a:rPr lang="en-US" sz="1200" dirty="0">
                <a:solidFill>
                  <a:schemeClr val="tx1"/>
                </a:solidFill>
              </a:rPr>
              <a:t>every winner is scored under every other objective's formula. An earlier −18.7% / −6.6% was withdrawn: it came from stations not rigidly tied to the network</a:t>
            </a:r>
            <a:endParaRPr lang="en-US" sz="1200" dirty="0"/>
          </a:p>
        </p:txBody>
      </p:sp>
      <p:sp>
        <p:nvSpPr>
          <p:cNvPr id="23" name="Shape 20"/>
          <p:cNvSpPr/>
          <p:nvPr/>
        </p:nvSpPr>
        <p:spPr>
          <a:xfrm>
            <a:off x="6355080" y="4828032"/>
            <a:ext cx="2551176" cy="1078992"/>
          </a:xfrm>
          <a:prstGeom prst="roundRect">
            <a:avLst>
              <a:gd name="adj" fmla="val 6780"/>
            </a:avLst>
          </a:prstGeom>
          <a:solidFill>
            <a:schemeClr val="bg2"/>
          </a:solidFill>
          <a:ln/>
        </p:spPr>
      </p:sp>
      <p:sp>
        <p:nvSpPr>
          <p:cNvPr id="24" name="Text 21"/>
          <p:cNvSpPr txBox="1"/>
          <p:nvPr/>
        </p:nvSpPr>
        <p:spPr>
          <a:xfrm>
            <a:off x="6492240" y="4873752"/>
            <a:ext cx="2276856" cy="625815"/>
          </a:xfrm>
          <a:prstGeom prst="rect">
            <a:avLst/>
          </a:prstGeom>
          <a:noFill/>
          <a:ln/>
        </p:spPr>
        <p:txBody>
          <a:bodyPr wrap="square" lIns="0" tIns="0" rIns="0" bIns="0" rtlCol="0" anchor="b"/>
          <a:lstStyle/>
          <a:p>
            <a:pPr algn="l" indent="0" marL="0">
              <a:buNone/>
            </a:pPr>
            <a:r>
              <a:rPr lang="en-US" sz="3200" b="1" dirty="0">
                <a:solidFill>
                  <a:schemeClr val="accent1"/>
                </a:solidFill>
                <a:latin typeface="Cambria" pitchFamily="34" charset="0"/>
                <a:ea typeface="Cambria" pitchFamily="34" charset="-122"/>
                <a:cs typeface="Cambria" pitchFamily="34" charset="-120"/>
              </a:rPr>
              <a:t>−1.6%</a:t>
            </a:r>
            <a:endParaRPr lang="en-US" sz="3200" dirty="0"/>
          </a:p>
        </p:txBody>
      </p:sp>
      <p:sp>
        <p:nvSpPr>
          <p:cNvPr id="25" name="Text 22"/>
          <p:cNvSpPr txBox="1"/>
          <p:nvPr/>
        </p:nvSpPr>
        <p:spPr>
          <a:xfrm>
            <a:off x="6492240" y="5497007"/>
            <a:ext cx="2276856" cy="356067"/>
          </a:xfrm>
          <a:prstGeom prst="rect">
            <a:avLst/>
          </a:prstGeom>
          <a:noFill/>
          <a:ln/>
        </p:spPr>
        <p:txBody>
          <a:bodyPr wrap="square" lIns="0" tIns="0" rIns="0" bIns="0" rtlCol="0" anchor="t"/>
          <a:lstStyle/>
          <a:p>
            <a:pPr algn="l" indent="0" marL="0">
              <a:buNone/>
            </a:pPr>
            <a:r>
              <a:rPr lang="en-US" sz="1200" dirty="0">
                <a:solidFill>
                  <a:schemeClr val="tx2"/>
                </a:solidFill>
              </a:rPr>
              <a:t>risk, A0 → C, without the tower (GA noise ~1%)</a:t>
            </a:r>
            <a:endParaRPr lang="en-US" sz="1200" dirty="0"/>
          </a:p>
        </p:txBody>
      </p:sp>
      <p:sp>
        <p:nvSpPr>
          <p:cNvPr id="26" name="Shape 23"/>
          <p:cNvSpPr/>
          <p:nvPr/>
        </p:nvSpPr>
        <p:spPr>
          <a:xfrm>
            <a:off x="9089136" y="4828032"/>
            <a:ext cx="2551176" cy="1078992"/>
          </a:xfrm>
          <a:prstGeom prst="roundRect">
            <a:avLst>
              <a:gd name="adj" fmla="val 6780"/>
            </a:avLst>
          </a:prstGeom>
          <a:solidFill>
            <a:schemeClr val="bg2"/>
          </a:solidFill>
          <a:ln/>
        </p:spPr>
      </p:sp>
      <p:sp>
        <p:nvSpPr>
          <p:cNvPr id="27" name="Text 24"/>
          <p:cNvSpPr txBox="1"/>
          <p:nvPr/>
        </p:nvSpPr>
        <p:spPr>
          <a:xfrm>
            <a:off x="9226296" y="4873752"/>
            <a:ext cx="2276856" cy="625815"/>
          </a:xfrm>
          <a:prstGeom prst="rect">
            <a:avLst/>
          </a:prstGeom>
          <a:noFill/>
          <a:ln/>
        </p:spPr>
        <p:txBody>
          <a:bodyPr wrap="square" lIns="0" tIns="0" rIns="0" bIns="0" rtlCol="0" anchor="b"/>
          <a:lstStyle/>
          <a:p>
            <a:pPr algn="l" indent="0" marL="0">
              <a:buNone/>
            </a:pPr>
            <a:r>
              <a:rPr lang="en-US" sz="3200" b="1" dirty="0">
                <a:solidFill>
                  <a:schemeClr val="accent3"/>
                </a:solidFill>
                <a:latin typeface="Cambria" pitchFamily="34" charset="0"/>
                <a:ea typeface="Cambria" pitchFamily="34" charset="-122"/>
                <a:cs typeface="Cambria" pitchFamily="34" charset="-120"/>
              </a:rPr>
              <a:t>−0.7%</a:t>
            </a:r>
            <a:endParaRPr lang="en-US" sz="3200" dirty="0"/>
          </a:p>
        </p:txBody>
      </p:sp>
      <p:sp>
        <p:nvSpPr>
          <p:cNvPr id="28" name="Text 25"/>
          <p:cNvSpPr txBox="1"/>
          <p:nvPr/>
        </p:nvSpPr>
        <p:spPr>
          <a:xfrm>
            <a:off x="9226296" y="5497007"/>
            <a:ext cx="2276856" cy="356067"/>
          </a:xfrm>
          <a:prstGeom prst="rect">
            <a:avLst/>
          </a:prstGeom>
          <a:noFill/>
          <a:ln/>
        </p:spPr>
        <p:txBody>
          <a:bodyPr wrap="square" lIns="0" tIns="0" rIns="0" bIns="0" rtlCol="0" anchor="t"/>
          <a:lstStyle/>
          <a:p>
            <a:pPr algn="l" indent="0" marL="0">
              <a:buNone/>
            </a:pPr>
            <a:r>
              <a:rPr lang="en-US" sz="1200" dirty="0">
                <a:solidFill>
                  <a:schemeClr val="tx2"/>
                </a:solidFill>
              </a:rPr>
              <a:t>risk, A0 → C, with the tower (GA noise ~1%)</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Wing box: uncertainty-driven vs risk-driven</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run_inspection_experiment() → panel 10 · a separate experiment, outside the six-step ladder (CLAUDE.md §5)</a:t>
            </a:r>
            <a:endParaRPr lang="en-US" sz="1600" dirty="0"/>
          </a:p>
        </p:txBody>
      </p:sp>
      <p:sp>
        <p:nvSpPr>
          <p:cNvPr id="4" name="build_wing_box_part()"/>
          <p:cNvSpPr txBox="1"/>
          <p:nvPr/>
        </p:nvSpPr>
        <p:spPr>
          <a:xfrm>
            <a:off x="548640" y="1554480"/>
            <a:ext cx="1920240" cy="868680"/>
          </a:xfrm>
          <a:prstGeom prst="rect">
            <a:avLst/>
          </a:prstGeom>
          <a:solidFill>
            <a:schemeClr val="bg2"/>
          </a:solidFill>
          <a:ln w="12700">
            <a:solidFill>
              <a:schemeClr val="accent4"/>
            </a:solidFill>
          </a:ln>
        </p:spPr>
        <p:txBody>
          <a:bodyPr wrap="square" lIns="63500" tIns="63500" rIns="63500" bIns="63500" rtlCol="0" anchor="ctr"/>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build_wing_box_part()</a:t>
            </a:r>
            <a:endParaRPr lang="en-US" sz="1100" dirty="0"/>
          </a:p>
          <a:p>
            <a:pPr algn="ctr" indent="0" marL="0">
              <a:buNone/>
            </a:pPr>
            <a:r>
              <a:rPr lang="en-US" sz="1050" dirty="0">
                <a:solidFill>
                  <a:schemeClr val="tx2"/>
                </a:solidFill>
              </a:rPr>
              <a:t>500 points · 6 tasks · synthetic stand-in</a:t>
            </a:r>
            <a:endParaRPr lang="en-US" sz="1100" dirty="0"/>
          </a:p>
        </p:txBody>
      </p:sp>
      <p:sp>
        <p:nvSpPr>
          <p:cNvPr id="5" name="visibility_matrix()"/>
          <p:cNvSpPr txBox="1"/>
          <p:nvPr/>
        </p:nvSpPr>
        <p:spPr>
          <a:xfrm>
            <a:off x="2606040" y="1554480"/>
            <a:ext cx="1920240" cy="868680"/>
          </a:xfrm>
          <a:prstGeom prst="roundRect">
            <a:avLst>
              <a:gd name="adj" fmla="val 8421"/>
            </a:avLst>
          </a:prstGeom>
          <a:solidFill>
            <a:schemeClr val="accent1"/>
          </a:solidFill>
          <a:ln/>
        </p:spPr>
        <p:txBody>
          <a:bodyPr wrap="square" lIns="38100" tIns="38100" rIns="38100" bIns="38100" rtlCol="0" anchor="ctr"/>
          <a:lstStyle/>
          <a:p>
            <a:pPr algn="ctr" indent="0" marL="0">
              <a:buNone/>
            </a:pPr>
            <a:r>
              <a:rPr lang="en-US" sz="850" b="1" dirty="0">
                <a:solidFill>
                  <a:schemeClr val="bg1"/>
                </a:solidFill>
                <a:latin typeface="Courier New" pitchFamily="34" charset="0"/>
                <a:ea typeface="Courier New" pitchFamily="34" charset="-122"/>
                <a:cs typeface="Courier New" pitchFamily="34" charset="-120"/>
              </a:rPr>
              <a:t>visibility_matrix()</a:t>
            </a:r>
            <a:endParaRPr lang="en-US" sz="850" dirty="0"/>
          </a:p>
          <a:p>
            <a:pPr algn="ctr" indent="0" marL="0">
              <a:buNone/>
            </a:pPr>
            <a:r>
              <a:rPr lang="en-US" sz="1000" dirty="0">
                <a:solidFill>
                  <a:schemeClr val="bg1"/>
                </a:solidFill>
              </a:rPr>
              <a:t>range · incidence · ray-cast</a:t>
            </a:r>
            <a:endParaRPr lang="en-US" sz="850" dirty="0"/>
          </a:p>
        </p:txBody>
      </p:sp>
      <p:sp>
        <p:nvSpPr>
          <p:cNvPr id="6" name="design_point_covariances()"/>
          <p:cNvSpPr txBox="1"/>
          <p:nvPr/>
        </p:nvSpPr>
        <p:spPr>
          <a:xfrm>
            <a:off x="4617720" y="1554480"/>
            <a:ext cx="1920240" cy="868680"/>
          </a:xfrm>
          <a:prstGeom prst="roundRect">
            <a:avLst>
              <a:gd name="adj" fmla="val 8421"/>
            </a:avLst>
          </a:prstGeom>
          <a:solidFill>
            <a:schemeClr val="accent1"/>
          </a:solidFill>
          <a:ln/>
        </p:spPr>
        <p:txBody>
          <a:bodyPr wrap="square" lIns="38100" tIns="38100" rIns="38100" bIns="38100" rtlCol="0" anchor="ctr"/>
          <a:lstStyle/>
          <a:p>
            <a:pPr algn="ctr" indent="0" marL="0">
              <a:buNone/>
            </a:pPr>
            <a:r>
              <a:rPr lang="en-US" sz="850" b="1" dirty="0">
                <a:solidFill>
                  <a:schemeClr val="bg1"/>
                </a:solidFill>
                <a:latin typeface="Courier New" pitchFamily="34" charset="0"/>
                <a:ea typeface="Courier New" pitchFamily="34" charset="-122"/>
                <a:cs typeface="Courier New" pitchFamily="34" charset="-120"/>
              </a:rPr>
              <a:t>design_point_covariances()</a:t>
            </a:r>
            <a:endParaRPr lang="en-US" sz="850" dirty="0"/>
          </a:p>
          <a:p>
            <a:pPr algn="ctr" indent="0" marL="0">
              <a:buNone/>
            </a:pPr>
            <a:r>
              <a:rPr lang="en-US" sz="1000" dirty="0">
                <a:solidFill>
                  <a:schemeClr val="bg1"/>
                </a:solidFill>
              </a:rPr>
              <a:t>rigid network, or rejected</a:t>
            </a:r>
            <a:endParaRPr lang="en-US" sz="850" dirty="0"/>
          </a:p>
        </p:txBody>
      </p:sp>
      <p:sp>
        <p:nvSpPr>
          <p:cNvPr id="7" name="projected_uncertainty_m()"/>
          <p:cNvSpPr txBox="1"/>
          <p:nvPr/>
        </p:nvSpPr>
        <p:spPr>
          <a:xfrm>
            <a:off x="6629400" y="1554480"/>
            <a:ext cx="1920240" cy="868680"/>
          </a:xfrm>
          <a:prstGeom prst="roundRect">
            <a:avLst>
              <a:gd name="adj" fmla="val 8421"/>
            </a:avLst>
          </a:prstGeom>
          <a:solidFill>
            <a:schemeClr val="accent1"/>
          </a:solidFill>
          <a:ln/>
        </p:spPr>
        <p:txBody>
          <a:bodyPr wrap="square" lIns="38100" tIns="38100" rIns="38100" bIns="38100" rtlCol="0" anchor="ctr"/>
          <a:lstStyle/>
          <a:p>
            <a:pPr algn="ctr" indent="0" marL="0">
              <a:buNone/>
            </a:pPr>
            <a:r>
              <a:rPr lang="en-US" sz="850" b="1" dirty="0">
                <a:solidFill>
                  <a:schemeClr val="bg1"/>
                </a:solidFill>
                <a:latin typeface="Courier New" pitchFamily="34" charset="0"/>
                <a:ea typeface="Courier New" pitchFamily="34" charset="-122"/>
                <a:cs typeface="Courier New" pitchFamily="34" charset="-120"/>
              </a:rPr>
              <a:t>projected_uncertainty_m()</a:t>
            </a:r>
            <a:endParaRPr lang="en-US" sz="850" dirty="0"/>
          </a:p>
          <a:p>
            <a:pPr algn="ctr" indent="0" marL="0">
              <a:buNone/>
            </a:pPr>
            <a:r>
              <a:rPr lang="en-US" sz="1000" dirty="0">
                <a:solidFill>
                  <a:schemeClr val="bg1"/>
                </a:solidFill>
              </a:rPr>
              <a:t>u along the surface normal</a:t>
            </a:r>
            <a:endParaRPr lang="en-US" sz="850" dirty="0"/>
          </a:p>
        </p:txBody>
      </p:sp>
      <p:sp>
        <p:nvSpPr>
          <p:cNvPr id="8" name="RiskTable"/>
          <p:cNvSpPr txBox="1"/>
          <p:nvPr/>
        </p:nvSpPr>
        <p:spPr>
          <a:xfrm>
            <a:off x="8641080" y="1554480"/>
            <a:ext cx="1920240" cy="868680"/>
          </a:xfrm>
          <a:prstGeom prst="roundRect">
            <a:avLst>
              <a:gd name="adj" fmla="val 8421"/>
            </a:avLst>
          </a:prstGeom>
          <a:solidFill>
            <a:schemeClr val="accent1"/>
          </a:solidFill>
          <a:ln/>
        </p:spPr>
        <p:txBody>
          <a:bodyPr wrap="square" lIns="38100" tIns="38100" rIns="38100" bIns="38100" rtlCol="0" anchor="ctr"/>
          <a:lstStyle/>
          <a:p>
            <a:pPr algn="ctr" indent="0" marL="0">
              <a:buNone/>
            </a:pPr>
            <a:r>
              <a:rPr lang="en-US" sz="850" b="1" dirty="0">
                <a:solidFill>
                  <a:schemeClr val="bg1"/>
                </a:solidFill>
                <a:latin typeface="Courier New" pitchFamily="34" charset="0"/>
                <a:ea typeface="Courier New" pitchFamily="34" charset="-122"/>
                <a:cs typeface="Courier New" pitchFamily="34" charset="-120"/>
              </a:rPr>
              <a:t>RiskTable</a:t>
            </a:r>
            <a:endParaRPr lang="en-US" sz="850" dirty="0"/>
          </a:p>
          <a:p>
            <a:pPr algn="ctr" indent="0" marL="0">
              <a:buNone/>
            </a:pPr>
            <a:r>
              <a:rPr lang="en-US" sz="1000" dirty="0">
                <a:solidFill>
                  <a:schemeClr val="bg1"/>
                </a:solidFill>
              </a:rPr>
              <a:t>JCGM 106 · cluster priors</a:t>
            </a:r>
            <a:endParaRPr lang="en-US" sz="850" dirty="0"/>
          </a:p>
        </p:txBody>
      </p:sp>
      <p:sp>
        <p:nvSpPr>
          <p:cNvPr id="9" name="Shape 7"/>
          <p:cNvSpPr/>
          <p:nvPr/>
        </p:nvSpPr>
        <p:spPr>
          <a:xfrm>
            <a:off x="2468880" y="1988820"/>
            <a:ext cx="137160" cy="0"/>
          </a:xfrm>
          <a:prstGeom prst="line">
            <a:avLst/>
          </a:prstGeom>
          <a:noFill/>
          <a:ln w="19050">
            <a:solidFill>
              <a:schemeClr val="accent4"/>
            </a:solidFill>
            <a:prstDash val="solid"/>
            <a:tailEnd type="triangle"/>
          </a:ln>
        </p:spPr>
      </p:sp>
      <p:sp>
        <p:nvSpPr>
          <p:cNvPr id="10" name="Shape 8"/>
          <p:cNvSpPr/>
          <p:nvPr/>
        </p:nvSpPr>
        <p:spPr>
          <a:xfrm>
            <a:off x="4526280" y="1988820"/>
            <a:ext cx="91440" cy="0"/>
          </a:xfrm>
          <a:prstGeom prst="line">
            <a:avLst/>
          </a:prstGeom>
          <a:noFill/>
          <a:ln w="19050">
            <a:solidFill>
              <a:schemeClr val="accent4"/>
            </a:solidFill>
            <a:prstDash val="solid"/>
            <a:tailEnd type="triangle"/>
          </a:ln>
        </p:spPr>
      </p:sp>
      <p:sp>
        <p:nvSpPr>
          <p:cNvPr id="11" name="Shape 9"/>
          <p:cNvSpPr/>
          <p:nvPr/>
        </p:nvSpPr>
        <p:spPr>
          <a:xfrm>
            <a:off x="6537960" y="1988820"/>
            <a:ext cx="91440" cy="0"/>
          </a:xfrm>
          <a:prstGeom prst="line">
            <a:avLst/>
          </a:prstGeom>
          <a:noFill/>
          <a:ln w="19050">
            <a:solidFill>
              <a:schemeClr val="accent4"/>
            </a:solidFill>
            <a:prstDash val="solid"/>
            <a:tailEnd type="triangle"/>
          </a:ln>
        </p:spPr>
      </p:sp>
      <p:sp>
        <p:nvSpPr>
          <p:cNvPr id="12" name="Shape 10"/>
          <p:cNvSpPr/>
          <p:nvPr/>
        </p:nvSpPr>
        <p:spPr>
          <a:xfrm>
            <a:off x="8549640" y="1988820"/>
            <a:ext cx="91440" cy="0"/>
          </a:xfrm>
          <a:prstGeom prst="line">
            <a:avLst/>
          </a:prstGeom>
          <a:noFill/>
          <a:ln w="19050">
            <a:solidFill>
              <a:schemeClr val="accent4"/>
            </a:solidFill>
            <a:prstDash val="solid"/>
            <a:tailEnd type="triangle"/>
          </a:ln>
        </p:spPr>
      </p:sp>
      <p:sp>
        <p:nvSpPr>
          <p:cNvPr id="13" name="Plan U · uncertainty-driven"/>
          <p:cNvSpPr txBox="1"/>
          <p:nvPr/>
        </p:nvSpPr>
        <p:spPr>
          <a:xfrm>
            <a:off x="548640" y="2697480"/>
            <a:ext cx="5394960" cy="868680"/>
          </a:xfrm>
          <a:prstGeom prst="roundRect">
            <a:avLst>
              <a:gd name="adj" fmla="val 8421"/>
            </a:avLst>
          </a:prstGeom>
          <a:solidFill>
            <a:schemeClr val="accent1"/>
          </a:solidFill>
          <a:ln/>
        </p:spPr>
        <p:txBody>
          <a:bodyPr wrap="square" lIns="63500" tIns="63500" rIns="63500" bIns="63500" rtlCol="0" anchor="ctr"/>
          <a:lstStyle/>
          <a:p>
            <a:pPr algn="ctr" indent="0" marL="0">
              <a:buNone/>
            </a:pPr>
            <a:r>
              <a:rPr lang="en-US" sz="1300" b="1" dirty="0">
                <a:solidFill>
                  <a:schemeClr val="bg1"/>
                </a:solidFill>
              </a:rPr>
              <a:t>Plan U · uncertainty-driven</a:t>
            </a:r>
            <a:endParaRPr lang="en-US" sz="1300" dirty="0"/>
          </a:p>
          <a:p>
            <a:pPr algn="ctr" indent="0" marL="0">
              <a:buNone/>
            </a:pPr>
            <a:r>
              <a:rPr lang="en-US" sz="1100" dirty="0">
                <a:solidFill>
                  <a:schemeClr val="bg1"/>
                </a:solidFill>
              </a:rPr>
              <a:t>A-optimal: minimise mean variance, every point measured; station count from the knee of the curve</a:t>
            </a:r>
            <a:endParaRPr lang="en-US" sz="1300" dirty="0"/>
          </a:p>
        </p:txBody>
      </p:sp>
      <p:sp>
        <p:nvSpPr>
          <p:cNvPr id="14" name="Plan R · risk-driven"/>
          <p:cNvSpPr txBox="1"/>
          <p:nvPr/>
        </p:nvSpPr>
        <p:spPr>
          <a:xfrm>
            <a:off x="6217920" y="2697480"/>
            <a:ext cx="5394960" cy="868680"/>
          </a:xfrm>
          <a:prstGeom prst="roundRect">
            <a:avLst>
              <a:gd name="adj" fmla="val 8421"/>
            </a:avLst>
          </a:prstGeom>
          <a:solidFill>
            <a:schemeClr val="accent1"/>
          </a:solidFill>
          <a:ln/>
        </p:spPr>
        <p:txBody>
          <a:bodyPr wrap="square" lIns="63500" tIns="63500" rIns="63500" bIns="63500" rtlCol="0" anchor="ctr"/>
          <a:lstStyle/>
          <a:p>
            <a:pPr algn="ctr" indent="0" marL="0">
              <a:buNone/>
            </a:pPr>
            <a:r>
              <a:rPr lang="en-US" sz="1300" b="1" dirty="0">
                <a:solidFill>
                  <a:schemeClr val="bg1"/>
                </a:solidFill>
              </a:rPr>
              <a:t>Plan R · risk-driven</a:t>
            </a:r>
            <a:endParaRPr lang="en-US" sz="1300" dirty="0"/>
          </a:p>
          <a:p>
            <a:pPr algn="ctr" indent="0" marL="0">
              <a:buNone/>
            </a:pPr>
            <a:r>
              <a:rPr lang="en-US" sz="1100" dirty="0">
                <a:solidFill>
                  <a:schemeClr val="bg1"/>
                </a:solidFill>
              </a:rPr>
              <a:t>fewest stations with P(escape) and E[false rejects] within a limit; unmeasured points priced at process risk</a:t>
            </a:r>
            <a:endParaRPr lang="en-US" sz="1300" dirty="0"/>
          </a:p>
        </p:txBody>
      </p:sp>
      <p:sp>
        <p:nvSpPr>
          <p:cNvPr id="15" name="Shape 13"/>
          <p:cNvSpPr/>
          <p:nvPr/>
        </p:nvSpPr>
        <p:spPr>
          <a:xfrm>
            <a:off x="9601200" y="2423160"/>
            <a:ext cx="0" cy="274320"/>
          </a:xfrm>
          <a:prstGeom prst="line">
            <a:avLst/>
          </a:prstGeom>
          <a:noFill/>
          <a:ln w="19050">
            <a:solidFill>
              <a:schemeClr val="accent4"/>
            </a:solidFill>
            <a:prstDash val="dash"/>
            <a:tailEnd type="triangle"/>
          </a:ln>
        </p:spPr>
      </p:sp>
      <p:pic>
        <p:nvPicPr>
          <p:cNvPr id="16" name="Image 0" descr="Panel 10c: criterion and risk versus station count">    </p:cNvPr>
          <p:cNvPicPr>
            <a:picLocks noChangeAspect="1"/>
          </p:cNvPicPr>
          <p:nvPr/>
        </p:nvPicPr>
        <p:blipFill>
          <a:blip r:embed="rId1"/>
          <a:stretch>
            <a:fillRect/>
          </a:stretch>
        </p:blipFill>
        <p:spPr>
          <a:xfrm>
            <a:off x="548640" y="3840480"/>
            <a:ext cx="5943600" cy="1803575"/>
          </a:xfrm>
          <a:prstGeom prst="rect">
            <a:avLst/>
          </a:prstGeom>
        </p:spPr>
      </p:pic>
      <p:sp>
        <p:nvSpPr>
          <p:cNvPr id="17" name="Shape 14"/>
          <p:cNvSpPr/>
          <p:nvPr/>
        </p:nvSpPr>
        <p:spPr>
          <a:xfrm>
            <a:off x="548640" y="3840480"/>
            <a:ext cx="5943600" cy="1803575"/>
          </a:xfrm>
          <a:prstGeom prst="rect">
            <a:avLst/>
          </a:prstGeom>
          <a:ln w="12700">
            <a:solidFill>
              <a:schemeClr val="bg2"/>
            </a:solidFill>
            <a:prstDash val="solid"/>
          </a:ln>
        </p:spPr>
      </p:sp>
      <p:sp>
        <p:nvSpPr>
          <p:cNvPr id="18" name="Text 15"/>
          <p:cNvSpPr txBox="1"/>
          <p:nvPr/>
        </p:nvSpPr>
        <p:spPr>
          <a:xfrm>
            <a:off x="548640" y="5698919"/>
            <a:ext cx="5943600" cy="274320"/>
          </a:xfrm>
          <a:prstGeom prst="rect">
            <a:avLst/>
          </a:prstGeom>
          <a:noFill/>
          <a:ln/>
        </p:spPr>
        <p:txBody>
          <a:bodyPr wrap="square" lIns="0" tIns="0" rIns="0" bIns="0" rtlCol="0" anchor="ctr"/>
          <a:lstStyle/>
          <a:p>
            <a:pPr algn="ctr" indent="0" marL="0">
              <a:buNone/>
            </a:pPr>
            <a:r>
              <a:rPr lang="en-US" sz="1050" i="1" dirty="0">
                <a:solidFill>
                  <a:schemeClr val="tx2"/>
                </a:solidFill>
              </a:rPr>
              <a:t>same GA, bounds and seeding for both plans; only the objective differs</a:t>
            </a:r>
            <a:endParaRPr lang="en-US" sz="1050" dirty="0"/>
          </a:p>
        </p:txBody>
      </p:sp>
      <p:sp>
        <p:nvSpPr>
          <p:cNvPr id="19" name="Shape 16"/>
          <p:cNvSpPr/>
          <p:nvPr/>
        </p:nvSpPr>
        <p:spPr>
          <a:xfrm>
            <a:off x="6675120" y="3840480"/>
            <a:ext cx="1572768" cy="1371600"/>
          </a:xfrm>
          <a:prstGeom prst="roundRect">
            <a:avLst>
              <a:gd name="adj" fmla="val 5333"/>
            </a:avLst>
          </a:prstGeom>
          <a:solidFill>
            <a:schemeClr val="bg2"/>
          </a:solidFill>
          <a:ln/>
        </p:spPr>
      </p:sp>
      <p:sp>
        <p:nvSpPr>
          <p:cNvPr id="20" name="Text 17"/>
          <p:cNvSpPr txBox="1"/>
          <p:nvPr/>
        </p:nvSpPr>
        <p:spPr>
          <a:xfrm>
            <a:off x="6812280" y="3886200"/>
            <a:ext cx="1298448" cy="795528"/>
          </a:xfrm>
          <a:prstGeom prst="rect">
            <a:avLst/>
          </a:prstGeom>
          <a:noFill/>
          <a:ln/>
        </p:spPr>
        <p:txBody>
          <a:bodyPr wrap="square" lIns="0" tIns="0" rIns="0" bIns="0" rtlCol="0" anchor="b"/>
          <a:lstStyle/>
          <a:p>
            <a:pPr algn="l" indent="0" marL="0">
              <a:buNone/>
            </a:pPr>
            <a:r>
              <a:rPr lang="en-US" sz="3200" b="1" dirty="0">
                <a:solidFill>
                  <a:schemeClr val="accent1"/>
                </a:solidFill>
                <a:latin typeface="Cambria" pitchFamily="34" charset="0"/>
                <a:ea typeface="Cambria" pitchFamily="34" charset="-122"/>
                <a:cs typeface="Cambria" pitchFamily="34" charset="-120"/>
              </a:rPr>
              <a:t>9 → 3</a:t>
            </a:r>
            <a:endParaRPr lang="en-US" sz="3200" dirty="0"/>
          </a:p>
        </p:txBody>
      </p:sp>
      <p:sp>
        <p:nvSpPr>
          <p:cNvPr id="21" name="Text 18"/>
          <p:cNvSpPr txBox="1"/>
          <p:nvPr/>
        </p:nvSpPr>
        <p:spPr>
          <a:xfrm>
            <a:off x="6812280" y="4690872"/>
            <a:ext cx="1298448" cy="452628"/>
          </a:xfrm>
          <a:prstGeom prst="rect">
            <a:avLst/>
          </a:prstGeom>
          <a:noFill/>
          <a:ln/>
        </p:spPr>
        <p:txBody>
          <a:bodyPr wrap="square" lIns="0" tIns="0" rIns="0" bIns="0" rtlCol="0" anchor="t"/>
          <a:lstStyle/>
          <a:p>
            <a:pPr algn="l" indent="0" marL="0">
              <a:buNone/>
            </a:pPr>
            <a:r>
              <a:rPr lang="en-US" sz="1200" dirty="0">
                <a:solidFill>
                  <a:schemeClr val="tx2"/>
                </a:solidFill>
              </a:rPr>
              <a:t>stations: U vs R held to U's own risk</a:t>
            </a:r>
            <a:endParaRPr lang="en-US" sz="1200" dirty="0"/>
          </a:p>
        </p:txBody>
      </p:sp>
      <p:sp>
        <p:nvSpPr>
          <p:cNvPr id="22" name="Shape 19"/>
          <p:cNvSpPr/>
          <p:nvPr/>
        </p:nvSpPr>
        <p:spPr>
          <a:xfrm>
            <a:off x="8311896" y="3840480"/>
            <a:ext cx="1572768" cy="1371600"/>
          </a:xfrm>
          <a:prstGeom prst="roundRect">
            <a:avLst>
              <a:gd name="adj" fmla="val 5333"/>
            </a:avLst>
          </a:prstGeom>
          <a:solidFill>
            <a:schemeClr val="bg2"/>
          </a:solidFill>
          <a:ln/>
        </p:spPr>
      </p:sp>
      <p:sp>
        <p:nvSpPr>
          <p:cNvPr id="23" name="Text 20"/>
          <p:cNvSpPr txBox="1"/>
          <p:nvPr/>
        </p:nvSpPr>
        <p:spPr>
          <a:xfrm>
            <a:off x="8449056" y="3886200"/>
            <a:ext cx="1298448" cy="795528"/>
          </a:xfrm>
          <a:prstGeom prst="rect">
            <a:avLst/>
          </a:prstGeom>
          <a:noFill/>
          <a:ln/>
        </p:spPr>
        <p:txBody>
          <a:bodyPr wrap="square" lIns="0" tIns="0" rIns="0" bIns="0" rtlCol="0" anchor="b"/>
          <a:lstStyle/>
          <a:p>
            <a:pPr algn="l" indent="0" marL="0">
              <a:buNone/>
            </a:pPr>
            <a:r>
              <a:rPr lang="en-US" sz="3200" b="1" dirty="0">
                <a:solidFill>
                  <a:schemeClr val="accent1"/>
                </a:solidFill>
                <a:latin typeface="Cambria" pitchFamily="34" charset="0"/>
                <a:ea typeface="Cambria" pitchFamily="34" charset="-122"/>
                <a:cs typeface="Cambria" pitchFamily="34" charset="-120"/>
              </a:rPr>
              <a:t>−41%</a:t>
            </a:r>
            <a:endParaRPr lang="en-US" sz="3200" dirty="0"/>
          </a:p>
        </p:txBody>
      </p:sp>
      <p:sp>
        <p:nvSpPr>
          <p:cNvPr id="24" name="Text 21"/>
          <p:cNvSpPr txBox="1"/>
          <p:nvPr/>
        </p:nvSpPr>
        <p:spPr>
          <a:xfrm>
            <a:off x="8449056" y="4690872"/>
            <a:ext cx="1298448" cy="452628"/>
          </a:xfrm>
          <a:prstGeom prst="rect">
            <a:avLst/>
          </a:prstGeom>
          <a:noFill/>
          <a:ln/>
        </p:spPr>
        <p:txBody>
          <a:bodyPr wrap="square" lIns="0" tIns="0" rIns="0" bIns="0" rtlCol="0" anchor="t"/>
          <a:lstStyle/>
          <a:p>
            <a:pPr algn="l" indent="0" marL="0">
              <a:buNone/>
            </a:pPr>
            <a:r>
              <a:rPr lang="en-US" sz="1200" dirty="0">
                <a:solidFill>
                  <a:schemeClr val="tx2"/>
                </a:solidFill>
              </a:rPr>
              <a:t>shots (1151 → 679)</a:t>
            </a:r>
            <a:endParaRPr lang="en-US" sz="1200" dirty="0"/>
          </a:p>
        </p:txBody>
      </p:sp>
      <p:sp>
        <p:nvSpPr>
          <p:cNvPr id="25" name="Shape 22"/>
          <p:cNvSpPr/>
          <p:nvPr/>
        </p:nvSpPr>
        <p:spPr>
          <a:xfrm>
            <a:off x="9948672" y="3840480"/>
            <a:ext cx="1572768" cy="1371600"/>
          </a:xfrm>
          <a:prstGeom prst="roundRect">
            <a:avLst>
              <a:gd name="adj" fmla="val 5333"/>
            </a:avLst>
          </a:prstGeom>
          <a:solidFill>
            <a:schemeClr val="bg2"/>
          </a:solidFill>
          <a:ln/>
        </p:spPr>
      </p:sp>
      <p:sp>
        <p:nvSpPr>
          <p:cNvPr id="26" name="Text 23"/>
          <p:cNvSpPr txBox="1"/>
          <p:nvPr/>
        </p:nvSpPr>
        <p:spPr>
          <a:xfrm>
            <a:off x="10085832" y="3886200"/>
            <a:ext cx="1298448" cy="795528"/>
          </a:xfrm>
          <a:prstGeom prst="rect">
            <a:avLst/>
          </a:prstGeom>
          <a:noFill/>
          <a:ln/>
        </p:spPr>
        <p:txBody>
          <a:bodyPr wrap="square" lIns="0" tIns="0" rIns="0" bIns="0" rtlCol="0" anchor="b"/>
          <a:lstStyle/>
          <a:p>
            <a:pPr algn="l" indent="0" marL="0">
              <a:buNone/>
            </a:pPr>
            <a:r>
              <a:rPr lang="en-US" sz="3200" b="1" dirty="0">
                <a:solidFill>
                  <a:schemeClr val="accent3"/>
                </a:solidFill>
                <a:latin typeface="Cambria" pitchFamily="34" charset="0"/>
                <a:ea typeface="Cambria" pitchFamily="34" charset="-122"/>
                <a:cs typeface="Cambria" pitchFamily="34" charset="-120"/>
              </a:rPr>
              <a:t>29×</a:t>
            </a:r>
            <a:endParaRPr lang="en-US" sz="3200" dirty="0"/>
          </a:p>
        </p:txBody>
      </p:sp>
      <p:sp>
        <p:nvSpPr>
          <p:cNvPr id="27" name="Text 24"/>
          <p:cNvSpPr txBox="1"/>
          <p:nvPr/>
        </p:nvSpPr>
        <p:spPr>
          <a:xfrm>
            <a:off x="10085832" y="4690872"/>
            <a:ext cx="1298448" cy="452628"/>
          </a:xfrm>
          <a:prstGeom prst="rect">
            <a:avLst/>
          </a:prstGeom>
          <a:noFill/>
          <a:ln/>
        </p:spPr>
        <p:txBody>
          <a:bodyPr wrap="square" lIns="0" tIns="0" rIns="0" bIns="0" rtlCol="0" anchor="t"/>
          <a:lstStyle/>
          <a:p>
            <a:pPr algn="l" indent="0" marL="0">
              <a:buNone/>
            </a:pPr>
            <a:r>
              <a:rPr lang="en-US" sz="1200" dirty="0">
                <a:solidFill>
                  <a:schemeClr val="tx2"/>
                </a:solidFill>
              </a:rPr>
              <a:t>fewer expected false rejects</a:t>
            </a:r>
            <a:endParaRPr lang="en-US" sz="1200" dirty="0"/>
          </a:p>
        </p:txBody>
      </p:sp>
      <p:sp>
        <p:nvSpPr>
          <p:cNvPr id="28" name="CAVEAT callout"/>
          <p:cNvSpPr txBox="1"/>
          <p:nvPr/>
        </p:nvSpPr>
        <p:spPr>
          <a:xfrm>
            <a:off x="6675120" y="5321808"/>
            <a:ext cx="4846320" cy="868680"/>
          </a:xfrm>
          <a:prstGeom prst="roundRect">
            <a:avLst>
              <a:gd name="adj" fmla="val 8421"/>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100" b="1" dirty="0">
                <a:solidFill>
                  <a:schemeClr val="accent3"/>
                </a:solidFill>
              </a:rPr>
              <a:t>CAVEAT   </a:t>
            </a:r>
            <a:pPr algn="l" indent="0" marL="0">
              <a:buNone/>
            </a:pPr>
            <a:r>
              <a:rPr lang="en-US" sz="1100" dirty="0">
                <a:solidFill>
                  <a:schemeClr val="tx1"/>
                </a:solidFill>
              </a:rPr>
              <a:t>synthetic part, placeholder process clusters and priors. No published aerospace false-accept limit exists, so R is held to U's realised risk, not an invented one.</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What the saving depends on</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17 one-at-a-time changes; each is a full search (panel 10d)</a:t>
            </a:r>
            <a:endParaRPr lang="en-US" sz="1600" dirty="0"/>
          </a:p>
        </p:txBody>
      </p:sp>
      <p:pic>
        <p:nvPicPr>
          <p:cNvPr id="4" name="Image 0" descr="Panel 10d: stations needed by each plan across variants">    </p:cNvPr>
          <p:cNvPicPr>
            <a:picLocks noChangeAspect="1"/>
          </p:cNvPicPr>
          <p:nvPr/>
        </p:nvPicPr>
        <p:blipFill>
          <a:blip r:embed="rId1"/>
          <a:stretch>
            <a:fillRect/>
          </a:stretch>
        </p:blipFill>
        <p:spPr>
          <a:xfrm>
            <a:off x="548640" y="1508760"/>
            <a:ext cx="2773540" cy="4663440"/>
          </a:xfrm>
          <a:prstGeom prst="rect">
            <a:avLst/>
          </a:prstGeom>
        </p:spPr>
      </p:pic>
      <p:sp>
        <p:nvSpPr>
          <p:cNvPr id="5" name="Shape 2"/>
          <p:cNvSpPr/>
          <p:nvPr/>
        </p:nvSpPr>
        <p:spPr>
          <a:xfrm>
            <a:off x="548640" y="1508760"/>
            <a:ext cx="2773540" cy="4663440"/>
          </a:xfrm>
          <a:prstGeom prst="rect">
            <a:avLst/>
          </a:prstGeom>
          <a:ln w="12700">
            <a:solidFill>
              <a:schemeClr val="bg2"/>
            </a:solidFill>
            <a:prstDash val="solid"/>
          </a:ln>
        </p:spPr>
      </p:sp>
      <p:sp>
        <p:nvSpPr>
          <p:cNvPr id="6" name="ROBUST callout"/>
          <p:cNvSpPr txBox="1"/>
          <p:nvPr/>
        </p:nvSpPr>
        <p:spPr>
          <a:xfrm>
            <a:off x="3642220" y="1554480"/>
            <a:ext cx="7998092" cy="1097280"/>
          </a:xfrm>
          <a:prstGeom prst="roundRect">
            <a:avLst>
              <a:gd name="adj" fmla="val 6667"/>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250" b="1" dirty="0">
                <a:solidFill>
                  <a:schemeClr val="accent1"/>
                </a:solidFill>
              </a:rPr>
              <a:t>ROBUST   </a:t>
            </a:r>
            <a:pPr algn="l" indent="0" marL="0">
              <a:buNone/>
            </a:pPr>
            <a:r>
              <a:rPr lang="en-US" sz="1250" dirty="0">
                <a:solidFill>
                  <a:schemeClr val="tx1"/>
                </a:solidFill>
              </a:rPr>
              <a:t>R needs 3 stations at ±25, ±50, ±100 and ±250 µm and under both prior shapes, because it is always held to whatever plan U delivers there. GA seeds: 3 every time.</a:t>
            </a:r>
            <a:endParaRPr lang="en-US" sz="1250" dirty="0"/>
          </a:p>
        </p:txBody>
      </p:sp>
      <p:sp>
        <p:nvSpPr>
          <p:cNvPr id="7" name="SENSITIVE callout"/>
          <p:cNvSpPr txBox="1"/>
          <p:nvPr/>
        </p:nvSpPr>
        <p:spPr>
          <a:xfrm>
            <a:off x="3642220" y="2788920"/>
            <a:ext cx="7998092" cy="1097280"/>
          </a:xfrm>
          <a:prstGeom prst="roundRect">
            <a:avLst>
              <a:gd name="adj" fmla="val 6667"/>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250" b="1" dirty="0">
                <a:solidFill>
                  <a:schemeClr val="accent1"/>
                </a:solidFill>
              </a:rPr>
              <a:t>SENSITIVE   </a:t>
            </a:r>
            <a:pPr algn="l" indent="0" marL="0">
              <a:buNone/>
            </a:pPr>
            <a:r>
              <a:rPr lang="en-US" sz="1250" dirty="0">
                <a:solidFill>
                  <a:schemeClr val="tx1"/>
                </a:solidFill>
              </a:rPr>
              <a:t>to the assumed cluster assignment: 2 stations if it is certain, 5 if it is only 50% reliable. A stricter limit cannot be bought: the process sets a floor on escape risk.</a:t>
            </a:r>
            <a:endParaRPr lang="en-US" sz="1250" dirty="0"/>
          </a:p>
        </p:txBody>
      </p:sp>
      <p:sp>
        <p:nvSpPr>
          <p:cNvPr id="8" name="VANISHES callout"/>
          <p:cNvSpPr txBox="1"/>
          <p:nvPr/>
        </p:nvSpPr>
        <p:spPr>
          <a:xfrm>
            <a:off x="3642220" y="4023360"/>
            <a:ext cx="7998092" cy="1325880"/>
          </a:xfrm>
          <a:prstGeom prst="roundRect">
            <a:avLst>
              <a:gd name="adj" fmla="val 5517"/>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250" b="1" dirty="0">
                <a:solidFill>
                  <a:schemeClr val="accent3"/>
                </a:solidFill>
              </a:rPr>
              <a:t>VANISHES   </a:t>
            </a:r>
            <a:pPr algn="l" indent="0" marL="0">
              <a:buNone/>
            </a:pPr>
            <a:r>
              <a:rPr lang="en-US" sz="1250" dirty="0">
                <a:solidFill>
                  <a:schemeClr val="tx1"/>
                </a:solidFill>
              </a:rPr>
              <a:t>if the hard-to-see flaps are the marginal cluster, or if policy requires ≥75% of every task measured: R needs 9, plan U's own layout. The saving exists because the expensive points are the ones that rarely fail.</a:t>
            </a:r>
            <a:endParaRPr lang="en-US" sz="1250" dirty="0"/>
          </a:p>
        </p:txBody>
      </p:sp>
      <p:sp>
        <p:nvSpPr>
          <p:cNvPr id="9" name="Text 6"/>
          <p:cNvSpPr txBox="1"/>
          <p:nvPr/>
        </p:nvSpPr>
        <p:spPr>
          <a:xfrm>
            <a:off x="3642220" y="5486400"/>
            <a:ext cx="7998092" cy="502920"/>
          </a:xfrm>
          <a:prstGeom prst="rect">
            <a:avLst/>
          </a:prstGeom>
          <a:noFill/>
          <a:ln/>
        </p:spPr>
        <p:txBody>
          <a:bodyPr wrap="square" lIns="0" tIns="0" rIns="0" bIns="0" rtlCol="0" anchor="ctr"/>
          <a:lstStyle/>
          <a:p>
            <a:pPr algn="l" indent="0" marL="0">
              <a:buNone/>
            </a:pPr>
            <a:r>
              <a:rPr lang="en-US" sz="1200" i="1" dirty="0">
                <a:solidFill>
                  <a:schemeClr val="tx2"/>
                </a:solidFill>
              </a:rPr>
              <a:t>Which features are marginal, and how reliably, is what real process data must decide.</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The ML surrogate and how it is validated</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planning.surrogate · gradient-boosted trees (scikit-learn) standing in for the evaluator, never trusted without re-scoring</a:t>
            </a:r>
            <a:endParaRPr lang="en-US" sz="1600" dirty="0"/>
          </a:p>
        </p:txBody>
      </p:sp>
      <p:sp>
        <p:nvSpPr>
          <p:cNvPr id="4" name="generate_layout_records()"/>
          <p:cNvSpPr txBox="1"/>
          <p:nvPr/>
        </p:nvSpPr>
        <p:spPr>
          <a:xfrm>
            <a:off x="548640" y="1554480"/>
            <a:ext cx="2011680" cy="868680"/>
          </a:xfrm>
          <a:prstGeom prst="roundRect">
            <a:avLst>
              <a:gd name="adj" fmla="val 8421"/>
            </a:avLst>
          </a:prstGeom>
          <a:solidFill>
            <a:schemeClr val="accent1"/>
          </a:solidFill>
          <a:ln/>
        </p:spPr>
        <p:txBody>
          <a:bodyPr wrap="square" lIns="38100" tIns="38100" rIns="38100" bIns="38100" rtlCol="0" anchor="ctr"/>
          <a:lstStyle/>
          <a:p>
            <a:pPr algn="ctr" indent="0" marL="0">
              <a:buNone/>
            </a:pPr>
            <a:r>
              <a:rPr lang="en-US" sz="850" b="1" dirty="0">
                <a:solidFill>
                  <a:schemeClr val="bg1"/>
                </a:solidFill>
                <a:latin typeface="Courier New" pitchFamily="34" charset="0"/>
                <a:ea typeface="Courier New" pitchFamily="34" charset="-122"/>
                <a:cs typeface="Courier New" pitchFamily="34" charset="-120"/>
              </a:rPr>
              <a:t>generate_layout_records()</a:t>
            </a:r>
            <a:endParaRPr lang="en-US" sz="850" dirty="0"/>
          </a:p>
          <a:p>
            <a:pPr algn="ctr" indent="0" marL="0">
              <a:buNone/>
            </a:pPr>
            <a:r>
              <a:rPr lang="en-US" sz="1000" dirty="0">
                <a:solidFill>
                  <a:schemeClr val="bg1"/>
                </a:solidFill>
              </a:rPr>
              <a:t>12,743 simulated layouts</a:t>
            </a:r>
            <a:endParaRPr lang="en-US" sz="850" dirty="0"/>
          </a:p>
        </p:txBody>
      </p:sp>
      <p:sp>
        <p:nvSpPr>
          <p:cNvPr id="5" name="grouped_split()"/>
          <p:cNvSpPr txBox="1"/>
          <p:nvPr/>
        </p:nvSpPr>
        <p:spPr>
          <a:xfrm>
            <a:off x="2798064" y="1554480"/>
            <a:ext cx="2011680" cy="868680"/>
          </a:xfrm>
          <a:prstGeom prst="roundRect">
            <a:avLst>
              <a:gd name="adj" fmla="val 8421"/>
            </a:avLst>
          </a:prstGeom>
          <a:solidFill>
            <a:schemeClr val="accent1"/>
          </a:solidFill>
          <a:ln/>
        </p:spPr>
        <p:txBody>
          <a:bodyPr wrap="square" lIns="38100" tIns="38100" rIns="38100" bIns="38100" rtlCol="0" anchor="ctr"/>
          <a:lstStyle/>
          <a:p>
            <a:pPr algn="ctr" indent="0" marL="0">
              <a:buNone/>
            </a:pPr>
            <a:r>
              <a:rPr lang="en-US" sz="850" b="1" dirty="0">
                <a:solidFill>
                  <a:schemeClr val="bg1"/>
                </a:solidFill>
                <a:latin typeface="Courier New" pitchFamily="34" charset="0"/>
                <a:ea typeface="Courier New" pitchFamily="34" charset="-122"/>
                <a:cs typeface="Courier New" pitchFamily="34" charset="-120"/>
              </a:rPr>
              <a:t>grouped_split()</a:t>
            </a:r>
            <a:endParaRPr lang="en-US" sz="850" dirty="0"/>
          </a:p>
          <a:p>
            <a:pPr algn="ctr" indent="0" marL="0">
              <a:buNone/>
            </a:pPr>
            <a:r>
              <a:rPr lang="en-US" sz="1000" dirty="0">
                <a:solidFill>
                  <a:schemeClr val="bg1"/>
                </a:solidFill>
              </a:rPr>
              <a:t>by base layout; plus a held-out region</a:t>
            </a:r>
            <a:endParaRPr lang="en-US" sz="850" dirty="0"/>
          </a:p>
        </p:txBody>
      </p:sp>
      <p:sp>
        <p:nvSpPr>
          <p:cNvPr id="6" name="LayoutSurrogate"/>
          <p:cNvSpPr txBox="1"/>
          <p:nvPr/>
        </p:nvSpPr>
        <p:spPr>
          <a:xfrm>
            <a:off x="5047488" y="1554480"/>
            <a:ext cx="2011680" cy="868680"/>
          </a:xfrm>
          <a:prstGeom prst="roundRect">
            <a:avLst>
              <a:gd name="adj" fmla="val 8421"/>
            </a:avLst>
          </a:prstGeom>
          <a:solidFill>
            <a:schemeClr val="accent1"/>
          </a:solidFill>
          <a:ln/>
        </p:spPr>
        <p:txBody>
          <a:bodyPr wrap="square" lIns="38100" tIns="38100" rIns="38100" bIns="38100" rtlCol="0" anchor="ctr"/>
          <a:lstStyle/>
          <a:p>
            <a:pPr algn="ctr" indent="0" marL="0">
              <a:buNone/>
            </a:pPr>
            <a:r>
              <a:rPr lang="en-US" sz="850" b="1" dirty="0">
                <a:solidFill>
                  <a:schemeClr val="bg1"/>
                </a:solidFill>
                <a:latin typeface="Courier New" pitchFamily="34" charset="0"/>
                <a:ea typeface="Courier New" pitchFamily="34" charset="-122"/>
                <a:cs typeface="Courier New" pitchFamily="34" charset="-120"/>
              </a:rPr>
              <a:t>LayoutSurrogate</a:t>
            </a:r>
            <a:endParaRPr lang="en-US" sz="850" dirty="0"/>
          </a:p>
          <a:p>
            <a:pPr algn="ctr" indent="0" marL="0">
              <a:buNone/>
            </a:pPr>
            <a:r>
              <a:rPr lang="en-US" sz="1000" dirty="0">
                <a:solidFill>
                  <a:schemeClr val="bg1"/>
                </a:solidFill>
              </a:rPr>
              <a:t>coverage · log risk · rigid?</a:t>
            </a:r>
            <a:endParaRPr lang="en-US" sz="850" dirty="0"/>
          </a:p>
        </p:txBody>
      </p:sp>
      <p:sp>
        <p:nvSpPr>
          <p:cNvPr id="7" name="surrogate_assisted_search()"/>
          <p:cNvSpPr txBox="1"/>
          <p:nvPr/>
        </p:nvSpPr>
        <p:spPr>
          <a:xfrm>
            <a:off x="7296912" y="1554480"/>
            <a:ext cx="2011680" cy="868680"/>
          </a:xfrm>
          <a:prstGeom prst="roundRect">
            <a:avLst>
              <a:gd name="adj" fmla="val 8421"/>
            </a:avLst>
          </a:prstGeom>
          <a:solidFill>
            <a:schemeClr val="accent1"/>
          </a:solidFill>
          <a:ln/>
        </p:spPr>
        <p:txBody>
          <a:bodyPr wrap="square" lIns="38100" tIns="38100" rIns="38100" bIns="38100" rtlCol="0" anchor="ctr"/>
          <a:lstStyle/>
          <a:p>
            <a:pPr algn="ctr" indent="0" marL="0">
              <a:buNone/>
            </a:pPr>
            <a:r>
              <a:rPr lang="en-US" sz="850" b="1" dirty="0">
                <a:solidFill>
                  <a:schemeClr val="bg1"/>
                </a:solidFill>
                <a:latin typeface="Courier New" pitchFamily="34" charset="0"/>
                <a:ea typeface="Courier New" pitchFamily="34" charset="-122"/>
                <a:cs typeface="Courier New" pitchFamily="34" charset="-120"/>
              </a:rPr>
              <a:t>surrogate_assisted_search()</a:t>
            </a:r>
            <a:endParaRPr lang="en-US" sz="850" dirty="0"/>
          </a:p>
          <a:p>
            <a:pPr algn="ctr" indent="0" marL="0">
              <a:buNone/>
            </a:pPr>
            <a:r>
              <a:rPr lang="en-US" sz="1000" dirty="0">
                <a:solidFill>
                  <a:schemeClr val="bg1"/>
                </a:solidFill>
              </a:rPr>
              <a:t>GA on the surrogate, 4 rounds</a:t>
            </a:r>
            <a:endParaRPr lang="en-US" sz="850" dirty="0"/>
          </a:p>
        </p:txBody>
      </p:sp>
      <p:sp>
        <p:nvSpPr>
          <p:cNvPr id="8" name="evaluate_layout()"/>
          <p:cNvSpPr txBox="1"/>
          <p:nvPr/>
        </p:nvSpPr>
        <p:spPr>
          <a:xfrm>
            <a:off x="9546336" y="1554480"/>
            <a:ext cx="2011680" cy="868680"/>
          </a:xfrm>
          <a:prstGeom prst="roundRect">
            <a:avLst>
              <a:gd name="adj" fmla="val 8421"/>
            </a:avLst>
          </a:prstGeom>
          <a:solidFill>
            <a:schemeClr val="accent3"/>
          </a:solidFill>
          <a:ln/>
        </p:spPr>
        <p:txBody>
          <a:bodyPr wrap="square" lIns="38100" tIns="38100" rIns="38100" bIns="38100" rtlCol="0" anchor="ctr"/>
          <a:lstStyle/>
          <a:p>
            <a:pPr algn="ctr" indent="0" marL="0">
              <a:buNone/>
            </a:pPr>
            <a:r>
              <a:rPr lang="en-US" sz="850" b="1" dirty="0">
                <a:solidFill>
                  <a:schemeClr val="bg1"/>
                </a:solidFill>
                <a:latin typeface="Courier New" pitchFamily="34" charset="0"/>
                <a:ea typeface="Courier New" pitchFamily="34" charset="-122"/>
                <a:cs typeface="Courier New" pitchFamily="34" charset="-120"/>
              </a:rPr>
              <a:t>evaluate_layout()</a:t>
            </a:r>
            <a:endParaRPr lang="en-US" sz="850" dirty="0"/>
          </a:p>
          <a:p>
            <a:pPr algn="ctr" indent="0" marL="0">
              <a:buNone/>
            </a:pPr>
            <a:r>
              <a:rPr lang="en-US" sz="1000" dirty="0">
                <a:solidFill>
                  <a:schemeClr val="bg1"/>
                </a:solidFill>
              </a:rPr>
              <a:t>every plan re-scored exactly</a:t>
            </a:r>
            <a:endParaRPr lang="en-US" sz="850" dirty="0"/>
          </a:p>
        </p:txBody>
      </p:sp>
      <p:sp>
        <p:nvSpPr>
          <p:cNvPr id="9" name="Shape 7"/>
          <p:cNvSpPr/>
          <p:nvPr/>
        </p:nvSpPr>
        <p:spPr>
          <a:xfrm>
            <a:off x="2560320" y="1988820"/>
            <a:ext cx="237744" cy="0"/>
          </a:xfrm>
          <a:prstGeom prst="line">
            <a:avLst/>
          </a:prstGeom>
          <a:noFill/>
          <a:ln w="19050">
            <a:solidFill>
              <a:schemeClr val="accent4"/>
            </a:solidFill>
            <a:prstDash val="solid"/>
            <a:tailEnd type="triangle"/>
          </a:ln>
        </p:spPr>
      </p:sp>
      <p:sp>
        <p:nvSpPr>
          <p:cNvPr id="10" name="Shape 8"/>
          <p:cNvSpPr/>
          <p:nvPr/>
        </p:nvSpPr>
        <p:spPr>
          <a:xfrm>
            <a:off x="4809744" y="1988820"/>
            <a:ext cx="237744" cy="0"/>
          </a:xfrm>
          <a:prstGeom prst="line">
            <a:avLst/>
          </a:prstGeom>
          <a:noFill/>
          <a:ln w="19050">
            <a:solidFill>
              <a:schemeClr val="accent4"/>
            </a:solidFill>
            <a:prstDash val="solid"/>
            <a:tailEnd type="triangle"/>
          </a:ln>
        </p:spPr>
      </p:sp>
      <p:sp>
        <p:nvSpPr>
          <p:cNvPr id="11" name="Shape 9"/>
          <p:cNvSpPr/>
          <p:nvPr/>
        </p:nvSpPr>
        <p:spPr>
          <a:xfrm>
            <a:off x="7059168" y="1988820"/>
            <a:ext cx="237744" cy="0"/>
          </a:xfrm>
          <a:prstGeom prst="line">
            <a:avLst/>
          </a:prstGeom>
          <a:noFill/>
          <a:ln w="19050">
            <a:solidFill>
              <a:schemeClr val="accent4"/>
            </a:solidFill>
            <a:prstDash val="solid"/>
            <a:tailEnd type="triangle"/>
          </a:ln>
        </p:spPr>
      </p:sp>
      <p:sp>
        <p:nvSpPr>
          <p:cNvPr id="12" name="Shape 10"/>
          <p:cNvSpPr/>
          <p:nvPr/>
        </p:nvSpPr>
        <p:spPr>
          <a:xfrm>
            <a:off x="9308592" y="1988820"/>
            <a:ext cx="237744" cy="0"/>
          </a:xfrm>
          <a:prstGeom prst="line">
            <a:avLst/>
          </a:prstGeom>
          <a:noFill/>
          <a:ln w="19050">
            <a:solidFill>
              <a:schemeClr val="accent4"/>
            </a:solidFill>
            <a:prstDash val="solid"/>
            <a:tailEnd type="triangle"/>
          </a:ln>
        </p:spPr>
      </p:sp>
      <p:pic>
        <p:nvPicPr>
          <p:cNvPr id="13" name="Image 0" descr="Panel 10e: surrogate vs exact on held-out base layouts">    </p:cNvPr>
          <p:cNvPicPr>
            <a:picLocks noChangeAspect="1"/>
          </p:cNvPicPr>
          <p:nvPr/>
        </p:nvPicPr>
        <p:blipFill>
          <a:blip r:embed="rId1"/>
          <a:stretch>
            <a:fillRect/>
          </a:stretch>
        </p:blipFill>
        <p:spPr>
          <a:xfrm>
            <a:off x="548640" y="2788920"/>
            <a:ext cx="6400800" cy="2100775"/>
          </a:xfrm>
          <a:prstGeom prst="rect">
            <a:avLst/>
          </a:prstGeom>
        </p:spPr>
      </p:pic>
      <p:sp>
        <p:nvSpPr>
          <p:cNvPr id="14" name="Shape 11"/>
          <p:cNvSpPr/>
          <p:nvPr/>
        </p:nvSpPr>
        <p:spPr>
          <a:xfrm>
            <a:off x="548640" y="2788920"/>
            <a:ext cx="6400800" cy="2100775"/>
          </a:xfrm>
          <a:prstGeom prst="rect">
            <a:avLst/>
          </a:prstGeom>
          <a:ln w="12700">
            <a:solidFill>
              <a:schemeClr val="bg2"/>
            </a:solidFill>
            <a:prstDash val="solid"/>
          </a:ln>
        </p:spPr>
      </p:sp>
      <p:sp>
        <p:nvSpPr>
          <p:cNvPr id="15" name="Text 12"/>
          <p:cNvSpPr txBox="1"/>
          <p:nvPr/>
        </p:nvSpPr>
        <p:spPr>
          <a:xfrm>
            <a:off x="548640" y="4944559"/>
            <a:ext cx="6400800" cy="274320"/>
          </a:xfrm>
          <a:prstGeom prst="rect">
            <a:avLst/>
          </a:prstGeom>
          <a:noFill/>
          <a:ln/>
        </p:spPr>
        <p:txBody>
          <a:bodyPr wrap="square" lIns="0" tIns="0" rIns="0" bIns="0" rtlCol="0" anchor="ctr"/>
          <a:lstStyle/>
          <a:p>
            <a:pPr algn="ctr" indent="0" marL="0">
              <a:buNone/>
            </a:pPr>
            <a:r>
              <a:rPr lang="en-US" sz="1050" i="1" dirty="0">
                <a:solidFill>
                  <a:schemeClr val="tx2"/>
                </a:solidFill>
              </a:rPr>
              <a:t>held-out base layouts · every point is a layout the model never saw</a:t>
            </a:r>
            <a:endParaRPr lang="en-US" sz="1050" dirty="0"/>
          </a:p>
        </p:txBody>
      </p:sp>
      <p:sp>
        <p:nvSpPr>
          <p:cNvPr id="16" name="Shape 13"/>
          <p:cNvSpPr/>
          <p:nvPr/>
        </p:nvSpPr>
        <p:spPr>
          <a:xfrm>
            <a:off x="7178040" y="2788920"/>
            <a:ext cx="2103120" cy="1417320"/>
          </a:xfrm>
          <a:prstGeom prst="roundRect">
            <a:avLst>
              <a:gd name="adj" fmla="val 5161"/>
            </a:avLst>
          </a:prstGeom>
          <a:solidFill>
            <a:schemeClr val="bg2"/>
          </a:solidFill>
          <a:ln/>
        </p:spPr>
      </p:sp>
      <p:sp>
        <p:nvSpPr>
          <p:cNvPr id="17" name="Text 14"/>
          <p:cNvSpPr txBox="1"/>
          <p:nvPr/>
        </p:nvSpPr>
        <p:spPr>
          <a:xfrm>
            <a:off x="7315200" y="2834640"/>
            <a:ext cx="1828800" cy="822046"/>
          </a:xfrm>
          <a:prstGeom prst="rect">
            <a:avLst/>
          </a:prstGeom>
          <a:noFill/>
          <a:ln/>
        </p:spPr>
        <p:txBody>
          <a:bodyPr wrap="square" lIns="0" tIns="0" rIns="0" bIns="0" rtlCol="0" anchor="b"/>
          <a:lstStyle/>
          <a:p>
            <a:pPr algn="l" indent="0" marL="0">
              <a:buNone/>
            </a:pPr>
            <a:r>
              <a:rPr lang="en-US" sz="3200" b="1" dirty="0">
                <a:solidFill>
                  <a:schemeClr val="accent1"/>
                </a:solidFill>
                <a:latin typeface="Cambria" pitchFamily="34" charset="0"/>
                <a:ea typeface="Cambria" pitchFamily="34" charset="-122"/>
                <a:cs typeface="Cambria" pitchFamily="34" charset="-120"/>
              </a:rPr>
              <a:t>R² 0.97</a:t>
            </a:r>
            <a:endParaRPr lang="en-US" sz="3200" dirty="0"/>
          </a:p>
        </p:txBody>
      </p:sp>
      <p:sp>
        <p:nvSpPr>
          <p:cNvPr id="18" name="Text 15"/>
          <p:cNvSpPr txBox="1"/>
          <p:nvPr/>
        </p:nvSpPr>
        <p:spPr>
          <a:xfrm>
            <a:off x="7315200" y="3667658"/>
            <a:ext cx="1828800" cy="467716"/>
          </a:xfrm>
          <a:prstGeom prst="rect">
            <a:avLst/>
          </a:prstGeom>
          <a:noFill/>
          <a:ln/>
        </p:spPr>
        <p:txBody>
          <a:bodyPr wrap="square" lIns="0" tIns="0" rIns="0" bIns="0" rtlCol="0" anchor="t"/>
          <a:lstStyle/>
          <a:p>
            <a:pPr algn="l" indent="0" marL="0">
              <a:buNone/>
            </a:pPr>
            <a:r>
              <a:rPr lang="en-US" sz="1200" dirty="0">
                <a:solidFill>
                  <a:schemeClr val="tx2"/>
                </a:solidFill>
              </a:rPr>
              <a:t>fraction measured, held out; log P(escape) 0.94</a:t>
            </a:r>
            <a:endParaRPr lang="en-US" sz="1200" dirty="0"/>
          </a:p>
        </p:txBody>
      </p:sp>
      <p:sp>
        <p:nvSpPr>
          <p:cNvPr id="19" name="Shape 16"/>
          <p:cNvSpPr/>
          <p:nvPr/>
        </p:nvSpPr>
        <p:spPr>
          <a:xfrm>
            <a:off x="9390888" y="2788920"/>
            <a:ext cx="2103120" cy="1417320"/>
          </a:xfrm>
          <a:prstGeom prst="roundRect">
            <a:avLst>
              <a:gd name="adj" fmla="val 5161"/>
            </a:avLst>
          </a:prstGeom>
          <a:solidFill>
            <a:schemeClr val="bg2"/>
          </a:solidFill>
          <a:ln/>
        </p:spPr>
      </p:sp>
      <p:sp>
        <p:nvSpPr>
          <p:cNvPr id="20" name="Text 17"/>
          <p:cNvSpPr txBox="1"/>
          <p:nvPr/>
        </p:nvSpPr>
        <p:spPr>
          <a:xfrm>
            <a:off x="9528048" y="2834640"/>
            <a:ext cx="1828800" cy="822046"/>
          </a:xfrm>
          <a:prstGeom prst="rect">
            <a:avLst/>
          </a:prstGeom>
          <a:noFill/>
          <a:ln/>
        </p:spPr>
        <p:txBody>
          <a:bodyPr wrap="square" lIns="0" tIns="0" rIns="0" bIns="0" rtlCol="0" anchor="b"/>
          <a:lstStyle/>
          <a:p>
            <a:pPr algn="l" indent="0" marL="0">
              <a:buNone/>
            </a:pPr>
            <a:r>
              <a:rPr lang="en-US" sz="3200" b="1" dirty="0">
                <a:solidFill>
                  <a:schemeClr val="accent3"/>
                </a:solidFill>
                <a:latin typeface="Cambria" pitchFamily="34" charset="0"/>
                <a:ea typeface="Cambria" pitchFamily="34" charset="-122"/>
                <a:cs typeface="Cambria" pitchFamily="34" charset="-120"/>
              </a:rPr>
              <a:t>R² 0.09</a:t>
            </a:r>
            <a:endParaRPr lang="en-US" sz="3200" dirty="0"/>
          </a:p>
        </p:txBody>
      </p:sp>
      <p:sp>
        <p:nvSpPr>
          <p:cNvPr id="21" name="Text 18"/>
          <p:cNvSpPr txBox="1"/>
          <p:nvPr/>
        </p:nvSpPr>
        <p:spPr>
          <a:xfrm>
            <a:off x="9528048" y="3667658"/>
            <a:ext cx="1828800" cy="467716"/>
          </a:xfrm>
          <a:prstGeom prst="rect">
            <a:avLst/>
          </a:prstGeom>
          <a:noFill/>
          <a:ln/>
        </p:spPr>
        <p:txBody>
          <a:bodyPr wrap="square" lIns="0" tIns="0" rIns="0" bIns="0" rtlCol="0" anchor="t"/>
          <a:lstStyle/>
          <a:p>
            <a:pPr algn="l" indent="0" marL="0">
              <a:buNone/>
            </a:pPr>
            <a:r>
              <a:rPr lang="en-US" sz="1200" dirty="0">
                <a:solidFill>
                  <a:schemeClr val="tx2"/>
                </a:solidFill>
              </a:rPr>
              <a:t>E[false rejects], bulk of layouts</a:t>
            </a:r>
            <a:endParaRPr lang="en-US" sz="1200" dirty="0"/>
          </a:p>
        </p:txBody>
      </p:sp>
      <p:sp>
        <p:nvSpPr>
          <p:cNvPr id="22" name="Shape 19"/>
          <p:cNvSpPr/>
          <p:nvPr/>
        </p:nvSpPr>
        <p:spPr>
          <a:xfrm>
            <a:off x="7178040" y="4315968"/>
            <a:ext cx="2103120" cy="1417320"/>
          </a:xfrm>
          <a:prstGeom prst="roundRect">
            <a:avLst>
              <a:gd name="adj" fmla="val 5161"/>
            </a:avLst>
          </a:prstGeom>
          <a:solidFill>
            <a:schemeClr val="bg2"/>
          </a:solidFill>
          <a:ln/>
        </p:spPr>
      </p:sp>
      <p:sp>
        <p:nvSpPr>
          <p:cNvPr id="23" name="Text 20"/>
          <p:cNvSpPr txBox="1"/>
          <p:nvPr/>
        </p:nvSpPr>
        <p:spPr>
          <a:xfrm>
            <a:off x="7315200" y="4361688"/>
            <a:ext cx="1828800" cy="822046"/>
          </a:xfrm>
          <a:prstGeom prst="rect">
            <a:avLst/>
          </a:prstGeom>
          <a:noFill/>
          <a:ln/>
        </p:spPr>
        <p:txBody>
          <a:bodyPr wrap="square" lIns="0" tIns="0" rIns="0" bIns="0" rtlCol="0" anchor="b"/>
          <a:lstStyle/>
          <a:p>
            <a:pPr algn="l" indent="0" marL="0">
              <a:buNone/>
            </a:pPr>
            <a:r>
              <a:rPr lang="en-US" sz="3200" b="1" dirty="0">
                <a:solidFill>
                  <a:schemeClr val="accent1"/>
                </a:solidFill>
                <a:latin typeface="Cambria" pitchFamily="34" charset="0"/>
                <a:ea typeface="Cambria" pitchFamily="34" charset="-122"/>
                <a:cs typeface="Cambria" pitchFamily="34" charset="-120"/>
              </a:rPr>
              <a:t>29–61×</a:t>
            </a:r>
            <a:endParaRPr lang="en-US" sz="3200" dirty="0"/>
          </a:p>
        </p:txBody>
      </p:sp>
      <p:sp>
        <p:nvSpPr>
          <p:cNvPr id="24" name="Text 21"/>
          <p:cNvSpPr txBox="1"/>
          <p:nvPr/>
        </p:nvSpPr>
        <p:spPr>
          <a:xfrm>
            <a:off x="7315200" y="5194706"/>
            <a:ext cx="1828800" cy="467716"/>
          </a:xfrm>
          <a:prstGeom prst="rect">
            <a:avLst/>
          </a:prstGeom>
          <a:noFill/>
          <a:ln/>
        </p:spPr>
        <p:txBody>
          <a:bodyPr wrap="square" lIns="0" tIns="0" rIns="0" bIns="0" rtlCol="0" anchor="t"/>
          <a:lstStyle/>
          <a:p>
            <a:pPr algn="l" indent="0" marL="0">
              <a:buNone/>
            </a:pPr>
            <a:r>
              <a:rPr lang="en-US" sz="1200" dirty="0">
                <a:solidFill>
                  <a:schemeClr val="tx2"/>
                </a:solidFill>
              </a:rPr>
              <a:t>fewer exact evaluations, same station count</a:t>
            </a:r>
            <a:endParaRPr lang="en-US" sz="1200" dirty="0"/>
          </a:p>
        </p:txBody>
      </p:sp>
      <p:sp>
        <p:nvSpPr>
          <p:cNvPr id="25" name="Shape 22"/>
          <p:cNvSpPr/>
          <p:nvPr/>
        </p:nvSpPr>
        <p:spPr>
          <a:xfrm>
            <a:off x="9390888" y="4315968"/>
            <a:ext cx="2103120" cy="1417320"/>
          </a:xfrm>
          <a:prstGeom prst="roundRect">
            <a:avLst>
              <a:gd name="adj" fmla="val 5161"/>
            </a:avLst>
          </a:prstGeom>
          <a:solidFill>
            <a:schemeClr val="bg2"/>
          </a:solidFill>
          <a:ln/>
        </p:spPr>
      </p:sp>
      <p:sp>
        <p:nvSpPr>
          <p:cNvPr id="26" name="Text 23"/>
          <p:cNvSpPr txBox="1"/>
          <p:nvPr/>
        </p:nvSpPr>
        <p:spPr>
          <a:xfrm>
            <a:off x="9528048" y="4361688"/>
            <a:ext cx="1828800" cy="822046"/>
          </a:xfrm>
          <a:prstGeom prst="rect">
            <a:avLst/>
          </a:prstGeom>
          <a:noFill/>
          <a:ln/>
        </p:spPr>
        <p:txBody>
          <a:bodyPr wrap="square" lIns="0" tIns="0" rIns="0" bIns="0" rtlCol="0" anchor="b"/>
          <a:lstStyle/>
          <a:p>
            <a:pPr algn="l" indent="0" marL="0">
              <a:buNone/>
            </a:pPr>
            <a:r>
              <a:rPr lang="en-US" sz="3200" b="1" dirty="0">
                <a:solidFill>
                  <a:schemeClr val="accent3"/>
                </a:solidFill>
                <a:latin typeface="Cambria" pitchFamily="34" charset="0"/>
                <a:ea typeface="Cambria" pitchFamily="34" charset="-122"/>
                <a:cs typeface="Cambria" pitchFamily="34" charset="-120"/>
              </a:rPr>
              <a:t>no gain</a:t>
            </a:r>
            <a:endParaRPr lang="en-US" sz="3200" dirty="0"/>
          </a:p>
        </p:txBody>
      </p:sp>
      <p:sp>
        <p:nvSpPr>
          <p:cNvPr id="27" name="Text 24"/>
          <p:cNvSpPr txBox="1"/>
          <p:nvPr/>
        </p:nvSpPr>
        <p:spPr>
          <a:xfrm>
            <a:off x="9528048" y="5194706"/>
            <a:ext cx="1828800" cy="467716"/>
          </a:xfrm>
          <a:prstGeom prst="rect">
            <a:avLst/>
          </a:prstGeom>
          <a:noFill/>
          <a:ln/>
        </p:spPr>
        <p:txBody>
          <a:bodyPr wrap="square" lIns="0" tIns="0" rIns="0" bIns="0" rtlCol="0" anchor="t"/>
          <a:lstStyle/>
          <a:p>
            <a:pPr algn="l" indent="0" marL="0">
              <a:buNone/>
            </a:pPr>
            <a:r>
              <a:rPr lang="en-US" sz="1200" dirty="0">
                <a:solidFill>
                  <a:schemeClr val="tx2"/>
                </a:solidFill>
              </a:rPr>
              <a:t>in wall-clock: the evaluator is ~5–10 ms</a:t>
            </a:r>
            <a:endParaRPr lang="en-US" sz="1200" dirty="0"/>
          </a:p>
        </p:txBody>
      </p:sp>
      <p:sp>
        <p:nvSpPr>
          <p:cNvPr id="28" name="CHECK callout"/>
          <p:cNvSpPr txBox="1"/>
          <p:nvPr/>
        </p:nvSpPr>
        <p:spPr>
          <a:xfrm>
            <a:off x="548640" y="5285232"/>
            <a:ext cx="6400800" cy="914400"/>
          </a:xfrm>
          <a:prstGeom prst="roundRect">
            <a:avLst>
              <a:gd name="adj" fmla="val 8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150" b="1" dirty="0">
                <a:solidFill>
                  <a:schemeClr val="accent3"/>
                </a:solidFill>
              </a:rPr>
              <a:t>CHECK   </a:t>
            </a:r>
            <a:pPr algn="l" indent="0" marL="0">
              <a:buNone/>
            </a:pPr>
            <a:r>
              <a:rPr lang="en-US" sz="1150" dirty="0">
                <a:solidFill>
                  <a:schemeClr val="tx1"/>
                </a:solidFill>
              </a:rPr>
              <a:t>used as the GA's objective with one round, none of the 60 best layouts met the limit at 2 or 4 stations, where the plain GA succeeds: the optimiser drives to where the model is wrong. Four rounds of exact re-scoring fix it.</a:t>
            </a:r>
            <a:endParaRPr lang="en-US" sz="11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731520" y="2148840"/>
            <a:ext cx="7132320" cy="457200"/>
          </a:xfrm>
          <a:prstGeom prst="rect">
            <a:avLst/>
          </a:prstGeom>
          <a:noFill/>
          <a:ln/>
        </p:spPr>
        <p:txBody>
          <a:bodyPr wrap="square" rtlCol="0" anchor="b"/>
          <a:lstStyle/>
          <a:p>
            <a:pPr indent="0" marL="0">
              <a:buNone/>
            </a:pPr>
            <a:r>
              <a:rPr lang="en-US" sz="1600" b="1" dirty="0">
                <a:solidFill>
                  <a:schemeClr val="accent2"/>
                </a:solidFill>
              </a:rPr>
              <a:t>PART 3</a:t>
            </a:r>
            <a:endParaRPr lang="en-US" sz="1600" dirty="0"/>
          </a:p>
        </p:txBody>
      </p:sp>
      <p:sp>
        <p:nvSpPr>
          <p:cNvPr id="3" name="Text 0"/>
          <p:cNvSpPr/>
          <p:nvPr>
            <p:ph idx="101" type="title" hasCustomPrompt="1"/>
          </p:nvPr>
        </p:nvSpPr>
        <p:spPr>
          <a:xfrm>
            <a:off x="731520" y="2651760"/>
            <a:ext cx="7680960" cy="1097280"/>
          </a:xfrm>
          <a:prstGeom prst="rect">
            <a:avLst/>
          </a:prstGeom>
          <a:noFill/>
          <a:ln/>
        </p:spPr>
        <p:txBody>
          <a:bodyPr wrap="square" rtlCol="0" anchor="ctr"/>
          <a:lstStyle/>
          <a:p>
            <a:pPr algn="l" indent="0" marL="0">
              <a:buNone/>
            </a:pPr>
            <a:r>
              <a:rPr lang="en-US" sz="4000" b="1" dirty="0">
                <a:solidFill>
                  <a:schemeClr val="bg1"/>
                </a:solidFill>
              </a:rPr>
              <a:t>From code to figures</a:t>
            </a:r>
            <a:endParaRPr lang="en-US" sz="4000" dirty="0"/>
          </a:p>
        </p:txBody>
      </p:sp>
      <p:sp>
        <p:nvSpPr>
          <p:cNvPr id="4" name="Text 0"/>
          <p:cNvSpPr/>
          <p:nvPr>
            <p:ph idx="102" type="body" hasCustomPrompt="1"/>
          </p:nvPr>
        </p:nvSpPr>
        <p:spPr>
          <a:xfrm>
            <a:off x="731520" y="3794760"/>
            <a:ext cx="7315200" cy="1005840"/>
          </a:xfrm>
          <a:prstGeom prst="rect">
            <a:avLst/>
          </a:prstGeom>
          <a:noFill/>
          <a:ln/>
        </p:spPr>
        <p:txBody>
          <a:bodyPr wrap="square" rtlCol="0" anchor="t"/>
          <a:lstStyle/>
          <a:p>
            <a:pPr indent="0" marL="0">
              <a:buNone/>
            </a:pPr>
            <a:r>
              <a:rPr lang="en-US" sz="1800" dirty="0">
                <a:solidFill>
                  <a:schemeClr val="accent5"/>
                </a:solidFill>
              </a:rPr>
              <a:t>Which function draws which figure, and how each result is checked</a:t>
            </a:r>
            <a:endParaRPr lang="en-US" sz="1800" dirty="0"/>
          </a:p>
        </p:txBody>
      </p:sp>
      <p:sp>
        <p:nvSpPr>
          <p:cNvPr id="5" name="section numeral"/>
          <p:cNvSpPr txBox="1"/>
          <p:nvPr/>
        </p:nvSpPr>
        <p:spPr>
          <a:xfrm>
            <a:off x="8503920" y="1280160"/>
            <a:ext cx="3108960" cy="3840480"/>
          </a:xfrm>
          <a:prstGeom prst="rect">
            <a:avLst/>
          </a:prstGeom>
          <a:noFill/>
          <a:ln/>
        </p:spPr>
        <p:txBody>
          <a:bodyPr wrap="square" lIns="0" tIns="0" rIns="0" bIns="0" rtlCol="0" anchor="ctr"/>
          <a:lstStyle/>
          <a:p>
            <a:pPr algn="r" indent="0" marL="0">
              <a:buNone/>
            </a:pPr>
            <a:r>
              <a:rPr lang="en-US" sz="24000" b="1" dirty="0">
                <a:solidFill>
                  <a:schemeClr val="accent1"/>
                </a:solidFill>
                <a:latin typeface="Cambria" pitchFamily="34" charset="0"/>
                <a:ea typeface="Cambria" pitchFamily="34" charset="-122"/>
                <a:cs typeface="Cambria" pitchFamily="34" charset="-120"/>
              </a:rPr>
              <a:t>3</a:t>
            </a:r>
            <a:endParaRPr lang="en-US" sz="24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Every figure and the function that draws it</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Three entry points: panels 1–8 are identical on every run; panels 9 and 10 are GA runs</a:t>
            </a:r>
            <a:endParaRPr lang="en-US" sz="1600" dirty="0"/>
          </a:p>
        </p:txBody>
      </p:sp>
      <p:sp>
        <p:nvSpPr>
          <p:cNvPr id="4" name="viz/make_figures.py"/>
          <p:cNvSpPr txBox="1"/>
          <p:nvPr/>
        </p:nvSpPr>
        <p:spPr>
          <a:xfrm>
            <a:off x="548640" y="1572768"/>
            <a:ext cx="2148840" cy="3364992"/>
          </a:xfrm>
          <a:prstGeom prst="roundRect">
            <a:avLst>
              <a:gd name="adj" fmla="val 3404"/>
            </a:avLst>
          </a:prstGeom>
          <a:solidFill>
            <a:schemeClr val="tx1"/>
          </a:solidFill>
          <a:ln/>
        </p:spPr>
        <p:txBody>
          <a:bodyPr wrap="square" lIns="63500" tIns="63500" rIns="63500" bIns="63500" rtlCol="0" anchor="ctr"/>
          <a:lstStyle/>
          <a:p>
            <a:pPr algn="ctr" indent="0" marL="0">
              <a:buNone/>
            </a:pPr>
            <a:r>
              <a:rPr lang="en-US" sz="1250" b="1" dirty="0">
                <a:solidFill>
                  <a:schemeClr val="bg1"/>
                </a:solidFill>
                <a:latin typeface="Courier New" pitchFamily="34" charset="0"/>
                <a:ea typeface="Courier New" pitchFamily="34" charset="-122"/>
                <a:cs typeface="Courier New" pitchFamily="34" charset="-120"/>
              </a:rPr>
              <a:t>viz/make_figures.py</a:t>
            </a:r>
            <a:endParaRPr lang="en-US" sz="1250" dirty="0"/>
          </a:p>
          <a:p>
            <a:pPr algn="ctr" indent="0" marL="0">
              <a:buNone/>
            </a:pPr>
            <a:r>
              <a:rPr lang="en-US" sz="1200" dirty="0">
                <a:solidFill>
                  <a:schemeClr val="accent5"/>
                </a:solidFill>
              </a:rPr>
              <a:t>main()  ·  2–3 min  ·  deterministic</a:t>
            </a:r>
            <a:endParaRPr lang="en-US" sz="1250" dirty="0"/>
          </a:p>
        </p:txBody>
      </p:sp>
      <p:sp>
        <p:nvSpPr>
          <p:cNvPr id="5" name="make_wing_figures.py"/>
          <p:cNvSpPr txBox="1"/>
          <p:nvPr/>
        </p:nvSpPr>
        <p:spPr>
          <a:xfrm>
            <a:off x="548640" y="5029200"/>
            <a:ext cx="2148840" cy="402336"/>
          </a:xfrm>
          <a:prstGeom prst="roundRect">
            <a:avLst>
              <a:gd name="adj" fmla="val 18182"/>
            </a:avLst>
          </a:prstGeom>
          <a:solidFill>
            <a:schemeClr val="tx1"/>
          </a:solidFill>
          <a:ln/>
        </p:spPr>
        <p:txBody>
          <a:bodyPr wrap="square" lIns="63500" tIns="63500" rIns="63500" bIns="63500" rtlCol="0" anchor="ctr"/>
          <a:lstStyle/>
          <a:p>
            <a:pPr algn="ctr" indent="0" marL="0">
              <a:buNone/>
            </a:pPr>
            <a:r>
              <a:rPr lang="en-US" sz="1150" b="1" dirty="0">
                <a:solidFill>
                  <a:schemeClr val="bg1"/>
                </a:solidFill>
                <a:latin typeface="Courier New" pitchFamily="34" charset="0"/>
                <a:ea typeface="Courier New" pitchFamily="34" charset="-122"/>
                <a:cs typeface="Courier New" pitchFamily="34" charset="-120"/>
              </a:rPr>
              <a:t>make_wing_figures.py</a:t>
            </a:r>
            <a:endParaRPr lang="en-US" sz="1150" dirty="0"/>
          </a:p>
        </p:txBody>
      </p:sp>
      <p:sp>
        <p:nvSpPr>
          <p:cNvPr id="6" name="make_wingbox_figures.py"/>
          <p:cNvSpPr txBox="1"/>
          <p:nvPr/>
        </p:nvSpPr>
        <p:spPr>
          <a:xfrm>
            <a:off x="548640" y="5522976"/>
            <a:ext cx="2148840" cy="402336"/>
          </a:xfrm>
          <a:prstGeom prst="roundRect">
            <a:avLst>
              <a:gd name="adj" fmla="val 18182"/>
            </a:avLst>
          </a:prstGeom>
          <a:solidFill>
            <a:schemeClr val="tx1"/>
          </a:solidFill>
          <a:ln/>
        </p:spPr>
        <p:txBody>
          <a:bodyPr wrap="square" lIns="63500" tIns="63500" rIns="63500" bIns="63500" rtlCol="0" anchor="ctr"/>
          <a:lstStyle/>
          <a:p>
            <a:pPr algn="ctr" indent="0" marL="0">
              <a:buNone/>
            </a:pPr>
            <a:r>
              <a:rPr lang="en-US" sz="1050" b="1" dirty="0">
                <a:solidFill>
                  <a:schemeClr val="bg1"/>
                </a:solidFill>
                <a:latin typeface="Courier New" pitchFamily="34" charset="0"/>
                <a:ea typeface="Courier New" pitchFamily="34" charset="-122"/>
                <a:cs typeface="Courier New" pitchFamily="34" charset="-120"/>
              </a:rPr>
              <a:t>make_wingbox_figures.py</a:t>
            </a:r>
            <a:endParaRPr lang="en-US" sz="1050" dirty="0"/>
          </a:p>
        </p:txBody>
      </p:sp>
      <p:sp>
        <p:nvSpPr>
          <p:cNvPr id="7" name="make_panel1_scene"/>
          <p:cNvSpPr txBox="1"/>
          <p:nvPr/>
        </p:nvSpPr>
        <p:spPr>
          <a:xfrm>
            <a:off x="3246120" y="1572768"/>
            <a:ext cx="3429000" cy="402336"/>
          </a:xfrm>
          <a:prstGeom prst="roundRect">
            <a:avLst>
              <a:gd name="adj" fmla="val 18182"/>
            </a:avLst>
          </a:prstGeom>
          <a:solidFill>
            <a:schemeClr val="accent1"/>
          </a:solidFill>
          <a:ln/>
        </p:spPr>
        <p:txBody>
          <a:bodyPr wrap="square" lIns="63500" tIns="63500" rIns="63500" bIns="6350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make_panel1_scene</a:t>
            </a:r>
            <a:endParaRPr lang="en-US" sz="1200" dirty="0"/>
          </a:p>
        </p:txBody>
      </p:sp>
      <p:sp>
        <p:nvSpPr>
          <p:cNvPr id="8" name="panel1_scene  ·  step 1 error ellipsoids"/>
          <p:cNvSpPr txBox="1"/>
          <p:nvPr/>
        </p:nvSpPr>
        <p:spPr>
          <a:xfrm>
            <a:off x="6995160" y="1572768"/>
            <a:ext cx="4645152" cy="402336"/>
          </a:xfrm>
          <a:prstGeom prst="roundRect">
            <a:avLst>
              <a:gd name="adj" fmla="val 18182"/>
            </a:avLst>
          </a:prstGeom>
          <a:solidFill>
            <a:schemeClr val="accent2"/>
          </a:solidFill>
          <a:ln/>
        </p:spPr>
        <p:txBody>
          <a:bodyPr wrap="square" lIns="63500" tIns="63500" rIns="63500" bIns="63500" rtlCol="0" anchor="ctr"/>
          <a:lstStyle/>
          <a:p>
            <a:pPr algn="ctr" indent="0" marL="0">
              <a:buNone/>
            </a:pPr>
            <a:r>
              <a:rPr lang="en-US" sz="1250" b="1" dirty="0">
                <a:solidFill>
                  <a:schemeClr val="tx1"/>
                </a:solidFill>
              </a:rPr>
              <a:t>panel1_scene  ·  step 1 error ellipsoids</a:t>
            </a:r>
            <a:endParaRPr lang="en-US" sz="1250" dirty="0"/>
          </a:p>
        </p:txBody>
      </p:sp>
      <p:sp>
        <p:nvSpPr>
          <p:cNvPr id="9" name="Shape 7"/>
          <p:cNvSpPr/>
          <p:nvPr/>
        </p:nvSpPr>
        <p:spPr>
          <a:xfrm>
            <a:off x="2697480" y="1773936"/>
            <a:ext cx="548640" cy="0"/>
          </a:xfrm>
          <a:prstGeom prst="line">
            <a:avLst/>
          </a:prstGeom>
          <a:noFill/>
          <a:ln w="19050">
            <a:solidFill>
              <a:schemeClr val="accent4"/>
            </a:solidFill>
            <a:prstDash val="solid"/>
            <a:tailEnd type="triangle"/>
          </a:ln>
        </p:spPr>
      </p:sp>
      <p:sp>
        <p:nvSpPr>
          <p:cNvPr id="10" name="Shape 8"/>
          <p:cNvSpPr/>
          <p:nvPr/>
        </p:nvSpPr>
        <p:spPr>
          <a:xfrm>
            <a:off x="6675120" y="1773936"/>
            <a:ext cx="320040" cy="0"/>
          </a:xfrm>
          <a:prstGeom prst="line">
            <a:avLst/>
          </a:prstGeom>
          <a:noFill/>
          <a:ln w="19050">
            <a:solidFill>
              <a:schemeClr val="accent4"/>
            </a:solidFill>
            <a:prstDash val="solid"/>
            <a:tailEnd type="triangle"/>
          </a:ln>
        </p:spPr>
      </p:sp>
      <p:sp>
        <p:nvSpPr>
          <p:cNvPr id="11" name="make_panel2_network"/>
          <p:cNvSpPr txBox="1"/>
          <p:nvPr/>
        </p:nvSpPr>
        <p:spPr>
          <a:xfrm>
            <a:off x="3246120" y="2066544"/>
            <a:ext cx="3429000" cy="402336"/>
          </a:xfrm>
          <a:prstGeom prst="roundRect">
            <a:avLst>
              <a:gd name="adj" fmla="val 18182"/>
            </a:avLst>
          </a:prstGeom>
          <a:solidFill>
            <a:schemeClr val="accent1"/>
          </a:solidFill>
          <a:ln/>
        </p:spPr>
        <p:txBody>
          <a:bodyPr wrap="square" lIns="63500" tIns="63500" rIns="63500" bIns="6350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make_panel2_network</a:t>
            </a:r>
            <a:endParaRPr lang="en-US" sz="1200" dirty="0"/>
          </a:p>
        </p:txBody>
      </p:sp>
      <p:sp>
        <p:nvSpPr>
          <p:cNvPr id="12" name="panel2_network  ·  step 3 network solve"/>
          <p:cNvSpPr txBox="1"/>
          <p:nvPr/>
        </p:nvSpPr>
        <p:spPr>
          <a:xfrm>
            <a:off x="6995160" y="2066544"/>
            <a:ext cx="4645152" cy="402336"/>
          </a:xfrm>
          <a:prstGeom prst="roundRect">
            <a:avLst>
              <a:gd name="adj" fmla="val 18182"/>
            </a:avLst>
          </a:prstGeom>
          <a:solidFill>
            <a:schemeClr val="accent2"/>
          </a:solidFill>
          <a:ln/>
        </p:spPr>
        <p:txBody>
          <a:bodyPr wrap="square" lIns="63500" tIns="63500" rIns="63500" bIns="63500" rtlCol="0" anchor="ctr"/>
          <a:lstStyle/>
          <a:p>
            <a:pPr algn="ctr" indent="0" marL="0">
              <a:buNone/>
            </a:pPr>
            <a:r>
              <a:rPr lang="en-US" sz="1250" b="1" dirty="0">
                <a:solidFill>
                  <a:schemeClr val="tx1"/>
                </a:solidFill>
              </a:rPr>
              <a:t>panel2_network  ·  step 3 network solve</a:t>
            </a:r>
            <a:endParaRPr lang="en-US" sz="1250" dirty="0"/>
          </a:p>
        </p:txBody>
      </p:sp>
      <p:sp>
        <p:nvSpPr>
          <p:cNvPr id="13" name="Shape 11"/>
          <p:cNvSpPr/>
          <p:nvPr/>
        </p:nvSpPr>
        <p:spPr>
          <a:xfrm>
            <a:off x="2697480" y="2267712"/>
            <a:ext cx="548640" cy="0"/>
          </a:xfrm>
          <a:prstGeom prst="line">
            <a:avLst/>
          </a:prstGeom>
          <a:noFill/>
          <a:ln w="19050">
            <a:solidFill>
              <a:schemeClr val="accent4"/>
            </a:solidFill>
            <a:prstDash val="solid"/>
            <a:tailEnd type="triangle"/>
          </a:ln>
        </p:spPr>
      </p:sp>
      <p:sp>
        <p:nvSpPr>
          <p:cNvPr id="14" name="Shape 12"/>
          <p:cNvSpPr/>
          <p:nvPr/>
        </p:nvSpPr>
        <p:spPr>
          <a:xfrm>
            <a:off x="6675120" y="2267712"/>
            <a:ext cx="320040" cy="0"/>
          </a:xfrm>
          <a:prstGeom prst="line">
            <a:avLst/>
          </a:prstGeom>
          <a:noFill/>
          <a:ln w="19050">
            <a:solidFill>
              <a:schemeClr val="accent4"/>
            </a:solidFill>
            <a:prstDash val="solid"/>
            <a:tailEnd type="triangle"/>
          </a:ln>
        </p:spPr>
      </p:sp>
      <p:sp>
        <p:nvSpPr>
          <p:cNvPr id="15" name="make_panel3_uncertainty"/>
          <p:cNvSpPr txBox="1"/>
          <p:nvPr/>
        </p:nvSpPr>
        <p:spPr>
          <a:xfrm>
            <a:off x="3246120" y="2560320"/>
            <a:ext cx="3429000" cy="402336"/>
          </a:xfrm>
          <a:prstGeom prst="roundRect">
            <a:avLst>
              <a:gd name="adj" fmla="val 18182"/>
            </a:avLst>
          </a:prstGeom>
          <a:solidFill>
            <a:schemeClr val="accent1"/>
          </a:solidFill>
          <a:ln/>
        </p:spPr>
        <p:txBody>
          <a:bodyPr wrap="square" lIns="63500" tIns="63500" rIns="63500" bIns="6350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make_panel3_uncertainty</a:t>
            </a:r>
            <a:endParaRPr lang="en-US" sz="1200" dirty="0"/>
          </a:p>
        </p:txBody>
      </p:sp>
      <p:sp>
        <p:nvSpPr>
          <p:cNvPr id="16" name="panel3_uncertainty  ·  step 3 uncertainty vs stations"/>
          <p:cNvSpPr txBox="1"/>
          <p:nvPr/>
        </p:nvSpPr>
        <p:spPr>
          <a:xfrm>
            <a:off x="6995160" y="2560320"/>
            <a:ext cx="4645152" cy="402336"/>
          </a:xfrm>
          <a:prstGeom prst="roundRect">
            <a:avLst>
              <a:gd name="adj" fmla="val 18182"/>
            </a:avLst>
          </a:prstGeom>
          <a:solidFill>
            <a:schemeClr val="accent2"/>
          </a:solidFill>
          <a:ln/>
        </p:spPr>
        <p:txBody>
          <a:bodyPr wrap="square" lIns="63500" tIns="63500" rIns="63500" bIns="63500" rtlCol="0" anchor="ctr"/>
          <a:lstStyle/>
          <a:p>
            <a:pPr algn="ctr" indent="0" marL="0">
              <a:buNone/>
            </a:pPr>
            <a:r>
              <a:rPr lang="en-US" sz="1250" b="1" dirty="0">
                <a:solidFill>
                  <a:schemeClr val="tx1"/>
                </a:solidFill>
              </a:rPr>
              <a:t>panel3_uncertainty  ·  step 3 uncertainty vs stations</a:t>
            </a:r>
            <a:endParaRPr lang="en-US" sz="1250" dirty="0"/>
          </a:p>
        </p:txBody>
      </p:sp>
      <p:sp>
        <p:nvSpPr>
          <p:cNvPr id="17" name="Shape 15"/>
          <p:cNvSpPr/>
          <p:nvPr/>
        </p:nvSpPr>
        <p:spPr>
          <a:xfrm>
            <a:off x="2697480" y="2761488"/>
            <a:ext cx="548640" cy="0"/>
          </a:xfrm>
          <a:prstGeom prst="line">
            <a:avLst/>
          </a:prstGeom>
          <a:noFill/>
          <a:ln w="19050">
            <a:solidFill>
              <a:schemeClr val="accent4"/>
            </a:solidFill>
            <a:prstDash val="solid"/>
            <a:tailEnd type="triangle"/>
          </a:ln>
        </p:spPr>
      </p:sp>
      <p:sp>
        <p:nvSpPr>
          <p:cNvPr id="18" name="Shape 16"/>
          <p:cNvSpPr/>
          <p:nvPr/>
        </p:nvSpPr>
        <p:spPr>
          <a:xfrm>
            <a:off x="6675120" y="2761488"/>
            <a:ext cx="320040" cy="0"/>
          </a:xfrm>
          <a:prstGeom prst="line">
            <a:avLst/>
          </a:prstGeom>
          <a:noFill/>
          <a:ln w="19050">
            <a:solidFill>
              <a:schemeClr val="accent4"/>
            </a:solidFill>
            <a:prstDash val="solid"/>
            <a:tailEnd type="triangle"/>
          </a:ln>
        </p:spPr>
      </p:sp>
      <p:sp>
        <p:nvSpPr>
          <p:cNvPr id="19" name="make_panel4_characteristics"/>
          <p:cNvSpPr txBox="1"/>
          <p:nvPr/>
        </p:nvSpPr>
        <p:spPr>
          <a:xfrm>
            <a:off x="3246120" y="3054096"/>
            <a:ext cx="3429000" cy="402336"/>
          </a:xfrm>
          <a:prstGeom prst="roundRect">
            <a:avLst>
              <a:gd name="adj" fmla="val 18182"/>
            </a:avLst>
          </a:prstGeom>
          <a:solidFill>
            <a:schemeClr val="accent1"/>
          </a:solidFill>
          <a:ln/>
        </p:spPr>
        <p:txBody>
          <a:bodyPr wrap="square" lIns="63500" tIns="63500" rIns="63500" bIns="6350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make_panel4_characteristics</a:t>
            </a:r>
            <a:endParaRPr lang="en-US" sz="1200" dirty="0"/>
          </a:p>
        </p:txBody>
      </p:sp>
      <p:sp>
        <p:nvSpPr>
          <p:cNvPr id="20" name="panel4_characteristics  ·  step 4 tolerance types"/>
          <p:cNvSpPr txBox="1"/>
          <p:nvPr/>
        </p:nvSpPr>
        <p:spPr>
          <a:xfrm>
            <a:off x="6995160" y="3054096"/>
            <a:ext cx="4645152" cy="402336"/>
          </a:xfrm>
          <a:prstGeom prst="roundRect">
            <a:avLst>
              <a:gd name="adj" fmla="val 18182"/>
            </a:avLst>
          </a:prstGeom>
          <a:solidFill>
            <a:schemeClr val="accent2"/>
          </a:solidFill>
          <a:ln/>
        </p:spPr>
        <p:txBody>
          <a:bodyPr wrap="square" lIns="63500" tIns="63500" rIns="63500" bIns="63500" rtlCol="0" anchor="ctr"/>
          <a:lstStyle/>
          <a:p>
            <a:pPr algn="ctr" indent="0" marL="0">
              <a:buNone/>
            </a:pPr>
            <a:r>
              <a:rPr lang="en-US" sz="1250" b="1" dirty="0">
                <a:solidFill>
                  <a:schemeClr val="tx1"/>
                </a:solidFill>
              </a:rPr>
              <a:t>panel4_characteristics  ·  step 4 tolerance types</a:t>
            </a:r>
            <a:endParaRPr lang="en-US" sz="1250" dirty="0"/>
          </a:p>
        </p:txBody>
      </p:sp>
      <p:sp>
        <p:nvSpPr>
          <p:cNvPr id="21" name="Shape 19"/>
          <p:cNvSpPr/>
          <p:nvPr/>
        </p:nvSpPr>
        <p:spPr>
          <a:xfrm>
            <a:off x="2697480" y="3255264"/>
            <a:ext cx="548640" cy="0"/>
          </a:xfrm>
          <a:prstGeom prst="line">
            <a:avLst/>
          </a:prstGeom>
          <a:noFill/>
          <a:ln w="19050">
            <a:solidFill>
              <a:schemeClr val="accent4"/>
            </a:solidFill>
            <a:prstDash val="solid"/>
            <a:tailEnd type="triangle"/>
          </a:ln>
        </p:spPr>
      </p:sp>
      <p:sp>
        <p:nvSpPr>
          <p:cNvPr id="22" name="Shape 20"/>
          <p:cNvSpPr/>
          <p:nvPr/>
        </p:nvSpPr>
        <p:spPr>
          <a:xfrm>
            <a:off x="6675120" y="3255264"/>
            <a:ext cx="320040" cy="0"/>
          </a:xfrm>
          <a:prstGeom prst="line">
            <a:avLst/>
          </a:prstGeom>
          <a:noFill/>
          <a:ln w="19050">
            <a:solidFill>
              <a:schemeClr val="accent4"/>
            </a:solidFill>
            <a:prstDash val="solid"/>
            <a:tailEnd type="triangle"/>
          </a:ln>
        </p:spPr>
      </p:sp>
      <p:sp>
        <p:nvSpPr>
          <p:cNvPr id="23" name="make_panel5_risk"/>
          <p:cNvSpPr txBox="1"/>
          <p:nvPr/>
        </p:nvSpPr>
        <p:spPr>
          <a:xfrm>
            <a:off x="3246120" y="3547872"/>
            <a:ext cx="3429000" cy="402336"/>
          </a:xfrm>
          <a:prstGeom prst="roundRect">
            <a:avLst>
              <a:gd name="adj" fmla="val 18182"/>
            </a:avLst>
          </a:prstGeom>
          <a:solidFill>
            <a:schemeClr val="accent1"/>
          </a:solidFill>
          <a:ln/>
        </p:spPr>
        <p:txBody>
          <a:bodyPr wrap="square" lIns="63500" tIns="63500" rIns="63500" bIns="6350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make_panel5_risk</a:t>
            </a:r>
            <a:endParaRPr lang="en-US" sz="1200" dirty="0"/>
          </a:p>
        </p:txBody>
      </p:sp>
      <p:sp>
        <p:nvSpPr>
          <p:cNvPr id="24" name="panel5_risk  ·  step 5 risk vs uncertainty"/>
          <p:cNvSpPr txBox="1"/>
          <p:nvPr/>
        </p:nvSpPr>
        <p:spPr>
          <a:xfrm>
            <a:off x="6995160" y="3547872"/>
            <a:ext cx="4645152" cy="402336"/>
          </a:xfrm>
          <a:prstGeom prst="roundRect">
            <a:avLst>
              <a:gd name="adj" fmla="val 18182"/>
            </a:avLst>
          </a:prstGeom>
          <a:solidFill>
            <a:schemeClr val="accent2"/>
          </a:solidFill>
          <a:ln/>
        </p:spPr>
        <p:txBody>
          <a:bodyPr wrap="square" lIns="63500" tIns="63500" rIns="63500" bIns="63500" rtlCol="0" anchor="ctr"/>
          <a:lstStyle/>
          <a:p>
            <a:pPr algn="ctr" indent="0" marL="0">
              <a:buNone/>
            </a:pPr>
            <a:r>
              <a:rPr lang="en-US" sz="1250" b="1" dirty="0">
                <a:solidFill>
                  <a:schemeClr val="tx1"/>
                </a:solidFill>
              </a:rPr>
              <a:t>panel5_risk  ·  step 5 risk vs uncertainty</a:t>
            </a:r>
            <a:endParaRPr lang="en-US" sz="1250" dirty="0"/>
          </a:p>
        </p:txBody>
      </p:sp>
      <p:sp>
        <p:nvSpPr>
          <p:cNvPr id="25" name="Shape 23"/>
          <p:cNvSpPr/>
          <p:nvPr/>
        </p:nvSpPr>
        <p:spPr>
          <a:xfrm>
            <a:off x="2697480" y="3749040"/>
            <a:ext cx="548640" cy="0"/>
          </a:xfrm>
          <a:prstGeom prst="line">
            <a:avLst/>
          </a:prstGeom>
          <a:noFill/>
          <a:ln w="19050">
            <a:solidFill>
              <a:schemeClr val="accent4"/>
            </a:solidFill>
            <a:prstDash val="solid"/>
            <a:tailEnd type="triangle"/>
          </a:ln>
        </p:spPr>
      </p:sp>
      <p:sp>
        <p:nvSpPr>
          <p:cNvPr id="26" name="Shape 24"/>
          <p:cNvSpPr/>
          <p:nvPr/>
        </p:nvSpPr>
        <p:spPr>
          <a:xfrm>
            <a:off x="6675120" y="3749040"/>
            <a:ext cx="320040" cy="0"/>
          </a:xfrm>
          <a:prstGeom prst="line">
            <a:avLst/>
          </a:prstGeom>
          <a:noFill/>
          <a:ln w="19050">
            <a:solidFill>
              <a:schemeClr val="accent4"/>
            </a:solidFill>
            <a:prstDash val="solid"/>
            <a:tailEnd type="triangle"/>
          </a:ln>
        </p:spPr>
      </p:sp>
      <p:sp>
        <p:nvSpPr>
          <p:cNvPr id="27" name="make_panel6_and_7"/>
          <p:cNvSpPr txBox="1"/>
          <p:nvPr/>
        </p:nvSpPr>
        <p:spPr>
          <a:xfrm>
            <a:off x="3246120" y="4041648"/>
            <a:ext cx="3429000" cy="402336"/>
          </a:xfrm>
          <a:prstGeom prst="roundRect">
            <a:avLst>
              <a:gd name="adj" fmla="val 18182"/>
            </a:avLst>
          </a:prstGeom>
          <a:solidFill>
            <a:schemeClr val="accent1"/>
          </a:solidFill>
          <a:ln/>
        </p:spPr>
        <p:txBody>
          <a:bodyPr wrap="square" lIns="63500" tIns="63500" rIns="63500" bIns="6350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make_panel6_and_7</a:t>
            </a:r>
            <a:endParaRPr lang="en-US" sz="1200" dirty="0"/>
          </a:p>
        </p:txBody>
      </p:sp>
      <p:sp>
        <p:nvSpPr>
          <p:cNvPr id="28" name="panel6a, 6b, 7 (+ _systematic10um)  ·  step 6 headline"/>
          <p:cNvSpPr txBox="1"/>
          <p:nvPr/>
        </p:nvSpPr>
        <p:spPr>
          <a:xfrm>
            <a:off x="6995160" y="4041648"/>
            <a:ext cx="4645152" cy="402336"/>
          </a:xfrm>
          <a:prstGeom prst="roundRect">
            <a:avLst>
              <a:gd name="adj" fmla="val 18182"/>
            </a:avLst>
          </a:prstGeom>
          <a:solidFill>
            <a:schemeClr val="accent2"/>
          </a:solidFill>
          <a:ln/>
        </p:spPr>
        <p:txBody>
          <a:bodyPr wrap="square" lIns="63500" tIns="63500" rIns="63500" bIns="63500" rtlCol="0" anchor="ctr"/>
          <a:lstStyle/>
          <a:p>
            <a:pPr algn="ctr" indent="0" marL="0">
              <a:buNone/>
            </a:pPr>
            <a:r>
              <a:rPr lang="en-US" sz="1250" b="1" dirty="0">
                <a:solidFill>
                  <a:schemeClr val="tx1"/>
                </a:solidFill>
              </a:rPr>
              <a:t>panel6a, 6b, 7 (+ _systematic10um)  ·  step 6 headline</a:t>
            </a:r>
            <a:endParaRPr lang="en-US" sz="1250" dirty="0"/>
          </a:p>
        </p:txBody>
      </p:sp>
      <p:sp>
        <p:nvSpPr>
          <p:cNvPr id="29" name="Shape 27"/>
          <p:cNvSpPr/>
          <p:nvPr/>
        </p:nvSpPr>
        <p:spPr>
          <a:xfrm>
            <a:off x="2697480" y="4242816"/>
            <a:ext cx="548640" cy="0"/>
          </a:xfrm>
          <a:prstGeom prst="line">
            <a:avLst/>
          </a:prstGeom>
          <a:noFill/>
          <a:ln w="19050">
            <a:solidFill>
              <a:schemeClr val="accent4"/>
            </a:solidFill>
            <a:prstDash val="solid"/>
            <a:tailEnd type="triangle"/>
          </a:ln>
        </p:spPr>
      </p:sp>
      <p:sp>
        <p:nvSpPr>
          <p:cNvPr id="30" name="Shape 28"/>
          <p:cNvSpPr/>
          <p:nvPr/>
        </p:nvSpPr>
        <p:spPr>
          <a:xfrm>
            <a:off x="6675120" y="4242816"/>
            <a:ext cx="320040" cy="0"/>
          </a:xfrm>
          <a:prstGeom prst="line">
            <a:avLst/>
          </a:prstGeom>
          <a:noFill/>
          <a:ln w="19050">
            <a:solidFill>
              <a:schemeClr val="accent4"/>
            </a:solidFill>
            <a:prstDash val="solid"/>
            <a:tailEnd type="triangle"/>
          </a:ln>
        </p:spPr>
      </p:sp>
      <p:sp>
        <p:nvSpPr>
          <p:cNvPr id="31" name="make_panel8_mixed_tolerance"/>
          <p:cNvSpPr txBox="1"/>
          <p:nvPr/>
        </p:nvSpPr>
        <p:spPr>
          <a:xfrm>
            <a:off x="3246120" y="4535424"/>
            <a:ext cx="3429000" cy="402336"/>
          </a:xfrm>
          <a:prstGeom prst="roundRect">
            <a:avLst>
              <a:gd name="adj" fmla="val 18182"/>
            </a:avLst>
          </a:prstGeom>
          <a:solidFill>
            <a:schemeClr val="accent1"/>
          </a:solidFill>
          <a:ln/>
        </p:spPr>
        <p:txBody>
          <a:bodyPr wrap="square" lIns="63500" tIns="63500" rIns="63500" bIns="6350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make_panel8_mixed_tolerance</a:t>
            </a:r>
            <a:endParaRPr lang="en-US" sz="1200" dirty="0"/>
          </a:p>
        </p:txBody>
      </p:sp>
      <p:sp>
        <p:nvSpPr>
          <p:cNvPr id="32" name="panel6a/6b_mixedtol, panel8c  ·  tolerance-mix check"/>
          <p:cNvSpPr txBox="1"/>
          <p:nvPr/>
        </p:nvSpPr>
        <p:spPr>
          <a:xfrm>
            <a:off x="6995160" y="4535424"/>
            <a:ext cx="4645152" cy="402336"/>
          </a:xfrm>
          <a:prstGeom prst="roundRect">
            <a:avLst>
              <a:gd name="adj" fmla="val 18182"/>
            </a:avLst>
          </a:prstGeom>
          <a:solidFill>
            <a:schemeClr val="accent2"/>
          </a:solidFill>
          <a:ln/>
        </p:spPr>
        <p:txBody>
          <a:bodyPr wrap="square" lIns="63500" tIns="63500" rIns="63500" bIns="63500" rtlCol="0" anchor="ctr"/>
          <a:lstStyle/>
          <a:p>
            <a:pPr algn="ctr" indent="0" marL="0">
              <a:buNone/>
            </a:pPr>
            <a:r>
              <a:rPr lang="en-US" sz="1250" b="1" dirty="0">
                <a:solidFill>
                  <a:schemeClr val="tx1"/>
                </a:solidFill>
              </a:rPr>
              <a:t>panel6a/6b_mixedtol, panel8c  ·  tolerance-mix check</a:t>
            </a:r>
            <a:endParaRPr lang="en-US" sz="1250" dirty="0"/>
          </a:p>
        </p:txBody>
      </p:sp>
      <p:sp>
        <p:nvSpPr>
          <p:cNvPr id="33" name="Shape 31"/>
          <p:cNvSpPr/>
          <p:nvPr/>
        </p:nvSpPr>
        <p:spPr>
          <a:xfrm>
            <a:off x="2697480" y="4736592"/>
            <a:ext cx="548640" cy="0"/>
          </a:xfrm>
          <a:prstGeom prst="line">
            <a:avLst/>
          </a:prstGeom>
          <a:noFill/>
          <a:ln w="19050">
            <a:solidFill>
              <a:schemeClr val="accent4"/>
            </a:solidFill>
            <a:prstDash val="solid"/>
            <a:tailEnd type="triangle"/>
          </a:ln>
        </p:spPr>
      </p:sp>
      <p:sp>
        <p:nvSpPr>
          <p:cNvPr id="34" name="Shape 32"/>
          <p:cNvSpPr/>
          <p:nvPr/>
        </p:nvSpPr>
        <p:spPr>
          <a:xfrm>
            <a:off x="6675120" y="4736592"/>
            <a:ext cx="320040" cy="0"/>
          </a:xfrm>
          <a:prstGeom prst="line">
            <a:avLst/>
          </a:prstGeom>
          <a:noFill/>
          <a:ln w="19050">
            <a:solidFill>
              <a:schemeClr val="accent4"/>
            </a:solidFill>
            <a:prstDash val="solid"/>
            <a:tailEnd type="triangle"/>
          </a:ln>
        </p:spPr>
      </p:sp>
      <p:sp>
        <p:nvSpPr>
          <p:cNvPr id="35" name="make_panel9_wing"/>
          <p:cNvSpPr txBox="1"/>
          <p:nvPr/>
        </p:nvSpPr>
        <p:spPr>
          <a:xfrm>
            <a:off x="3246120" y="5029200"/>
            <a:ext cx="3429000" cy="402336"/>
          </a:xfrm>
          <a:prstGeom prst="roundRect">
            <a:avLst>
              <a:gd name="adj" fmla="val 18182"/>
            </a:avLst>
          </a:prstGeom>
          <a:solidFill>
            <a:schemeClr val="accent1"/>
          </a:solidFill>
          <a:ln/>
        </p:spPr>
        <p:txBody>
          <a:bodyPr wrap="square" lIns="63500" tIns="63500" rIns="63500" bIns="6350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make_panel9_wing</a:t>
            </a:r>
            <a:endParaRPr lang="en-US" sz="1200" dirty="0"/>
          </a:p>
        </p:txBody>
      </p:sp>
      <p:sp>
        <p:nvSpPr>
          <p:cNvPr id="36" name="panel9a, 9b (+ _tower)  ·  wing scenario"/>
          <p:cNvSpPr txBox="1"/>
          <p:nvPr/>
        </p:nvSpPr>
        <p:spPr>
          <a:xfrm>
            <a:off x="6995160" y="5029200"/>
            <a:ext cx="4645152" cy="402336"/>
          </a:xfrm>
          <a:prstGeom prst="roundRect">
            <a:avLst>
              <a:gd name="adj" fmla="val 18182"/>
            </a:avLst>
          </a:prstGeom>
          <a:solidFill>
            <a:schemeClr val="accent2"/>
          </a:solidFill>
          <a:ln/>
        </p:spPr>
        <p:txBody>
          <a:bodyPr wrap="square" lIns="63500" tIns="63500" rIns="63500" bIns="63500" rtlCol="0" anchor="ctr"/>
          <a:lstStyle/>
          <a:p>
            <a:pPr algn="ctr" indent="0" marL="0">
              <a:buNone/>
            </a:pPr>
            <a:r>
              <a:rPr lang="en-US" sz="1250" b="1" dirty="0">
                <a:solidFill>
                  <a:schemeClr val="tx1"/>
                </a:solidFill>
              </a:rPr>
              <a:t>panel9a, 9b (+ _tower)  ·  wing scenario</a:t>
            </a:r>
            <a:endParaRPr lang="en-US" sz="1250" dirty="0"/>
          </a:p>
        </p:txBody>
      </p:sp>
      <p:sp>
        <p:nvSpPr>
          <p:cNvPr id="37" name="Shape 35"/>
          <p:cNvSpPr/>
          <p:nvPr/>
        </p:nvSpPr>
        <p:spPr>
          <a:xfrm>
            <a:off x="2697480" y="5230368"/>
            <a:ext cx="548640" cy="0"/>
          </a:xfrm>
          <a:prstGeom prst="line">
            <a:avLst/>
          </a:prstGeom>
          <a:noFill/>
          <a:ln w="19050">
            <a:solidFill>
              <a:schemeClr val="accent4"/>
            </a:solidFill>
            <a:prstDash val="solid"/>
            <a:tailEnd type="triangle"/>
          </a:ln>
        </p:spPr>
      </p:sp>
      <p:sp>
        <p:nvSpPr>
          <p:cNvPr id="38" name="Shape 36"/>
          <p:cNvSpPr/>
          <p:nvPr/>
        </p:nvSpPr>
        <p:spPr>
          <a:xfrm>
            <a:off x="6675120" y="5230368"/>
            <a:ext cx="320040" cy="0"/>
          </a:xfrm>
          <a:prstGeom prst="line">
            <a:avLst/>
          </a:prstGeom>
          <a:noFill/>
          <a:ln w="19050">
            <a:solidFill>
              <a:schemeClr val="accent4"/>
            </a:solidFill>
            <a:prstDash val="solid"/>
            <a:tailEnd type="triangle"/>
          </a:ln>
        </p:spPr>
      </p:sp>
      <p:sp>
        <p:nvSpPr>
          <p:cNvPr id="39" name="make_wingbox_figures"/>
          <p:cNvSpPr txBox="1"/>
          <p:nvPr/>
        </p:nvSpPr>
        <p:spPr>
          <a:xfrm>
            <a:off x="3246120" y="5522976"/>
            <a:ext cx="3429000" cy="402336"/>
          </a:xfrm>
          <a:prstGeom prst="roundRect">
            <a:avLst>
              <a:gd name="adj" fmla="val 18182"/>
            </a:avLst>
          </a:prstGeom>
          <a:solidFill>
            <a:schemeClr val="accent1"/>
          </a:solidFill>
          <a:ln/>
        </p:spPr>
        <p:txBody>
          <a:bodyPr wrap="square" lIns="63500" tIns="63500" rIns="63500" bIns="6350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make_wingbox_figures</a:t>
            </a:r>
            <a:endParaRPr lang="en-US" sz="1200" dirty="0"/>
          </a:p>
        </p:txBody>
      </p:sp>
      <p:sp>
        <p:nvSpPr>
          <p:cNvPr id="40" name="panel10a–e  ·  wing-box experiment and ML"/>
          <p:cNvSpPr txBox="1"/>
          <p:nvPr/>
        </p:nvSpPr>
        <p:spPr>
          <a:xfrm>
            <a:off x="6995160" y="5522976"/>
            <a:ext cx="4645152" cy="402336"/>
          </a:xfrm>
          <a:prstGeom prst="roundRect">
            <a:avLst>
              <a:gd name="adj" fmla="val 18182"/>
            </a:avLst>
          </a:prstGeom>
          <a:solidFill>
            <a:schemeClr val="accent2"/>
          </a:solidFill>
          <a:ln/>
        </p:spPr>
        <p:txBody>
          <a:bodyPr wrap="square" lIns="63500" tIns="63500" rIns="63500" bIns="63500" rtlCol="0" anchor="ctr"/>
          <a:lstStyle/>
          <a:p>
            <a:pPr algn="ctr" indent="0" marL="0">
              <a:buNone/>
            </a:pPr>
            <a:r>
              <a:rPr lang="en-US" sz="1250" b="1" dirty="0">
                <a:solidFill>
                  <a:schemeClr val="tx1"/>
                </a:solidFill>
              </a:rPr>
              <a:t>panel10a–e  ·  wing-box experiment and ML</a:t>
            </a:r>
            <a:endParaRPr lang="en-US" sz="1250" dirty="0"/>
          </a:p>
        </p:txBody>
      </p:sp>
      <p:sp>
        <p:nvSpPr>
          <p:cNvPr id="41" name="Shape 39"/>
          <p:cNvSpPr/>
          <p:nvPr/>
        </p:nvSpPr>
        <p:spPr>
          <a:xfrm>
            <a:off x="2697480" y="5724144"/>
            <a:ext cx="548640" cy="0"/>
          </a:xfrm>
          <a:prstGeom prst="line">
            <a:avLst/>
          </a:prstGeom>
          <a:noFill/>
          <a:ln w="19050">
            <a:solidFill>
              <a:schemeClr val="accent4"/>
            </a:solidFill>
            <a:prstDash val="solid"/>
            <a:tailEnd type="triangle"/>
          </a:ln>
        </p:spPr>
      </p:sp>
      <p:sp>
        <p:nvSpPr>
          <p:cNvPr id="42" name="Shape 40"/>
          <p:cNvSpPr/>
          <p:nvPr/>
        </p:nvSpPr>
        <p:spPr>
          <a:xfrm>
            <a:off x="6675120" y="5724144"/>
            <a:ext cx="320040" cy="0"/>
          </a:xfrm>
          <a:prstGeom prst="line">
            <a:avLst/>
          </a:prstGeom>
          <a:noFill/>
          <a:ln w="19050">
            <a:solidFill>
              <a:schemeClr val="accent4"/>
            </a:solidFill>
            <a:prstDash val="solid"/>
            <a:tailEnd type="triangle"/>
          </a:ln>
        </p:spPr>
      </p:sp>
      <p:sp>
        <p:nvSpPr>
          <p:cNvPr id="43" name="Text 41"/>
          <p:cNvSpPr txBox="1"/>
          <p:nvPr/>
        </p:nvSpPr>
        <p:spPr>
          <a:xfrm>
            <a:off x="548640" y="6108192"/>
            <a:ext cx="5486400" cy="274320"/>
          </a:xfrm>
          <a:prstGeom prst="rect">
            <a:avLst/>
          </a:prstGeom>
          <a:noFill/>
          <a:ln/>
        </p:spPr>
        <p:txBody>
          <a:bodyPr wrap="square" lIns="0" tIns="0" rIns="0" bIns="0" rtlCol="0" anchor="ctr"/>
          <a:lstStyle/>
          <a:p>
            <a:pPr algn="l" indent="0" marL="0">
              <a:buNone/>
            </a:pPr>
            <a:r>
              <a:rPr lang="en-US" sz="1100" i="1" dirty="0">
                <a:solidFill>
                  <a:schemeClr val="tx2"/>
                </a:solidFill>
              </a:rPr>
              <a:t>All outputs are written to results/ as .png</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9966960" cy="685800"/>
          </a:xfrm>
          <a:prstGeom prst="rect">
            <a:avLst/>
          </a:prstGeom>
          <a:noFill/>
          <a:ln/>
        </p:spPr>
        <p:txBody>
          <a:bodyPr wrap="square" rtlCol="0" anchor="ctr"/>
          <a:lstStyle/>
          <a:p>
            <a:pPr algn="l" indent="0" marL="0">
              <a:buNone/>
            </a:pPr>
            <a:r>
              <a:rPr lang="en-US" sz="3400" b="1" dirty="0">
                <a:solidFill>
                  <a:schemeClr val="tx1"/>
                </a:solidFill>
              </a:rPr>
              <a:t>How each result is checked</a:t>
            </a:r>
            <a:endParaRPr lang="en-US" sz="3400" dirty="0"/>
          </a:p>
        </p:txBody>
      </p:sp>
      <p:sp>
        <p:nvSpPr>
          <p:cNvPr id="3" name="Text 0"/>
          <p:cNvSpPr/>
          <p:nvPr>
            <p:ph idx="101" type="body" hasCustomPrompt="1"/>
          </p:nvPr>
        </p:nvSpPr>
        <p:spPr>
          <a:xfrm>
            <a:off x="548640" y="941832"/>
            <a:ext cx="9966960" cy="411480"/>
          </a:xfrm>
          <a:prstGeom prst="rect">
            <a:avLst/>
          </a:prstGeom>
          <a:noFill/>
          <a:ln/>
        </p:spPr>
        <p:txBody>
          <a:bodyPr wrap="square" rtlCol="0" anchor="ctr"/>
          <a:lstStyle/>
          <a:p>
            <a:pPr indent="0" marL="0">
              <a:buNone/>
            </a:pPr>
            <a:r>
              <a:rPr lang="en-US" sz="1600" i="1" dirty="0">
                <a:solidFill>
                  <a:schemeClr val="tx2"/>
                </a:solidFill>
              </a:rPr>
              <a:t>Every link has a gate, and no number is reported without a cross-check</a:t>
            </a:r>
            <a:endParaRPr lang="en-US" sz="1600" dirty="0"/>
          </a:p>
        </p:txBody>
      </p:sp>
      <p:sp>
        <p:nvSpPr>
          <p:cNvPr id="4" name="check card automated tests"/>
          <p:cNvSpPr/>
          <p:nvPr/>
        </p:nvSpPr>
        <p:spPr>
          <a:xfrm>
            <a:off x="548640" y="1737360"/>
            <a:ext cx="2615184" cy="3611880"/>
          </a:xfrm>
          <a:prstGeom prst="roundRect">
            <a:avLst>
              <a:gd name="adj" fmla="val 3497"/>
            </a:avLst>
          </a:prstGeom>
          <a:solidFill>
            <a:schemeClr val="bg2"/>
          </a:solidFill>
          <a:ln/>
        </p:spPr>
      </p:sp>
      <p:sp>
        <p:nvSpPr>
          <p:cNvPr id="5" name="Text 3"/>
          <p:cNvSpPr txBox="1"/>
          <p:nvPr/>
        </p:nvSpPr>
        <p:spPr>
          <a:xfrm>
            <a:off x="777240" y="2011680"/>
            <a:ext cx="2157984" cy="105156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185</a:t>
            </a:r>
            <a:endParaRPr lang="en-US" sz="5400" dirty="0"/>
          </a:p>
        </p:txBody>
      </p:sp>
      <p:sp>
        <p:nvSpPr>
          <p:cNvPr id="6" name="Text 4"/>
          <p:cNvSpPr txBox="1"/>
          <p:nvPr/>
        </p:nvSpPr>
        <p:spPr>
          <a:xfrm>
            <a:off x="777240" y="3154680"/>
            <a:ext cx="2157984" cy="685800"/>
          </a:xfrm>
          <a:prstGeom prst="rect">
            <a:avLst/>
          </a:prstGeom>
          <a:noFill/>
          <a:ln/>
        </p:spPr>
        <p:txBody>
          <a:bodyPr wrap="square" lIns="0" tIns="0" rIns="0" bIns="0" rtlCol="0" anchor="t"/>
          <a:lstStyle/>
          <a:p>
            <a:pPr indent="0" marL="0">
              <a:buNone/>
            </a:pPr>
            <a:r>
              <a:rPr lang="en-US" sz="1600" b="1" dirty="0">
                <a:solidFill>
                  <a:schemeClr val="tx1"/>
                </a:solidFill>
              </a:rPr>
              <a:t>automated tests</a:t>
            </a:r>
            <a:endParaRPr lang="en-US" sz="1600" dirty="0"/>
          </a:p>
        </p:txBody>
      </p:sp>
      <p:sp>
        <p:nvSpPr>
          <p:cNvPr id="7" name="Text 5"/>
          <p:cNvSpPr txBox="1"/>
          <p:nvPr/>
        </p:nvSpPr>
        <p:spPr>
          <a:xfrm>
            <a:off x="777240" y="3886200"/>
            <a:ext cx="2157984" cy="1783080"/>
          </a:xfrm>
          <a:prstGeom prst="rect">
            <a:avLst/>
          </a:prstGeom>
          <a:noFill/>
          <a:ln/>
        </p:spPr>
        <p:txBody>
          <a:bodyPr wrap="square" lIns="0" tIns="0" rIns="0" bIns="0" rtlCol="0" anchor="t"/>
          <a:lstStyle/>
          <a:p>
            <a:pPr indent="0" marL="0">
              <a:buNone/>
            </a:pPr>
            <a:r>
              <a:rPr lang="en-US" sz="1400" dirty="0">
                <a:solidFill>
                  <a:schemeClr val="tx2"/>
                </a:solidFill>
              </a:rPr>
              <a:t>One gate per build step, checked against CLAUDE.md §4 reference numbers, e.g. 5–7 : 1 anisotropy at 2.5 m.</a:t>
            </a:r>
            <a:endParaRPr lang="en-US" sz="1400" dirty="0"/>
          </a:p>
        </p:txBody>
      </p:sp>
      <p:sp>
        <p:nvSpPr>
          <p:cNvPr id="8" name="check card figures changed on regeneration"/>
          <p:cNvSpPr/>
          <p:nvPr/>
        </p:nvSpPr>
        <p:spPr>
          <a:xfrm>
            <a:off x="3346704" y="1737360"/>
            <a:ext cx="2615184" cy="3611880"/>
          </a:xfrm>
          <a:prstGeom prst="roundRect">
            <a:avLst>
              <a:gd name="adj" fmla="val 3497"/>
            </a:avLst>
          </a:prstGeom>
          <a:solidFill>
            <a:schemeClr val="bg2"/>
          </a:solidFill>
          <a:ln/>
        </p:spPr>
      </p:sp>
      <p:sp>
        <p:nvSpPr>
          <p:cNvPr id="9" name="Text 7"/>
          <p:cNvSpPr txBox="1"/>
          <p:nvPr/>
        </p:nvSpPr>
        <p:spPr>
          <a:xfrm>
            <a:off x="3575304" y="2011680"/>
            <a:ext cx="2157984" cy="105156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0</a:t>
            </a:r>
            <a:endParaRPr lang="en-US" sz="5400" dirty="0"/>
          </a:p>
        </p:txBody>
      </p:sp>
      <p:sp>
        <p:nvSpPr>
          <p:cNvPr id="10" name="Text 8"/>
          <p:cNvSpPr txBox="1"/>
          <p:nvPr/>
        </p:nvSpPr>
        <p:spPr>
          <a:xfrm>
            <a:off x="3575304" y="3154680"/>
            <a:ext cx="2157984" cy="685800"/>
          </a:xfrm>
          <a:prstGeom prst="rect">
            <a:avLst/>
          </a:prstGeom>
          <a:noFill/>
          <a:ln/>
        </p:spPr>
        <p:txBody>
          <a:bodyPr wrap="square" lIns="0" tIns="0" rIns="0" bIns="0" rtlCol="0" anchor="t"/>
          <a:lstStyle/>
          <a:p>
            <a:pPr indent="0" marL="0">
              <a:buNone/>
            </a:pPr>
            <a:r>
              <a:rPr lang="en-US" sz="1600" b="1" dirty="0">
                <a:solidFill>
                  <a:schemeClr val="tx1"/>
                </a:solidFill>
              </a:rPr>
              <a:t>figures changed on regeneration</a:t>
            </a:r>
            <a:endParaRPr lang="en-US" sz="1600" dirty="0"/>
          </a:p>
        </p:txBody>
      </p:sp>
      <p:sp>
        <p:nvSpPr>
          <p:cNvPr id="11" name="Text 9"/>
          <p:cNvSpPr txBox="1"/>
          <p:nvPr/>
        </p:nvSpPr>
        <p:spPr>
          <a:xfrm>
            <a:off x="3575304" y="3886200"/>
            <a:ext cx="2157984" cy="1783080"/>
          </a:xfrm>
          <a:prstGeom prst="rect">
            <a:avLst/>
          </a:prstGeom>
          <a:noFill/>
          <a:ln/>
        </p:spPr>
        <p:txBody>
          <a:bodyPr wrap="square" lIns="0" tIns="0" rIns="0" bIns="0" rtlCol="0" anchor="t"/>
          <a:lstStyle/>
          <a:p>
            <a:pPr indent="0" marL="0">
              <a:buNone/>
            </a:pPr>
            <a:r>
              <a:rPr lang="en-US" sz="1400" dirty="0">
                <a:solidFill>
                  <a:schemeClr val="tx2"/>
                </a:solidFill>
              </a:rPr>
              <a:t>Fixed seeds and noiseless observations: re-running make_figures leaves git diff results/ empty.</a:t>
            </a:r>
            <a:endParaRPr lang="en-US" sz="1400" dirty="0"/>
          </a:p>
        </p:txBody>
      </p:sp>
      <p:sp>
        <p:nvSpPr>
          <p:cNvPr id="12" name="check card design vs noisy covariance"/>
          <p:cNvSpPr/>
          <p:nvPr/>
        </p:nvSpPr>
        <p:spPr>
          <a:xfrm>
            <a:off x="6144768" y="1737360"/>
            <a:ext cx="2615184" cy="3611880"/>
          </a:xfrm>
          <a:prstGeom prst="roundRect">
            <a:avLst>
              <a:gd name="adj" fmla="val 3497"/>
            </a:avLst>
          </a:prstGeom>
          <a:solidFill>
            <a:schemeClr val="bg2"/>
          </a:solidFill>
          <a:ln/>
        </p:spPr>
      </p:sp>
      <p:sp>
        <p:nvSpPr>
          <p:cNvPr id="13" name="Text 11"/>
          <p:cNvSpPr txBox="1"/>
          <p:nvPr/>
        </p:nvSpPr>
        <p:spPr>
          <a:xfrm>
            <a:off x="6373368" y="2011680"/>
            <a:ext cx="2157984" cy="105156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 5%</a:t>
            </a:r>
            <a:endParaRPr lang="en-US" sz="5400" dirty="0"/>
          </a:p>
        </p:txBody>
      </p:sp>
      <p:sp>
        <p:nvSpPr>
          <p:cNvPr id="14" name="Text 12"/>
          <p:cNvSpPr txBox="1"/>
          <p:nvPr/>
        </p:nvSpPr>
        <p:spPr>
          <a:xfrm>
            <a:off x="6373368" y="3154680"/>
            <a:ext cx="2157984" cy="685800"/>
          </a:xfrm>
          <a:prstGeom prst="rect">
            <a:avLst/>
          </a:prstGeom>
          <a:noFill/>
          <a:ln/>
        </p:spPr>
        <p:txBody>
          <a:bodyPr wrap="square" lIns="0" tIns="0" rIns="0" bIns="0" rtlCol="0" anchor="t"/>
          <a:lstStyle/>
          <a:p>
            <a:pPr indent="0" marL="0">
              <a:buNone/>
            </a:pPr>
            <a:r>
              <a:rPr lang="en-US" sz="1600" b="1" dirty="0">
                <a:solidFill>
                  <a:schemeClr val="tx1"/>
                </a:solidFill>
              </a:rPr>
              <a:t>design vs noisy covariance</a:t>
            </a:r>
            <a:endParaRPr lang="en-US" sz="1600" dirty="0"/>
          </a:p>
        </p:txBody>
      </p:sp>
      <p:sp>
        <p:nvSpPr>
          <p:cNvPr id="15" name="Text 13"/>
          <p:cNvSpPr txBox="1"/>
          <p:nvPr/>
        </p:nvSpPr>
        <p:spPr>
          <a:xfrm>
            <a:off x="6373368" y="3886200"/>
            <a:ext cx="2157984" cy="1783080"/>
          </a:xfrm>
          <a:prstGeom prst="rect">
            <a:avLst/>
          </a:prstGeom>
          <a:noFill/>
          <a:ln/>
        </p:spPr>
        <p:txBody>
          <a:bodyPr wrap="square" lIns="0" tIns="0" rIns="0" bIns="0" rtlCol="0" anchor="t"/>
          <a:lstStyle/>
          <a:p>
            <a:pPr indent="0" marL="0">
              <a:buNone/>
            </a:pPr>
            <a:r>
              <a:rPr lang="en-US" sz="1400" dirty="0">
                <a:solidFill>
                  <a:schemeClr val="tx2"/>
                </a:solidFill>
              </a:rPr>
              <a:t>A test pins the noiseless design covariance to a genuinely noisy network solve.</a:t>
            </a:r>
            <a:endParaRPr lang="en-US" sz="1400" dirty="0"/>
          </a:p>
        </p:txBody>
      </p:sp>
      <p:sp>
        <p:nvSpPr>
          <p:cNvPr id="16" name="check card GA cross-checks per scene"/>
          <p:cNvSpPr/>
          <p:nvPr/>
        </p:nvSpPr>
        <p:spPr>
          <a:xfrm>
            <a:off x="8942832" y="1737360"/>
            <a:ext cx="2615184" cy="3611880"/>
          </a:xfrm>
          <a:prstGeom prst="roundRect">
            <a:avLst>
              <a:gd name="adj" fmla="val 3497"/>
            </a:avLst>
          </a:prstGeom>
          <a:solidFill>
            <a:schemeClr val="bg2"/>
          </a:solidFill>
          <a:ln/>
        </p:spPr>
      </p:sp>
      <p:sp>
        <p:nvSpPr>
          <p:cNvPr id="17" name="Text 15"/>
          <p:cNvSpPr txBox="1"/>
          <p:nvPr/>
        </p:nvSpPr>
        <p:spPr>
          <a:xfrm>
            <a:off x="9171432" y="2011680"/>
            <a:ext cx="2157984" cy="1051560"/>
          </a:xfrm>
          <a:prstGeom prst="rect">
            <a:avLst/>
          </a:prstGeom>
          <a:noFill/>
          <a:ln/>
        </p:spPr>
        <p:txBody>
          <a:bodyPr wrap="square" lIns="0" tIns="0" rIns="0" bIns="0" rtlCol="0" anchor="b"/>
          <a:lstStyle/>
          <a:p>
            <a:pPr indent="0" marL="0">
              <a:buNone/>
            </a:pPr>
            <a:r>
              <a:rPr lang="en-US" sz="5400" b="1" dirty="0">
                <a:solidFill>
                  <a:schemeClr val="accent3"/>
                </a:solidFill>
                <a:latin typeface="Cambria" pitchFamily="34" charset="0"/>
                <a:ea typeface="Cambria" pitchFamily="34" charset="-122"/>
                <a:cs typeface="Cambria" pitchFamily="34" charset="-120"/>
              </a:rPr>
              <a:t>16</a:t>
            </a:r>
            <a:endParaRPr lang="en-US" sz="5400" dirty="0"/>
          </a:p>
        </p:txBody>
      </p:sp>
      <p:sp>
        <p:nvSpPr>
          <p:cNvPr id="18" name="Text 16"/>
          <p:cNvSpPr txBox="1"/>
          <p:nvPr/>
        </p:nvSpPr>
        <p:spPr>
          <a:xfrm>
            <a:off x="9171432" y="3154680"/>
            <a:ext cx="2157984" cy="685800"/>
          </a:xfrm>
          <a:prstGeom prst="rect">
            <a:avLst/>
          </a:prstGeom>
          <a:noFill/>
          <a:ln/>
        </p:spPr>
        <p:txBody>
          <a:bodyPr wrap="square" lIns="0" tIns="0" rIns="0" bIns="0" rtlCol="0" anchor="t"/>
          <a:lstStyle/>
          <a:p>
            <a:pPr indent="0" marL="0">
              <a:buNone/>
            </a:pPr>
            <a:r>
              <a:rPr lang="en-US" sz="1600" b="1" dirty="0">
                <a:solidFill>
                  <a:schemeClr val="tx1"/>
                </a:solidFill>
              </a:rPr>
              <a:t>GA cross-checks per scene</a:t>
            </a:r>
            <a:endParaRPr lang="en-US" sz="1600" dirty="0"/>
          </a:p>
        </p:txBody>
      </p:sp>
      <p:sp>
        <p:nvSpPr>
          <p:cNvPr id="19" name="Text 17"/>
          <p:cNvSpPr txBox="1"/>
          <p:nvPr/>
        </p:nvSpPr>
        <p:spPr>
          <a:xfrm>
            <a:off x="9171432" y="3886200"/>
            <a:ext cx="2157984" cy="1783080"/>
          </a:xfrm>
          <a:prstGeom prst="rect">
            <a:avLst/>
          </a:prstGeom>
          <a:noFill/>
          <a:ln/>
        </p:spPr>
        <p:txBody>
          <a:bodyPr wrap="square" lIns="0" tIns="0" rIns="0" bIns="0" rtlCol="0" anchor="t"/>
          <a:lstStyle/>
          <a:p>
            <a:pPr indent="0" marL="0">
              <a:buNone/>
            </a:pPr>
            <a:r>
              <a:rPr lang="en-US" sz="1400" dirty="0">
                <a:solidFill>
                  <a:schemeClr val="tx2"/>
                </a:solidFill>
              </a:rPr>
              <a:t>Each of 4 winning plans scored under all 4 objectives' formulas. This caught two wrong searches, and re-scoring later exposed an invalid-network loophole.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822960"/>
          </a:xfrm>
          <a:prstGeom prst="rect">
            <a:avLst/>
          </a:prstGeom>
          <a:noFill/>
          <a:ln/>
        </p:spPr>
        <p:txBody>
          <a:bodyPr wrap="square" rtlCol="0" anchor="ctr"/>
          <a:lstStyle/>
          <a:p>
            <a:pPr algn="l" indent="0" marL="0">
              <a:buNone/>
            </a:pPr>
            <a:r>
              <a:rPr lang="en-US" sz="3800" b="1" dirty="0">
                <a:solidFill>
                  <a:schemeClr val="bg1"/>
                </a:solidFill>
              </a:rPr>
              <a:t>Reproducing every figure</a:t>
            </a:r>
            <a:endParaRPr lang="en-US" sz="3800" dirty="0"/>
          </a:p>
        </p:txBody>
      </p:sp>
      <p:sp>
        <p:nvSpPr>
          <p:cNvPr id="3" name="Text 0"/>
          <p:cNvSpPr/>
          <p:nvPr>
            <p:ph idx="101" type="body" hasCustomPrompt="1"/>
          </p:nvPr>
        </p:nvSpPr>
        <p:spPr>
          <a:xfrm>
            <a:off x="731520" y="1280160"/>
            <a:ext cx="10698480" cy="457200"/>
          </a:xfrm>
          <a:prstGeom prst="rect">
            <a:avLst/>
          </a:prstGeom>
          <a:noFill/>
          <a:ln/>
        </p:spPr>
        <p:txBody>
          <a:bodyPr wrap="square" rtlCol="0" anchor="ctr"/>
          <a:lstStyle/>
          <a:p>
            <a:pPr indent="0" marL="0">
              <a:buNone/>
            </a:pPr>
            <a:r>
              <a:rPr lang="en-US" sz="1800" dirty="0">
                <a:solidFill>
                  <a:schemeClr val="accent5"/>
                </a:solidFill>
              </a:rPr>
              <a:t>Four commands from a fresh clone; full write-ups live in docs/</a:t>
            </a:r>
            <a:endParaRPr lang="en-US" sz="1800" dirty="0"/>
          </a:p>
        </p:txBody>
      </p:sp>
      <p:sp>
        <p:nvSpPr>
          <p:cNvPr id="4" name="commands"/>
          <p:cNvSpPr txBox="1"/>
          <p:nvPr/>
        </p:nvSpPr>
        <p:spPr>
          <a:xfrm>
            <a:off x="731520" y="2103120"/>
            <a:ext cx="10698480" cy="2377440"/>
          </a:xfrm>
          <a:prstGeom prst="roundRect">
            <a:avLst>
              <a:gd name="adj" fmla="val 3846"/>
            </a:avLst>
          </a:prstGeom>
          <a:solidFill>
            <a:schemeClr val="tx2"/>
          </a:solidFill>
          <a:ln/>
        </p:spPr>
        <p:txBody>
          <a:bodyPr wrap="square" lIns="228600" tIns="228600" rIns="228600" bIns="228600" rtlCol="0" anchor="ctr"/>
          <a:lstStyle/>
          <a:p>
            <a:pPr algn="l" indent="0" marL="0">
              <a:spcAft>
                <a:spcPts val="600"/>
              </a:spcAft>
              <a:buNone/>
            </a:pPr>
            <a:r>
              <a:rPr lang="en-US" sz="1500" dirty="0">
                <a:solidFill>
                  <a:schemeClr val="bg1"/>
                </a:solidFill>
                <a:latin typeface="Courier New" pitchFamily="34" charset="0"/>
                <a:ea typeface="Courier New" pitchFamily="34" charset="-122"/>
                <a:cs typeface="Courier New" pitchFamily="34" charset="-120"/>
              </a:rPr>
              <a:t>pip install -r requirements.txt &amp;&amp; pip install -e .</a:t>
            </a:r>
            <a:endParaRPr lang="en-US" sz="1500" dirty="0"/>
          </a:p>
          <a:p>
            <a:pPr algn="l" indent="0" marL="0">
              <a:spcAft>
                <a:spcPts val="600"/>
              </a:spcAft>
              <a:buNone/>
            </a:pPr>
            <a:r>
              <a:rPr lang="en-US" sz="1500" dirty="0">
                <a:solidFill>
                  <a:schemeClr val="bg1"/>
                </a:solidFill>
                <a:latin typeface="Courier New" pitchFamily="34" charset="0"/>
                <a:ea typeface="Courier New" pitchFamily="34" charset="-122"/>
                <a:cs typeface="Courier New" pitchFamily="34" charset="-120"/>
              </a:rPr>
              <a:t>pytest</a:t>
            </a:r>
            <a:pPr algn="l" indent="0" marL="0">
              <a:spcAft>
                <a:spcPts val="600"/>
              </a:spcAft>
              <a:buNone/>
            </a:pPr>
            <a:r>
              <a:rPr lang="en-US" sz="1500" dirty="0">
                <a:solidFill>
                  <a:schemeClr val="accent5"/>
                </a:solidFill>
                <a:latin typeface="Courier New" pitchFamily="34" charset="0"/>
                <a:ea typeface="Courier New" pitchFamily="34" charset="-122"/>
                <a:cs typeface="Courier New" pitchFamily="34" charset="-120"/>
              </a:rPr>
              <a:t>   # 185 tests, about four minutes</a:t>
            </a:r>
            <a:endParaRPr lang="en-US" sz="1500" dirty="0"/>
          </a:p>
          <a:p>
            <a:pPr algn="l" indent="0" marL="0">
              <a:spcAft>
                <a:spcPts val="600"/>
              </a:spcAft>
              <a:buNone/>
            </a:pPr>
            <a:r>
              <a:rPr lang="en-US" sz="1500" dirty="0">
                <a:solidFill>
                  <a:schemeClr val="bg1"/>
                </a:solidFill>
                <a:latin typeface="Courier New" pitchFamily="34" charset="0"/>
                <a:ea typeface="Courier New" pitchFamily="34" charset="-122"/>
                <a:cs typeface="Courier New" pitchFamily="34" charset="-120"/>
              </a:rPr>
              <a:t>python -m viz.make_figures</a:t>
            </a:r>
            <a:pPr algn="l" indent="0" marL="0">
              <a:spcAft>
                <a:spcPts val="600"/>
              </a:spcAft>
              <a:buNone/>
            </a:pPr>
            <a:r>
              <a:rPr lang="en-US" sz="1500" dirty="0">
                <a:solidFill>
                  <a:schemeClr val="accent5"/>
                </a:solidFill>
                <a:latin typeface="Courier New" pitchFamily="34" charset="0"/>
                <a:ea typeface="Courier New" pitchFamily="34" charset="-122"/>
                <a:cs typeface="Courier New" pitchFamily="34" charset="-120"/>
              </a:rPr>
              <a:t>   # panels 1–8, 2–3 min, identical every run</a:t>
            </a:r>
            <a:endParaRPr lang="en-US" sz="1500" dirty="0"/>
          </a:p>
          <a:p>
            <a:pPr algn="l" indent="0" marL="0">
              <a:spcAft>
                <a:spcPts val="600"/>
              </a:spcAft>
              <a:buNone/>
            </a:pPr>
            <a:r>
              <a:rPr lang="en-US" sz="1500" dirty="0">
                <a:solidFill>
                  <a:schemeClr val="bg1"/>
                </a:solidFill>
                <a:latin typeface="Courier New" pitchFamily="34" charset="0"/>
                <a:ea typeface="Courier New" pitchFamily="34" charset="-122"/>
                <a:cs typeface="Courier New" pitchFamily="34" charset="-120"/>
              </a:rPr>
              <a:t>OMP_NUM_THREADS=1 OPENBLAS_NUM_THREADS=1 MKL_NUM_THREADS=1 \</a:t>
            </a:r>
            <a:endParaRPr lang="en-US" sz="1500" dirty="0"/>
          </a:p>
          <a:p>
            <a:pPr algn="l" indent="0" marL="0">
              <a:spcAft>
                <a:spcPts val="600"/>
              </a:spcAft>
              <a:buNone/>
            </a:pPr>
            <a:r>
              <a:rPr lang="en-US" sz="1500" dirty="0">
                <a:solidFill>
                  <a:schemeClr val="bg1"/>
                </a:solidFill>
                <a:latin typeface="Courier New" pitchFamily="34" charset="0"/>
                <a:ea typeface="Courier New" pitchFamily="34" charset="-122"/>
                <a:cs typeface="Courier New" pitchFamily="34" charset="-120"/>
              </a:rPr>
              <a:t>  NUMEXPR_NUM_THREADS=1 python -m viz.make_wing_figures</a:t>
            </a:r>
            <a:pPr algn="l" indent="0" marL="0">
              <a:spcAft>
                <a:spcPts val="600"/>
              </a:spcAft>
              <a:buNone/>
            </a:pPr>
            <a:r>
              <a:rPr lang="en-US" sz="1500" dirty="0">
                <a:solidFill>
                  <a:schemeClr val="accent5"/>
                </a:solidFill>
                <a:latin typeface="Courier New" pitchFamily="34" charset="0"/>
                <a:ea typeface="Courier New" pitchFamily="34" charset="-122"/>
                <a:cs typeface="Courier New" pitchFamily="34" charset="-120"/>
              </a:rPr>
              <a:t>   # panel 9, ~14 min</a:t>
            </a:r>
            <a:endParaRPr lang="en-US" sz="1500" dirty="0"/>
          </a:p>
        </p:txBody>
      </p:sp>
      <p:sp>
        <p:nvSpPr>
          <p:cNvPr id="5" name="Text 3"/>
          <p:cNvSpPr txBox="1"/>
          <p:nvPr/>
        </p:nvSpPr>
        <p:spPr>
          <a:xfrm>
            <a:off x="731520" y="4892040"/>
            <a:ext cx="3429000" cy="868680"/>
          </a:xfrm>
          <a:prstGeom prst="rect">
            <a:avLst/>
          </a:prstGeom>
          <a:noFill/>
          <a:ln/>
        </p:spPr>
        <p:txBody>
          <a:bodyPr wrap="square" lIns="0" tIns="0" rIns="0" bIns="0" rtlCol="0" anchor="t"/>
          <a:lstStyle/>
          <a:p>
            <a:pPr indent="0" marL="0">
              <a:buNone/>
            </a:pPr>
            <a:r>
              <a:rPr lang="en-US" sz="1300" b="1" dirty="0">
                <a:solidFill>
                  <a:schemeClr val="accent2"/>
                </a:solidFill>
                <a:latin typeface="Courier New" pitchFamily="34" charset="0"/>
                <a:ea typeface="Courier New" pitchFamily="34" charset="-122"/>
                <a:cs typeface="Courier New" pitchFamily="34" charset="-120"/>
              </a:rPr>
              <a:t>docs/step1–step6_*.md</a:t>
            </a:r>
            <a:endParaRPr lang="en-US" sz="1300" dirty="0"/>
          </a:p>
          <a:p>
            <a:pPr indent="0" marL="0">
              <a:buNone/>
            </a:pPr>
            <a:r>
              <a:rPr lang="en-US" sz="1300" dirty="0">
                <a:solidFill>
                  <a:schemeClr val="bg2"/>
                </a:solidFill>
              </a:rPr>
              <a:t>the physics and results behind each build step</a:t>
            </a:r>
            <a:endParaRPr lang="en-US" sz="1300" dirty="0"/>
          </a:p>
        </p:txBody>
      </p:sp>
      <p:sp>
        <p:nvSpPr>
          <p:cNvPr id="6" name="Text 4"/>
          <p:cNvSpPr txBox="1"/>
          <p:nvPr/>
        </p:nvSpPr>
        <p:spPr>
          <a:xfrm>
            <a:off x="4361688" y="4892040"/>
            <a:ext cx="3429000" cy="868680"/>
          </a:xfrm>
          <a:prstGeom prst="rect">
            <a:avLst/>
          </a:prstGeom>
          <a:noFill/>
          <a:ln/>
        </p:spPr>
        <p:txBody>
          <a:bodyPr wrap="square" lIns="0" tIns="0" rIns="0" bIns="0" rtlCol="0" anchor="t"/>
          <a:lstStyle/>
          <a:p>
            <a:pPr indent="0" marL="0">
              <a:buNone/>
            </a:pPr>
            <a:r>
              <a:rPr lang="en-US" sz="1300" b="1" dirty="0">
                <a:solidFill>
                  <a:schemeClr val="accent2"/>
                </a:solidFill>
                <a:latin typeface="Courier New" pitchFamily="34" charset="0"/>
                <a:ea typeface="Courier New" pitchFamily="34" charset="-122"/>
                <a:cs typeface="Courier New" pitchFamily="34" charset="-120"/>
              </a:rPr>
              <a:t>CLAUDE.md</a:t>
            </a:r>
            <a:endParaRPr lang="en-US" sz="1300" dirty="0"/>
          </a:p>
          <a:p>
            <a:pPr indent="0" marL="0">
              <a:buNone/>
            </a:pPr>
            <a:r>
              <a:rPr lang="en-US" sz="1300" dirty="0">
                <a:solidFill>
                  <a:schemeClr val="bg2"/>
                </a:solidFill>
              </a:rPr>
              <a:t>reference numbers, design decisions, build order</a:t>
            </a:r>
            <a:endParaRPr lang="en-US" sz="1300" dirty="0"/>
          </a:p>
        </p:txBody>
      </p:sp>
      <p:sp>
        <p:nvSpPr>
          <p:cNvPr id="7" name="Text 5"/>
          <p:cNvSpPr txBox="1"/>
          <p:nvPr/>
        </p:nvSpPr>
        <p:spPr>
          <a:xfrm>
            <a:off x="7991856" y="4892040"/>
            <a:ext cx="3429000" cy="868680"/>
          </a:xfrm>
          <a:prstGeom prst="rect">
            <a:avLst/>
          </a:prstGeom>
          <a:noFill/>
          <a:ln/>
        </p:spPr>
        <p:txBody>
          <a:bodyPr wrap="square" lIns="0" tIns="0" rIns="0" bIns="0" rtlCol="0" anchor="t"/>
          <a:lstStyle/>
          <a:p>
            <a:pPr indent="0" marL="0">
              <a:buNone/>
            </a:pPr>
            <a:r>
              <a:rPr lang="en-US" sz="1300" b="1" dirty="0">
                <a:solidFill>
                  <a:schemeClr val="accent2"/>
                </a:solidFill>
                <a:latin typeface="Courier New" pitchFamily="34" charset="0"/>
                <a:ea typeface="Courier New" pitchFamily="34" charset="-122"/>
                <a:cs typeface="Courier New" pitchFamily="34" charset="-120"/>
              </a:rPr>
              <a:t>README.md / SETUP.md</a:t>
            </a:r>
            <a:endParaRPr lang="en-US" sz="1300" dirty="0"/>
          </a:p>
          <a:p>
            <a:pPr indent="0" marL="0">
              <a:buNone/>
            </a:pPr>
            <a:r>
              <a:rPr lang="en-US" sz="1300" dirty="0">
                <a:solidFill>
                  <a:schemeClr val="bg2"/>
                </a:solidFill>
              </a:rPr>
              <a:t>setup on Windows / VS Code, interactive app.py explorer</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Testbed Workflow">
  <a:themeElements>
    <a:clrScheme name="Testbed Workflow">
      <a:dk1>
        <a:srgbClr val="1B2430"/>
      </a:dk1>
      <a:lt1>
        <a:srgbClr val="FFFFFF"/>
      </a:lt1>
      <a:dk2>
        <a:srgbClr val="2E4053"/>
      </a:dk2>
      <a:lt2>
        <a:srgbClr val="EEF2F5"/>
      </a:lt2>
      <a:accent1>
        <a:srgbClr val="0E7C86"/>
      </a:accent1>
      <a:accent2>
        <a:srgbClr val="E0A030"/>
      </a:accent2>
      <a:accent3>
        <a:srgbClr val="C8443C"/>
      </a:accent3>
      <a:accent4>
        <a:srgbClr val="5B6C7D"/>
      </a:accent4>
      <a:accent5>
        <a:srgbClr val="7FB7BE"/>
      </a:accent5>
      <a:accent6>
        <a:srgbClr val="8E7DBE"/>
      </a:accent6>
      <a:hlink>
        <a:srgbClr val="0E7C86"/>
      </a:hlink>
      <a:folHlink>
        <a:srgbClr val="5B6C7D"/>
      </a:folHlink>
    </a:clrScheme>
    <a:fontScheme name="Testbed Workflo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LVM Measurement Planning Testbed: how the figures are produced</dc:title>
  <dc:subject>PptxGenJS Presentation</dc:subject>
  <dc:creator>Calum Tierney</dc:creator>
  <cp:lastModifiedBy>Calum Tierney</cp:lastModifiedBy>
  <cp:revision>1</cp:revision>
  <dcterms:created xsi:type="dcterms:W3CDTF">2026-10-23T21:01:05Z</dcterms:created>
  <dcterms:modified xsi:type="dcterms:W3CDTF">2026-10-23T21:01:05Z</dcterms:modified>
</cp:coreProperties>
</file>
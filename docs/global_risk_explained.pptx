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lobal risk" id="{ad0d2d96-2f8e-1d9a-0ab4-7e57dabce811}">
          <p14:sldIdLst>
            <p14:sldId id="256"/>
            <p14:sldId id="257"/>
            <p14:sldId id="258"/>
            <p14:sldId id="259"/>
            <p14:sldId id="260"/>
            <p14:sldId id="261"/>
            <p14:sldId id="262"/>
            <p14:sldId id="263"/>
            <p14:sldId id="264"/>
            <p14:sldId id="265"/>
            <p14:sldId id="266"/>
            <p14:sldId id="267"/>
          </p14:sldIdLst>
        </p14:section>
        <p14:section name="Takeaways" id="{c1c43fe4-1e49-294b-b76c-5ce9c7a7b3b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are covered. First, what are the equations for the probability of false accept and false reject, and what do they say. Second, how are they calculated in an aerospace setting, where there are too few builds to estimate process capability the classical way. Every figure here is computed with the testbed's own risk module, using the placeholder process priors from the wing-box experiment, so they illustrate the mechanics; they are not measured process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true deviation of a feature from nominal, Y, is never seen. What is seen is X, which is Y plus a measurement error E. A part is accepted if X is inside the tolerance. That gives a two by two table. Two cells are right. The other two are the wrong decisions: a bad part shipped, called a false accept, probability PFA, and a good part scrapped, called a false reject, probability PFR. For a safety-critical part the false accept is the one that matters for safety; the false reject is what costs yield and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go in. The measurement error, from the testbed's chain. The tolerance and decision rule, from the drawing. And the process prior, which is the population of true values the process makes. The risk is global because it is averaged over that population: how often, across all parts the process makes, does a wrong decision come out. The specific risk for one measured value is a different, related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Φ is the standard normal cumulative distribution. P of accept given a true value y is the Gaussian blur of the accept interval: close to 1 well inside the tolerance, one half exactly at a limit, close to 0 well outside. f of y is the process prior. PFA multiplies the prior by the accept probability and integrates over the out-of-tolerance region; PFR multiplies the prior by one minus the accept probability and integrates over the in-tolerance region. Both are one-dimensional and computed numerically. Panel c shows what is integrated for the marginal process; the vertical axis is logarithmic, so compare the printed values rather than the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PFA against measurement uncertainty. It sits just under a ceiling set by the process, the dashed line, and barely moves, because the ceiling is the fraction of parts that are actually bad. Right panel: PFR, which rises over several orders of magnitude, and rises sooner for the marginal process. For a safety-critical part this is the central finding: the consumer's risk is mostly decided by the process, and the plan mostly decides the producer's risk, plus which features are measured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is the risk for a process with that mean and spread, with a measurement uncertainty of 6.25 micrometres against a plus or minus 50 micrometre tolerance. The white curves are lines of constant Cpk. The two stars are the placeholder processes used in the wing-box experiment: a marginal one pushed against a limit and a high-capability one centred with room. A single Cpk figure hides where the margin comes from, which changes false-reject risk by orders of magnitude. The code never uses Cpk: it uses the mean and the standard deviation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characteristic is one toleranced thing to verify; in the wing-box experiment each of the 500 inspection points is one. A cluster is a group of characteristics made by the same production process, which therefore tend to go wrong in the same way. Classical process capability needs around fifty samples of a given characteristic, and aerospace builds too few units to supply that for any single point. So the prior is set once per cluster, pooling what is known about the process. The cluster assignment shown is the experiment's placeholder, not 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is built in the repository yet; they are what could replace the placeholders. Elicitation is what CLAUDE.md specifies. Pooling is how a cluster gets data when no feature has enough. Estimating from the wing's own measurements works because the digital twin knows the measurement uncertainty, so the process spread can be recovered by subtraction, with the caveats on spatial correlation and bias. And a Bayesian update lets the prior sharpen as builds accumulate. If a prior cannot be pinned down, plan across a family of plausible priors.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step-5 risk module reports the assignment confidence but does not mix it into the numbers; the wing-box experiment does, as shown. The effect is large because the two clusters' out-of-tolerance rates differ by four orders of magnitude, so even a ten percent doubt about a point's label makes skipping it about sixteen hundred times more expensive in escape risk than it would be if the label were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Part-level quantities are sums over the points. The escape probability is the chance that at least one point is falsely accepted. With the wing-box placeholder priors it is about 0.76 percent with nothing measured, 0.35 percent with every point at the TUR limit and 0.22 percent with every point at one micrometre. So the range between measuring nothing and measuring perfectly is only a factor of about three and a half; that is the structural fact behind the whole risk-driven planning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Safety-critical does not come with a number. The anchors are Z540.3 and the JCGM documents, none specific to aerospace. The experiment avoids inventing a limit by comparing plans on relative terms and sweeping the limit. The absolute acceptable risk is an input that has to come from the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findings from the wing-box experiment, all on a synthetic part with placeholder priors. The saving is not an artefact of tolerance or prior shape. It does depend on how sure the cluster label is, and it disappears if the points that are expensive to see are the ones whose process is marginal. Those are exactly the inputs that real process data has to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to leave with. The equations, the fact that Cpk is not an input, how to set priors when builds are few, and that every number rests on those priors.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2880360"/>
            <a:ext cx="1069848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4" name="Text 0"/>
          <p:cNvSpPr/>
          <p:nvPr>
            <p:ph idx="102" type="body" hasCustomPrompt="1"/>
          </p:nvPr>
        </p:nvSpPr>
        <p:spPr>
          <a:xfrm>
            <a:off x="731520" y="5897880"/>
            <a:ext cx="10698480" cy="41148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132320" cy="457200"/>
          </a:xfrm>
          <a:prstGeom prst="rect">
            <a:avLst/>
          </a:prstGeom>
          <a:noFill/>
          <a:ln/>
        </p:spPr>
        <p:txBody>
          <a:bodyPr wrap="square" rtlCol="0"/>
          <a:lstStyle>
            <a:lvl1pPr indent="0" marL="0">
              <a:buNone/>
              <a:defRPr lang="en-US" sz="1600" b="1"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731520" y="2651760"/>
            <a:ext cx="768096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94760"/>
            <a:ext cx="7315200" cy="100584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lstStyle>
            <a:lvl1pPr indent="0" marL="0">
              <a:buNone/>
              <a:defRPr lang="en-US" sz="1600" i="1" dirty="0">
                <a:solidFill>
                  <a:schemeClr val="tx2"/>
                </a:solidFill>
              </a:defRPr>
            </a:lvl1pPr>
          </a:lstStyle>
          <a:p>
            <a:pPr indent="0" marL="0">
              <a:buNone/>
            </a:pPr>
            <a:endParaRPr lang="en-US" sz="16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LVM Measurement Planning Testbed  ·  global decision risk (JCGM 106)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731520" y="1280160"/>
            <a:ext cx="10698480" cy="4572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371600"/>
          </a:xfrm>
          <a:prstGeom prst="rect">
            <a:avLst/>
          </a:prstGeom>
          <a:noFill/>
          <a:ln/>
        </p:spPr>
        <p:txBody>
          <a:bodyPr wrap="square" rtlCol="0" anchor="b"/>
          <a:lstStyle/>
          <a:p>
            <a:pPr algn="l" indent="0" marL="0">
              <a:buNone/>
            </a:pPr>
            <a:r>
              <a:rPr lang="en-US" sz="4400" b="1" dirty="0">
                <a:solidFill>
                  <a:schemeClr val="bg1"/>
                </a:solidFill>
              </a:rPr>
              <a:t>Global decision risk: PFA, PFR and where the priors come from</a:t>
            </a:r>
            <a:endParaRPr lang="en-US" sz="4400" dirty="0"/>
          </a:p>
        </p:txBody>
      </p:sp>
      <p:sp>
        <p:nvSpPr>
          <p:cNvPr id="3" name="Text 0"/>
          <p:cNvSpPr/>
          <p:nvPr>
            <p:ph idx="101" type="body" hasCustomPrompt="1"/>
          </p:nvPr>
        </p:nvSpPr>
        <p:spPr>
          <a:xfrm>
            <a:off x="731520" y="2880360"/>
            <a:ext cx="10698480" cy="822960"/>
          </a:xfrm>
          <a:prstGeom prst="rect">
            <a:avLst/>
          </a:prstGeom>
          <a:noFill/>
          <a:ln/>
        </p:spPr>
        <p:txBody>
          <a:bodyPr wrap="square" rtlCol="0" anchor="t"/>
          <a:lstStyle/>
          <a:p>
            <a:pPr indent="0" marL="0">
              <a:buNone/>
            </a:pPr>
            <a:r>
              <a:rPr lang="en-US" sz="2000" dirty="0">
                <a:solidFill>
                  <a:schemeClr val="accent5"/>
                </a:solidFill>
              </a:rPr>
              <a:t>What a measurement result can and cannot tell you about a part, and how that is calculated when aerospace builds are few</a:t>
            </a:r>
            <a:endParaRPr lang="en-US" sz="2000" dirty="0"/>
          </a:p>
        </p:txBody>
      </p:sp>
      <p:sp>
        <p:nvSpPr>
          <p:cNvPr id="4" name="Text 0"/>
          <p:cNvSpPr/>
          <p:nvPr>
            <p:ph idx="102" type="body" hasCustomPrompt="1"/>
          </p:nvPr>
        </p:nvSpPr>
        <p:spPr>
          <a:xfrm>
            <a:off x="731520" y="5897880"/>
            <a:ext cx="10698480" cy="411480"/>
          </a:xfrm>
          <a:prstGeom prst="rect">
            <a:avLst/>
          </a:prstGeom>
          <a:noFill/>
          <a:ln/>
        </p:spPr>
        <p:txBody>
          <a:bodyPr wrap="square" rtlCol="0" anchor="ctr"/>
          <a:lstStyle/>
          <a:p>
            <a:pPr indent="0" marL="0">
              <a:buNone/>
            </a:pPr>
            <a:r>
              <a:rPr lang="en-US" sz="1400" dirty="0">
                <a:solidFill>
                  <a:schemeClr val="bg2"/>
                </a:solidFill>
              </a:rPr>
              <a:t>Calum Tierney  ·  Queen's University Belfast  ·  Supervisor: Prof. Paul Maropoulos  ·  Industrial partners: GKN Aerospace, AMIC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A measurement is not the truth</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Noise can flip the accept/reject decision, in two different ways</a:t>
            </a:r>
            <a:endParaRPr lang="en-US" sz="1600" dirty="0"/>
          </a:p>
        </p:txBody>
      </p:sp>
      <p:sp>
        <p:nvSpPr>
          <p:cNvPr id="4" name="tolerance zone"/>
          <p:cNvSpPr/>
          <p:nvPr/>
        </p:nvSpPr>
        <p:spPr>
          <a:xfrm>
            <a:off x="2009851" y="2423160"/>
            <a:ext cx="3021178" cy="1280160"/>
          </a:xfrm>
          <a:prstGeom prst="rect">
            <a:avLst/>
          </a:prstGeom>
          <a:solidFill>
            <a:schemeClr val="bg2"/>
          </a:solidFill>
          <a:ln/>
        </p:spPr>
      </p:sp>
      <p:sp>
        <p:nvSpPr>
          <p:cNvPr id="5" name="Text 3"/>
          <p:cNvSpPr txBox="1"/>
          <p:nvPr/>
        </p:nvSpPr>
        <p:spPr>
          <a:xfrm>
            <a:off x="2009851" y="2103120"/>
            <a:ext cx="3021178" cy="274320"/>
          </a:xfrm>
          <a:prstGeom prst="rect">
            <a:avLst/>
          </a:prstGeom>
          <a:noFill/>
          <a:ln/>
        </p:spPr>
        <p:txBody>
          <a:bodyPr wrap="square" lIns="0" tIns="0" rIns="0" bIns="0" rtlCol="0" anchor="ctr"/>
          <a:lstStyle/>
          <a:p>
            <a:pPr algn="ctr" indent="0" marL="0">
              <a:buNone/>
            </a:pPr>
            <a:r>
              <a:rPr lang="en-US" sz="1200" b="1" dirty="0">
                <a:solidFill>
                  <a:schemeClr val="tx2"/>
                </a:solidFill>
              </a:rPr>
              <a:t>tolerance zone  [−T, +T]</a:t>
            </a:r>
            <a:endParaRPr lang="en-US" sz="1200" dirty="0"/>
          </a:p>
        </p:txBody>
      </p:sp>
      <p:sp>
        <p:nvSpPr>
          <p:cNvPr id="6" name="Shape 4"/>
          <p:cNvSpPr/>
          <p:nvPr/>
        </p:nvSpPr>
        <p:spPr>
          <a:xfrm>
            <a:off x="822960" y="3063240"/>
            <a:ext cx="5394960" cy="0"/>
          </a:xfrm>
          <a:prstGeom prst="line">
            <a:avLst/>
          </a:prstGeom>
          <a:noFill/>
          <a:ln w="25400">
            <a:solidFill>
              <a:schemeClr val="accent4"/>
            </a:solidFill>
            <a:prstDash val="solid"/>
          </a:ln>
        </p:spPr>
      </p:sp>
      <p:sp>
        <p:nvSpPr>
          <p:cNvPr id="7" name="Shape 5"/>
          <p:cNvSpPr/>
          <p:nvPr/>
        </p:nvSpPr>
        <p:spPr>
          <a:xfrm>
            <a:off x="2009851" y="2286000"/>
            <a:ext cx="0" cy="1554480"/>
          </a:xfrm>
          <a:prstGeom prst="line">
            <a:avLst/>
          </a:prstGeom>
          <a:noFill/>
          <a:ln w="25400">
            <a:solidFill>
              <a:schemeClr val="tx1"/>
            </a:solidFill>
            <a:prstDash val="solid"/>
          </a:ln>
        </p:spPr>
      </p:sp>
      <p:sp>
        <p:nvSpPr>
          <p:cNvPr id="8" name="Shape 6"/>
          <p:cNvSpPr/>
          <p:nvPr/>
        </p:nvSpPr>
        <p:spPr>
          <a:xfrm>
            <a:off x="5031029" y="2286000"/>
            <a:ext cx="0" cy="1554480"/>
          </a:xfrm>
          <a:prstGeom prst="line">
            <a:avLst/>
          </a:prstGeom>
          <a:noFill/>
          <a:ln w="25400">
            <a:solidFill>
              <a:schemeClr val="tx1"/>
            </a:solidFill>
            <a:prstDash val="solid"/>
          </a:ln>
        </p:spPr>
      </p:sp>
      <p:sp>
        <p:nvSpPr>
          <p:cNvPr id="9" name="true value"/>
          <p:cNvSpPr/>
          <p:nvPr/>
        </p:nvSpPr>
        <p:spPr>
          <a:xfrm>
            <a:off x="4696358" y="2944368"/>
            <a:ext cx="237744" cy="237744"/>
          </a:xfrm>
          <a:prstGeom prst="ellipse">
            <a:avLst/>
          </a:prstGeom>
          <a:solidFill>
            <a:schemeClr val="accent1"/>
          </a:solidFill>
          <a:ln/>
        </p:spPr>
      </p:sp>
      <p:sp>
        <p:nvSpPr>
          <p:cNvPr id="10" name="Text 8"/>
          <p:cNvSpPr txBox="1"/>
          <p:nvPr/>
        </p:nvSpPr>
        <p:spPr>
          <a:xfrm>
            <a:off x="5171846" y="2862072"/>
            <a:ext cx="365760" cy="365760"/>
          </a:xfrm>
          <a:prstGeom prst="rect">
            <a:avLst/>
          </a:prstGeom>
          <a:noFill/>
          <a:ln/>
        </p:spPr>
        <p:txBody>
          <a:bodyPr wrap="square" lIns="0" tIns="0" rIns="0" bIns="0" rtlCol="0" anchor="ctr"/>
          <a:lstStyle/>
          <a:p>
            <a:pPr algn="ctr" indent="0" marL="0">
              <a:buNone/>
            </a:pPr>
            <a:r>
              <a:rPr lang="en-US" sz="2400" b="1" dirty="0">
                <a:solidFill>
                  <a:schemeClr val="accent3"/>
                </a:solidFill>
              </a:rPr>
              <a:t>×</a:t>
            </a:r>
            <a:endParaRPr lang="en-US" sz="2400" dirty="0"/>
          </a:p>
        </p:txBody>
      </p:sp>
      <p:sp>
        <p:nvSpPr>
          <p:cNvPr id="11" name="Shape 9"/>
          <p:cNvSpPr/>
          <p:nvPr/>
        </p:nvSpPr>
        <p:spPr>
          <a:xfrm>
            <a:off x="4952390" y="3410712"/>
            <a:ext cx="356616" cy="0"/>
          </a:xfrm>
          <a:prstGeom prst="line">
            <a:avLst/>
          </a:prstGeom>
          <a:noFill/>
          <a:ln w="19050">
            <a:solidFill>
              <a:schemeClr val="accent3"/>
            </a:solidFill>
            <a:prstDash val="solid"/>
            <a:tailEnd type="triangle"/>
          </a:ln>
        </p:spPr>
      </p:sp>
      <p:sp>
        <p:nvSpPr>
          <p:cNvPr id="12" name="Text 10"/>
          <p:cNvSpPr txBox="1"/>
          <p:nvPr/>
        </p:nvSpPr>
        <p:spPr>
          <a:xfrm>
            <a:off x="4678070" y="3538728"/>
            <a:ext cx="914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error E</a:t>
            </a:r>
            <a:endParaRPr lang="en-US" sz="1200" dirty="0"/>
          </a:p>
        </p:txBody>
      </p:sp>
      <p:sp>
        <p:nvSpPr>
          <p:cNvPr id="13" name="Text 11"/>
          <p:cNvSpPr txBox="1"/>
          <p:nvPr/>
        </p:nvSpPr>
        <p:spPr>
          <a:xfrm>
            <a:off x="2529230" y="2496312"/>
            <a:ext cx="2560320" cy="274320"/>
          </a:xfrm>
          <a:prstGeom prst="rect">
            <a:avLst/>
          </a:prstGeom>
          <a:noFill/>
          <a:ln/>
        </p:spPr>
        <p:txBody>
          <a:bodyPr wrap="square" lIns="0" tIns="0" rIns="0" bIns="0" rtlCol="0" anchor="ctr"/>
          <a:lstStyle/>
          <a:p>
            <a:pPr algn="ctr" indent="0" marL="0">
              <a:buNone/>
            </a:pPr>
            <a:r>
              <a:rPr lang="en-US" sz="1150" dirty="0">
                <a:solidFill>
                  <a:schemeClr val="accent1"/>
                </a:solidFill>
              </a:rPr>
              <a:t>true value Y  (inside: a good part)</a:t>
            </a:r>
            <a:endParaRPr lang="en-US" sz="1150" dirty="0"/>
          </a:p>
        </p:txBody>
      </p:sp>
      <p:sp>
        <p:nvSpPr>
          <p:cNvPr id="14" name="Text 12"/>
          <p:cNvSpPr txBox="1"/>
          <p:nvPr/>
        </p:nvSpPr>
        <p:spPr>
          <a:xfrm>
            <a:off x="3160166" y="3931920"/>
            <a:ext cx="2926080" cy="274320"/>
          </a:xfrm>
          <a:prstGeom prst="rect">
            <a:avLst/>
          </a:prstGeom>
          <a:noFill/>
          <a:ln/>
        </p:spPr>
        <p:txBody>
          <a:bodyPr wrap="square" lIns="0" tIns="0" rIns="0" bIns="0" rtlCol="0" anchor="ctr"/>
          <a:lstStyle/>
          <a:p>
            <a:pPr algn="ctr" indent="0" marL="0">
              <a:buNone/>
            </a:pPr>
            <a:r>
              <a:rPr lang="en-US" sz="1150" dirty="0">
                <a:solidFill>
                  <a:schemeClr val="accent3"/>
                </a:solidFill>
              </a:rPr>
              <a:t>measured X = Y + E  (outside: rejected)</a:t>
            </a:r>
            <a:endParaRPr lang="en-US" sz="1150" dirty="0"/>
          </a:p>
        </p:txBody>
      </p:sp>
      <p:sp>
        <p:nvSpPr>
          <p:cNvPr id="15" name="Text 13"/>
          <p:cNvSpPr txBox="1"/>
          <p:nvPr/>
        </p:nvSpPr>
        <p:spPr>
          <a:xfrm>
            <a:off x="822960" y="4434840"/>
            <a:ext cx="5394960" cy="274320"/>
          </a:xfrm>
          <a:prstGeom prst="rect">
            <a:avLst/>
          </a:prstGeom>
          <a:noFill/>
          <a:ln/>
        </p:spPr>
        <p:txBody>
          <a:bodyPr wrap="square" lIns="0" tIns="0" rIns="0" bIns="0" rtlCol="0" anchor="ctr"/>
          <a:lstStyle/>
          <a:p>
            <a:pPr algn="ctr" indent="0" marL="0">
              <a:buNone/>
            </a:pPr>
            <a:r>
              <a:rPr lang="en-US" sz="1150" i="1" dirty="0">
                <a:solidFill>
                  <a:schemeClr val="tx2"/>
                </a:solidFill>
              </a:rPr>
              <a:t>deviation from nominal →</a:t>
            </a:r>
            <a:endParaRPr lang="en-US" sz="1150" dirty="0"/>
          </a:p>
        </p:txBody>
      </p:sp>
      <p:sp>
        <p:nvSpPr>
          <p:cNvPr id="16" name="Text 14"/>
          <p:cNvSpPr txBox="1"/>
          <p:nvPr/>
        </p:nvSpPr>
        <p:spPr>
          <a:xfrm>
            <a:off x="822960" y="4800600"/>
            <a:ext cx="5394960" cy="1097280"/>
          </a:xfrm>
          <a:prstGeom prst="rect">
            <a:avLst/>
          </a:prstGeom>
          <a:noFill/>
          <a:ln/>
        </p:spPr>
        <p:txBody>
          <a:bodyPr wrap="square" lIns="0" tIns="0" rIns="0" bIns="0" rtlCol="0" anchor="t"/>
          <a:lstStyle/>
          <a:p>
            <a:pPr indent="0" marL="0">
              <a:buNone/>
            </a:pPr>
            <a:r>
              <a:rPr lang="en-US" sz="1350" dirty="0">
                <a:solidFill>
                  <a:schemeClr val="tx2"/>
                </a:solidFill>
              </a:rPr>
              <a:t>A good part close to a limit can be measured outside it, and a bad part close to a limit can be measured inside it. How often depends on the size of E and on how many true parts sit near a limit.</a:t>
            </a:r>
            <a:endParaRPr lang="en-US" sz="1350" dirty="0"/>
          </a:p>
        </p:txBody>
      </p:sp>
      <p:sp>
        <p:nvSpPr>
          <p:cNvPr id="17" name="Text 15"/>
          <p:cNvSpPr txBox="1"/>
          <p:nvPr/>
        </p:nvSpPr>
        <p:spPr>
          <a:xfrm>
            <a:off x="7406640" y="1463040"/>
            <a:ext cx="4114800" cy="274320"/>
          </a:xfrm>
          <a:prstGeom prst="rect">
            <a:avLst/>
          </a:prstGeom>
          <a:noFill/>
          <a:ln/>
        </p:spPr>
        <p:txBody>
          <a:bodyPr wrap="square" lIns="0" tIns="0" rIns="0" bIns="0" rtlCol="0" anchor="ctr"/>
          <a:lstStyle/>
          <a:p>
            <a:pPr algn="ctr" indent="0" marL="0">
              <a:buNone/>
            </a:pPr>
            <a:r>
              <a:rPr lang="en-US" sz="1200" b="1" dirty="0">
                <a:solidFill>
                  <a:schemeClr val="tx2"/>
                </a:solidFill>
              </a:rPr>
              <a:t>measurement says</a:t>
            </a:r>
            <a:endParaRPr lang="en-US" sz="1200" dirty="0"/>
          </a:p>
        </p:txBody>
      </p:sp>
      <p:sp>
        <p:nvSpPr>
          <p:cNvPr id="18" name="Text 16"/>
          <p:cNvSpPr txBox="1"/>
          <p:nvPr/>
        </p:nvSpPr>
        <p:spPr>
          <a:xfrm>
            <a:off x="7406640" y="1737360"/>
            <a:ext cx="2011680" cy="274320"/>
          </a:xfrm>
          <a:prstGeom prst="rect">
            <a:avLst/>
          </a:prstGeom>
          <a:noFill/>
          <a:ln/>
        </p:spPr>
        <p:txBody>
          <a:bodyPr wrap="square" lIns="0" tIns="0" rIns="0" bIns="0" rtlCol="0" anchor="ctr"/>
          <a:lstStyle/>
          <a:p>
            <a:pPr algn="ctr" indent="0" marL="0">
              <a:buNone/>
            </a:pPr>
            <a:r>
              <a:rPr lang="en-US" sz="1250" b="1" dirty="0">
                <a:solidFill>
                  <a:schemeClr val="tx2"/>
                </a:solidFill>
              </a:rPr>
              <a:t>accept</a:t>
            </a:r>
            <a:endParaRPr lang="en-US" sz="1250" dirty="0"/>
          </a:p>
        </p:txBody>
      </p:sp>
      <p:sp>
        <p:nvSpPr>
          <p:cNvPr id="19" name="Text 17"/>
          <p:cNvSpPr txBox="1"/>
          <p:nvPr/>
        </p:nvSpPr>
        <p:spPr>
          <a:xfrm>
            <a:off x="9509760" y="1737360"/>
            <a:ext cx="2011680" cy="274320"/>
          </a:xfrm>
          <a:prstGeom prst="rect">
            <a:avLst/>
          </a:prstGeom>
          <a:noFill/>
          <a:ln/>
        </p:spPr>
        <p:txBody>
          <a:bodyPr wrap="square" lIns="0" tIns="0" rIns="0" bIns="0" rtlCol="0" anchor="ctr"/>
          <a:lstStyle/>
          <a:p>
            <a:pPr algn="ctr" indent="0" marL="0">
              <a:buNone/>
            </a:pPr>
            <a:r>
              <a:rPr lang="en-US" sz="1250" b="1" dirty="0">
                <a:solidFill>
                  <a:schemeClr val="tx2"/>
                </a:solidFill>
              </a:rPr>
              <a:t>reject</a:t>
            </a:r>
            <a:endParaRPr lang="en-US" sz="1250" dirty="0"/>
          </a:p>
        </p:txBody>
      </p:sp>
      <p:sp>
        <p:nvSpPr>
          <p:cNvPr id="20" name="Text 18"/>
          <p:cNvSpPr txBox="1"/>
          <p:nvPr/>
        </p:nvSpPr>
        <p:spPr>
          <a:xfrm>
            <a:off x="6355080" y="2057400"/>
            <a:ext cx="1005840" cy="1463040"/>
          </a:xfrm>
          <a:prstGeom prst="rect">
            <a:avLst/>
          </a:prstGeom>
          <a:noFill/>
          <a:ln/>
        </p:spPr>
        <p:txBody>
          <a:bodyPr wrap="square" lIns="0" tIns="0" rIns="0" bIns="0" rtlCol="0" anchor="ctr"/>
          <a:lstStyle/>
          <a:p>
            <a:pPr algn="ctr" indent="0" marL="0">
              <a:buNone/>
            </a:pPr>
            <a:r>
              <a:rPr lang="en-US" sz="1200" b="1" dirty="0">
                <a:solidFill>
                  <a:schemeClr val="tx2"/>
                </a:solidFill>
              </a:rPr>
              <a:t>true part is good</a:t>
            </a:r>
            <a:endParaRPr lang="en-US" sz="1200" dirty="0"/>
          </a:p>
        </p:txBody>
      </p:sp>
      <p:sp>
        <p:nvSpPr>
          <p:cNvPr id="21" name="Text 19"/>
          <p:cNvSpPr txBox="1"/>
          <p:nvPr/>
        </p:nvSpPr>
        <p:spPr>
          <a:xfrm>
            <a:off x="6355080" y="3611880"/>
            <a:ext cx="1005840" cy="1463040"/>
          </a:xfrm>
          <a:prstGeom prst="rect">
            <a:avLst/>
          </a:prstGeom>
          <a:noFill/>
          <a:ln/>
        </p:spPr>
        <p:txBody>
          <a:bodyPr wrap="square" lIns="0" tIns="0" rIns="0" bIns="0" rtlCol="0" anchor="ctr"/>
          <a:lstStyle/>
          <a:p>
            <a:pPr algn="ctr" indent="0" marL="0">
              <a:buNone/>
            </a:pPr>
            <a:r>
              <a:rPr lang="en-US" sz="1200" b="1" dirty="0">
                <a:solidFill>
                  <a:schemeClr val="tx2"/>
                </a:solidFill>
              </a:rPr>
              <a:t>true part is bad</a:t>
            </a:r>
            <a:endParaRPr lang="en-US" sz="1200" dirty="0"/>
          </a:p>
        </p:txBody>
      </p:sp>
      <p:sp>
        <p:nvSpPr>
          <p:cNvPr id="22" name="Shape 20"/>
          <p:cNvSpPr/>
          <p:nvPr/>
        </p:nvSpPr>
        <p:spPr>
          <a:xfrm>
            <a:off x="7406640" y="2057400"/>
            <a:ext cx="2011680" cy="1463040"/>
          </a:xfrm>
          <a:prstGeom prst="roundRect">
            <a:avLst>
              <a:gd name="adj" fmla="val 5000"/>
            </a:avLst>
          </a:prstGeom>
          <a:solidFill>
            <a:schemeClr val="accent5">
              <a:alpha val="45000"/>
            </a:schemeClr>
          </a:solidFill>
          <a:ln/>
        </p:spPr>
      </p:sp>
      <p:sp>
        <p:nvSpPr>
          <p:cNvPr id="23" name="Text 21"/>
          <p:cNvSpPr txBox="1"/>
          <p:nvPr/>
        </p:nvSpPr>
        <p:spPr>
          <a:xfrm>
            <a:off x="7516368" y="2130552"/>
            <a:ext cx="1792224" cy="1316736"/>
          </a:xfrm>
          <a:prstGeom prst="rect">
            <a:avLst/>
          </a:prstGeom>
          <a:noFill/>
          <a:ln/>
        </p:spPr>
        <p:txBody>
          <a:bodyPr wrap="square" lIns="0" tIns="0" rIns="0" bIns="0" rtlCol="0" anchor="ctr"/>
          <a:lstStyle/>
          <a:p>
            <a:pPr indent="0" marL="0">
              <a:buNone/>
            </a:pPr>
            <a:r>
              <a:rPr lang="en-US" sz="1400" b="1" dirty="0">
                <a:solidFill>
                  <a:schemeClr val="tx1"/>
                </a:solidFill>
              </a:rPr>
              <a:t>correct</a:t>
            </a:r>
            <a:endParaRPr lang="en-US" sz="1400" dirty="0"/>
          </a:p>
          <a:p>
            <a:pPr indent="0" marL="0">
              <a:buNone/>
            </a:pPr>
            <a:r>
              <a:rPr lang="en-US" sz="1200" dirty="0">
                <a:solidFill>
                  <a:schemeClr val="tx1"/>
                </a:solidFill>
              </a:rPr>
              <a:t>good part shipped</a:t>
            </a:r>
            <a:endParaRPr lang="en-US" sz="1400" dirty="0"/>
          </a:p>
        </p:txBody>
      </p:sp>
      <p:sp>
        <p:nvSpPr>
          <p:cNvPr id="24" name="Shape 22"/>
          <p:cNvSpPr/>
          <p:nvPr/>
        </p:nvSpPr>
        <p:spPr>
          <a:xfrm>
            <a:off x="9509760" y="2057400"/>
            <a:ext cx="2011680" cy="1463040"/>
          </a:xfrm>
          <a:prstGeom prst="roundRect">
            <a:avLst>
              <a:gd name="adj" fmla="val 5000"/>
            </a:avLst>
          </a:prstGeom>
          <a:solidFill>
            <a:schemeClr val="accent2">
              <a:alpha val="85000"/>
            </a:schemeClr>
          </a:solidFill>
          <a:ln/>
        </p:spPr>
      </p:sp>
      <p:sp>
        <p:nvSpPr>
          <p:cNvPr id="25" name="Text 23"/>
          <p:cNvSpPr txBox="1"/>
          <p:nvPr/>
        </p:nvSpPr>
        <p:spPr>
          <a:xfrm>
            <a:off x="9619488" y="2130552"/>
            <a:ext cx="1792224" cy="1316736"/>
          </a:xfrm>
          <a:prstGeom prst="rect">
            <a:avLst/>
          </a:prstGeom>
          <a:noFill/>
          <a:ln/>
        </p:spPr>
        <p:txBody>
          <a:bodyPr wrap="square" lIns="0" tIns="0" rIns="0" bIns="0" rtlCol="0" anchor="ctr"/>
          <a:lstStyle/>
          <a:p>
            <a:pPr indent="0" marL="0">
              <a:buNone/>
            </a:pPr>
            <a:r>
              <a:rPr lang="en-US" sz="1400" b="1" dirty="0">
                <a:solidFill>
                  <a:schemeClr val="tx1"/>
                </a:solidFill>
              </a:rPr>
              <a:t>false reject  (PFR)</a:t>
            </a:r>
            <a:endParaRPr lang="en-US" sz="1400" dirty="0"/>
          </a:p>
          <a:p>
            <a:pPr indent="0" marL="0">
              <a:buNone/>
            </a:pPr>
            <a:r>
              <a:rPr lang="en-US" sz="1200" dirty="0">
                <a:solidFill>
                  <a:schemeClr val="tx1"/>
                </a:solidFill>
              </a:rPr>
              <a:t>good part scrapped or reworked: cost, yield</a:t>
            </a:r>
            <a:endParaRPr lang="en-US" sz="1400" dirty="0"/>
          </a:p>
        </p:txBody>
      </p:sp>
      <p:sp>
        <p:nvSpPr>
          <p:cNvPr id="26" name="Shape 24"/>
          <p:cNvSpPr/>
          <p:nvPr/>
        </p:nvSpPr>
        <p:spPr>
          <a:xfrm>
            <a:off x="7406640" y="3611880"/>
            <a:ext cx="2011680" cy="1463040"/>
          </a:xfrm>
          <a:prstGeom prst="roundRect">
            <a:avLst>
              <a:gd name="adj" fmla="val 5000"/>
            </a:avLst>
          </a:prstGeom>
          <a:solidFill>
            <a:schemeClr val="accent3">
              <a:alpha val="85000"/>
            </a:schemeClr>
          </a:solidFill>
          <a:ln/>
        </p:spPr>
      </p:sp>
      <p:sp>
        <p:nvSpPr>
          <p:cNvPr id="27" name="Text 25"/>
          <p:cNvSpPr txBox="1"/>
          <p:nvPr/>
        </p:nvSpPr>
        <p:spPr>
          <a:xfrm>
            <a:off x="7516368" y="3685032"/>
            <a:ext cx="1792224" cy="1316736"/>
          </a:xfrm>
          <a:prstGeom prst="rect">
            <a:avLst/>
          </a:prstGeom>
          <a:noFill/>
          <a:ln/>
        </p:spPr>
        <p:txBody>
          <a:bodyPr wrap="square" lIns="0" tIns="0" rIns="0" bIns="0" rtlCol="0" anchor="ctr"/>
          <a:lstStyle/>
          <a:p>
            <a:pPr indent="0" marL="0">
              <a:buNone/>
            </a:pPr>
            <a:r>
              <a:rPr lang="en-US" sz="1400" b="1" dirty="0">
                <a:solidFill>
                  <a:schemeClr val="tx1"/>
                </a:solidFill>
              </a:rPr>
              <a:t>false accept  (PFA)</a:t>
            </a:r>
            <a:endParaRPr lang="en-US" sz="1400" dirty="0"/>
          </a:p>
          <a:p>
            <a:pPr indent="0" marL="0">
              <a:buNone/>
            </a:pPr>
            <a:r>
              <a:rPr lang="en-US" sz="1200" dirty="0">
                <a:solidFill>
                  <a:schemeClr val="tx1"/>
                </a:solidFill>
              </a:rPr>
              <a:t>bad part ships: the safety risk</a:t>
            </a:r>
            <a:endParaRPr lang="en-US" sz="1400" dirty="0"/>
          </a:p>
        </p:txBody>
      </p:sp>
      <p:sp>
        <p:nvSpPr>
          <p:cNvPr id="28" name="Shape 26"/>
          <p:cNvSpPr/>
          <p:nvPr/>
        </p:nvSpPr>
        <p:spPr>
          <a:xfrm>
            <a:off x="9509760" y="3611880"/>
            <a:ext cx="2011680" cy="1463040"/>
          </a:xfrm>
          <a:prstGeom prst="roundRect">
            <a:avLst>
              <a:gd name="adj" fmla="val 5000"/>
            </a:avLst>
          </a:prstGeom>
          <a:solidFill>
            <a:schemeClr val="accent5">
              <a:alpha val="45000"/>
            </a:schemeClr>
          </a:solidFill>
          <a:ln/>
        </p:spPr>
      </p:sp>
      <p:sp>
        <p:nvSpPr>
          <p:cNvPr id="29" name="Text 27"/>
          <p:cNvSpPr txBox="1"/>
          <p:nvPr/>
        </p:nvSpPr>
        <p:spPr>
          <a:xfrm>
            <a:off x="9619488" y="3685032"/>
            <a:ext cx="1792224" cy="1316736"/>
          </a:xfrm>
          <a:prstGeom prst="rect">
            <a:avLst/>
          </a:prstGeom>
          <a:noFill/>
          <a:ln/>
        </p:spPr>
        <p:txBody>
          <a:bodyPr wrap="square" lIns="0" tIns="0" rIns="0" bIns="0" rtlCol="0" anchor="ctr"/>
          <a:lstStyle/>
          <a:p>
            <a:pPr indent="0" marL="0">
              <a:buNone/>
            </a:pPr>
            <a:r>
              <a:rPr lang="en-US" sz="1400" b="1" dirty="0">
                <a:solidFill>
                  <a:schemeClr val="tx1"/>
                </a:solidFill>
              </a:rPr>
              <a:t>correct</a:t>
            </a:r>
            <a:endParaRPr lang="en-US" sz="1400" dirty="0"/>
          </a:p>
          <a:p>
            <a:pPr indent="0" marL="0">
              <a:buNone/>
            </a:pPr>
            <a:r>
              <a:rPr lang="en-US" sz="1200" dirty="0">
                <a:solidFill>
                  <a:schemeClr val="tx1"/>
                </a:solidFill>
              </a:rPr>
              <a:t>bad part caught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Three ingredients</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The risk is a calculation over a population, so it needs all three</a:t>
            </a:r>
            <a:endParaRPr lang="en-US" sz="1600" dirty="0"/>
          </a:p>
        </p:txBody>
      </p:sp>
      <p:sp>
        <p:nvSpPr>
          <p:cNvPr id="4" name="card 1  Measurement error  E ~ N(0, u²)"/>
          <p:cNvSpPr/>
          <p:nvPr/>
        </p:nvSpPr>
        <p:spPr>
          <a:xfrm>
            <a:off x="548640" y="1600200"/>
            <a:ext cx="3611880" cy="2514600"/>
          </a:xfrm>
          <a:prstGeom prst="roundRect">
            <a:avLst>
              <a:gd name="adj" fmla="val 2909"/>
            </a:avLst>
          </a:prstGeom>
          <a:solidFill>
            <a:schemeClr val="bg2"/>
          </a:solidFill>
          <a:ln/>
        </p:spPr>
      </p:sp>
      <p:sp>
        <p:nvSpPr>
          <p:cNvPr id="5" name="Shape 3"/>
          <p:cNvSpPr/>
          <p:nvPr/>
        </p:nvSpPr>
        <p:spPr>
          <a:xfrm>
            <a:off x="548640" y="1709928"/>
            <a:ext cx="64008" cy="2295144"/>
          </a:xfrm>
          <a:prstGeom prst="rect">
            <a:avLst/>
          </a:prstGeom>
          <a:solidFill>
            <a:schemeClr val="accent1"/>
          </a:solidFill>
          <a:ln/>
        </p:spPr>
      </p:sp>
      <p:sp>
        <p:nvSpPr>
          <p:cNvPr id="6" name="Text 4"/>
          <p:cNvSpPr txBox="1"/>
          <p:nvPr/>
        </p:nvSpPr>
        <p:spPr>
          <a:xfrm>
            <a:off x="777240"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1  Measurement error  E ~ N(0, u²)</a:t>
            </a:r>
            <a:endParaRPr lang="en-US" sz="1500" dirty="0"/>
          </a:p>
        </p:txBody>
      </p:sp>
      <p:sp>
        <p:nvSpPr>
          <p:cNvPr id="7" name="Text 5"/>
          <p:cNvSpPr txBox="1"/>
          <p:nvPr/>
        </p:nvSpPr>
        <p:spPr>
          <a:xfrm>
            <a:off x="777240" y="2148840"/>
            <a:ext cx="3246120" cy="1874520"/>
          </a:xfrm>
          <a:prstGeom prst="rect">
            <a:avLst/>
          </a:prstGeom>
          <a:noFill/>
          <a:ln/>
        </p:spPr>
        <p:txBody>
          <a:bodyPr wrap="square" lIns="0" tIns="0" rIns="0" bIns="0" rtlCol="0" anchor="t"/>
          <a:lstStyle/>
          <a:p>
            <a:pPr indent="0" marL="0">
              <a:buNone/>
            </a:pPr>
            <a:r>
              <a:rPr lang="en-US" sz="1250" dirty="0">
                <a:solidFill>
                  <a:schemeClr val="tx2"/>
                </a:solidFill>
              </a:rPr>
              <a:t>u is the standard uncertainty along the tolerance direction. It comes from the digital twin: station layout → visibility → instrument error model → coverage covariance → projection onto the surface normal. This is what the planner controls.</a:t>
            </a:r>
            <a:endParaRPr lang="en-US" sz="1250" dirty="0"/>
          </a:p>
        </p:txBody>
      </p:sp>
      <p:sp>
        <p:nvSpPr>
          <p:cNvPr id="8" name="card 2  Tolerance and decision rule"/>
          <p:cNvSpPr/>
          <p:nvPr/>
        </p:nvSpPr>
        <p:spPr>
          <a:xfrm>
            <a:off x="4315968" y="1600200"/>
            <a:ext cx="3611880" cy="2514600"/>
          </a:xfrm>
          <a:prstGeom prst="roundRect">
            <a:avLst>
              <a:gd name="adj" fmla="val 2909"/>
            </a:avLst>
          </a:prstGeom>
          <a:solidFill>
            <a:schemeClr val="bg2"/>
          </a:solidFill>
          <a:ln/>
        </p:spPr>
      </p:sp>
      <p:sp>
        <p:nvSpPr>
          <p:cNvPr id="9" name="Shape 7"/>
          <p:cNvSpPr/>
          <p:nvPr/>
        </p:nvSpPr>
        <p:spPr>
          <a:xfrm>
            <a:off x="4315968" y="1709928"/>
            <a:ext cx="64008" cy="2295144"/>
          </a:xfrm>
          <a:prstGeom prst="rect">
            <a:avLst/>
          </a:prstGeom>
          <a:solidFill>
            <a:schemeClr val="accent2"/>
          </a:solidFill>
          <a:ln/>
        </p:spPr>
      </p:sp>
      <p:sp>
        <p:nvSpPr>
          <p:cNvPr id="10" name="Text 8"/>
          <p:cNvSpPr txBox="1"/>
          <p:nvPr/>
        </p:nvSpPr>
        <p:spPr>
          <a:xfrm>
            <a:off x="4544568"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2  Tolerance and decision rule</a:t>
            </a:r>
            <a:endParaRPr lang="en-US" sz="1500" dirty="0"/>
          </a:p>
        </p:txBody>
      </p:sp>
      <p:sp>
        <p:nvSpPr>
          <p:cNvPr id="11" name="Text 9"/>
          <p:cNvSpPr txBox="1"/>
          <p:nvPr/>
        </p:nvSpPr>
        <p:spPr>
          <a:xfrm>
            <a:off x="4544568" y="2148840"/>
            <a:ext cx="3246120" cy="1874520"/>
          </a:xfrm>
          <a:prstGeom prst="rect">
            <a:avLst/>
          </a:prstGeom>
          <a:noFill/>
          <a:ln/>
        </p:spPr>
        <p:txBody>
          <a:bodyPr wrap="square" lIns="0" tIns="0" rIns="0" bIns="0" rtlCol="0" anchor="t"/>
          <a:lstStyle/>
          <a:p>
            <a:pPr indent="0" marL="0">
              <a:buNone/>
            </a:pPr>
            <a:r>
              <a:rPr lang="en-US" sz="1250" dirty="0">
                <a:solidFill>
                  <a:schemeClr val="tx2"/>
                </a:solidFill>
              </a:rPr>
              <a:t>Tolerance ±T from the drawing. Under simple acceptance (JCGM 106's baseline) the part is accepted if |X| ≤ T. A guard band would accept only inside a narrower interval, trading PFA for PFR.</a:t>
            </a:r>
            <a:endParaRPr lang="en-US" sz="1250" dirty="0"/>
          </a:p>
        </p:txBody>
      </p:sp>
      <p:sp>
        <p:nvSpPr>
          <p:cNvPr id="12" name="card 3  Process prior  Y ~ N(μ, σ²)"/>
          <p:cNvSpPr/>
          <p:nvPr/>
        </p:nvSpPr>
        <p:spPr>
          <a:xfrm>
            <a:off x="8083296" y="1600200"/>
            <a:ext cx="3611880" cy="2514600"/>
          </a:xfrm>
          <a:prstGeom prst="roundRect">
            <a:avLst>
              <a:gd name="adj" fmla="val 2909"/>
            </a:avLst>
          </a:prstGeom>
          <a:solidFill>
            <a:schemeClr val="bg2"/>
          </a:solidFill>
          <a:ln/>
        </p:spPr>
      </p:sp>
      <p:sp>
        <p:nvSpPr>
          <p:cNvPr id="13" name="Shape 11"/>
          <p:cNvSpPr/>
          <p:nvPr/>
        </p:nvSpPr>
        <p:spPr>
          <a:xfrm>
            <a:off x="8083296" y="1709928"/>
            <a:ext cx="64008" cy="2295144"/>
          </a:xfrm>
          <a:prstGeom prst="rect">
            <a:avLst/>
          </a:prstGeom>
          <a:solidFill>
            <a:schemeClr val="accent3"/>
          </a:solidFill>
          <a:ln/>
        </p:spPr>
      </p:sp>
      <p:sp>
        <p:nvSpPr>
          <p:cNvPr id="14" name="Text 12"/>
          <p:cNvSpPr txBox="1"/>
          <p:nvPr/>
        </p:nvSpPr>
        <p:spPr>
          <a:xfrm>
            <a:off x="8311896"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3  Process prior  Y ~ N(μ, σ²)</a:t>
            </a:r>
            <a:endParaRPr lang="en-US" sz="1500" dirty="0"/>
          </a:p>
        </p:txBody>
      </p:sp>
      <p:sp>
        <p:nvSpPr>
          <p:cNvPr id="15" name="Text 13"/>
          <p:cNvSpPr txBox="1"/>
          <p:nvPr/>
        </p:nvSpPr>
        <p:spPr>
          <a:xfrm>
            <a:off x="8311896" y="2148840"/>
            <a:ext cx="3246120" cy="1874520"/>
          </a:xfrm>
          <a:prstGeom prst="rect">
            <a:avLst/>
          </a:prstGeom>
          <a:noFill/>
          <a:ln/>
        </p:spPr>
        <p:txBody>
          <a:bodyPr wrap="square" lIns="0" tIns="0" rIns="0" bIns="0" rtlCol="0" anchor="t"/>
          <a:lstStyle/>
          <a:p>
            <a:pPr indent="0" marL="0">
              <a:buNone/>
            </a:pPr>
            <a:r>
              <a:rPr lang="en-US" sz="1250" dirty="0">
                <a:solidFill>
                  <a:schemeClr val="tx2"/>
                </a:solidFill>
              </a:rPr>
              <a:t>Where true parts fall before anyone measures: the mean offset and the natural spread of the production process. One prior per cluster of features that share a process, not one per feature.</a:t>
            </a:r>
            <a:endParaRPr lang="en-US" sz="1250" dirty="0"/>
          </a:p>
        </p:txBody>
      </p:sp>
      <p:sp>
        <p:nvSpPr>
          <p:cNvPr id="16" name="equation"/>
          <p:cNvSpPr txBox="1"/>
          <p:nvPr/>
        </p:nvSpPr>
        <p:spPr>
          <a:xfrm>
            <a:off x="548640" y="4343400"/>
            <a:ext cx="11091672" cy="640080"/>
          </a:xfrm>
          <a:prstGeom prst="rect">
            <a:avLst/>
          </a:prstGeom>
          <a:solidFill>
            <a:schemeClr val="bg2"/>
          </a:solidFill>
          <a:ln/>
        </p:spPr>
        <p:txBody>
          <a:bodyPr wrap="square" lIns="0" tIns="101600" rIns="10160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measured value   X = Y + E        true value Y from the prior, error E from the instrument</a:t>
            </a:r>
            <a:endParaRPr lang="en-US" sz="1500" dirty="0"/>
          </a:p>
        </p:txBody>
      </p:sp>
      <p:sp>
        <p:nvSpPr>
          <p:cNvPr id="17" name="Text 15"/>
          <p:cNvSpPr txBox="1"/>
          <p:nvPr/>
        </p:nvSpPr>
        <p:spPr>
          <a:xfrm>
            <a:off x="548640" y="5212080"/>
            <a:ext cx="11091672" cy="731520"/>
          </a:xfrm>
          <a:prstGeom prst="rect">
            <a:avLst/>
          </a:prstGeom>
          <a:noFill/>
          <a:ln/>
        </p:spPr>
        <p:txBody>
          <a:bodyPr wrap="square" lIns="0" tIns="0" rIns="0" bIns="0" rtlCol="0" anchor="t"/>
          <a:lstStyle/>
          <a:p>
            <a:pPr indent="0" marL="0">
              <a:buNone/>
            </a:pPr>
            <a:r>
              <a:rPr lang="en-US" sz="1400" dirty="0">
                <a:solidFill>
                  <a:schemeClr val="tx2"/>
                </a:solidFill>
              </a:rPr>
              <a:t>This is global risk (JCGM 106): averaged over the whole process population. It is not the risk for one particular measured value, which would also need the measured value itself.</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The equations</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Accept probability from the measurement, averaged over the process (src/risk/jcgm106.py)</a:t>
            </a:r>
            <a:endParaRPr lang="en-US" sz="1600" dirty="0"/>
          </a:p>
        </p:txBody>
      </p:sp>
      <p:sp>
        <p:nvSpPr>
          <p:cNvPr id="4" name="equation"/>
          <p:cNvSpPr txBox="1"/>
          <p:nvPr/>
        </p:nvSpPr>
        <p:spPr>
          <a:xfrm>
            <a:off x="548640" y="1508760"/>
            <a:ext cx="6400800" cy="566928"/>
          </a:xfrm>
          <a:prstGeom prst="rect">
            <a:avLst/>
          </a:prstGeom>
          <a:solidFill>
            <a:schemeClr val="bg2"/>
          </a:solidFill>
          <a:ln/>
        </p:spPr>
        <p:txBody>
          <a:bodyPr wrap="square" lIns="0" tIns="101600" rIns="10160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P(accept | y) = Φ((T − y)/u) − Φ((−T − y)/u)</a:t>
            </a:r>
            <a:endParaRPr lang="en-US" sz="1300" dirty="0"/>
          </a:p>
        </p:txBody>
      </p:sp>
      <p:sp>
        <p:nvSpPr>
          <p:cNvPr id="5" name="Text 3"/>
          <p:cNvSpPr txBox="1"/>
          <p:nvPr/>
        </p:nvSpPr>
        <p:spPr>
          <a:xfrm>
            <a:off x="7086600" y="1508760"/>
            <a:ext cx="4572000" cy="566928"/>
          </a:xfrm>
          <a:prstGeom prst="rect">
            <a:avLst/>
          </a:prstGeom>
          <a:noFill/>
          <a:ln/>
        </p:spPr>
        <p:txBody>
          <a:bodyPr wrap="square" lIns="0" tIns="0" rIns="0" bIns="0" rtlCol="0" anchor="ctr"/>
          <a:lstStyle/>
          <a:p>
            <a:pPr algn="l" indent="0" marL="0">
              <a:buNone/>
            </a:pPr>
            <a:r>
              <a:rPr lang="en-US" sz="1200" i="1" dirty="0">
                <a:solidFill>
                  <a:schemeClr val="tx2"/>
                </a:solidFill>
              </a:rPr>
              <a:t>chance the measurement says accept, if the true value is y</a:t>
            </a:r>
            <a:endParaRPr lang="en-US" sz="1200" dirty="0"/>
          </a:p>
        </p:txBody>
      </p:sp>
      <p:sp>
        <p:nvSpPr>
          <p:cNvPr id="6" name="equation"/>
          <p:cNvSpPr txBox="1"/>
          <p:nvPr/>
        </p:nvSpPr>
        <p:spPr>
          <a:xfrm>
            <a:off x="548640" y="2194560"/>
            <a:ext cx="6400800" cy="566928"/>
          </a:xfrm>
          <a:prstGeom prst="rect">
            <a:avLst/>
          </a:prstGeom>
          <a:solidFill>
            <a:schemeClr val="bg2"/>
          </a:solidFill>
          <a:ln/>
        </p:spPr>
        <p:txBody>
          <a:bodyPr wrap="square" lIns="0" tIns="101600" rIns="10160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PFA = ∫ outside [−T,T]  f(y) · P(accept|y) dy</a:t>
            </a:r>
            <a:endParaRPr lang="en-US" sz="1300" dirty="0"/>
          </a:p>
        </p:txBody>
      </p:sp>
      <p:sp>
        <p:nvSpPr>
          <p:cNvPr id="7" name="Text 5"/>
          <p:cNvSpPr txBox="1"/>
          <p:nvPr/>
        </p:nvSpPr>
        <p:spPr>
          <a:xfrm>
            <a:off x="7086600" y="2194560"/>
            <a:ext cx="4572000" cy="566928"/>
          </a:xfrm>
          <a:prstGeom prst="rect">
            <a:avLst/>
          </a:prstGeom>
          <a:noFill/>
          <a:ln/>
        </p:spPr>
        <p:txBody>
          <a:bodyPr wrap="square" lIns="0" tIns="0" rIns="0" bIns="0" rtlCol="0" anchor="ctr"/>
          <a:lstStyle/>
          <a:p>
            <a:pPr algn="l" indent="0" marL="0">
              <a:buNone/>
            </a:pPr>
            <a:r>
              <a:rPr lang="en-US" sz="1200" i="1" dirty="0">
                <a:solidFill>
                  <a:schemeClr val="tx2"/>
                </a:solidFill>
              </a:rPr>
              <a:t>bad part, measured as good: the out-of-tolerance mass of the process, times the chance noise lets it through</a:t>
            </a:r>
            <a:endParaRPr lang="en-US" sz="1200" dirty="0"/>
          </a:p>
        </p:txBody>
      </p:sp>
      <p:sp>
        <p:nvSpPr>
          <p:cNvPr id="8" name="equation"/>
          <p:cNvSpPr txBox="1"/>
          <p:nvPr/>
        </p:nvSpPr>
        <p:spPr>
          <a:xfrm>
            <a:off x="548640" y="2880360"/>
            <a:ext cx="6400800" cy="566928"/>
          </a:xfrm>
          <a:prstGeom prst="rect">
            <a:avLst/>
          </a:prstGeom>
          <a:solidFill>
            <a:schemeClr val="bg2"/>
          </a:solidFill>
          <a:ln/>
        </p:spPr>
        <p:txBody>
          <a:bodyPr wrap="square" lIns="0" tIns="101600" rIns="10160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PFR = ∫ inside  [−T,T]  f(y) · (1 − P(accept|y)) dy</a:t>
            </a:r>
            <a:endParaRPr lang="en-US" sz="1300" dirty="0"/>
          </a:p>
        </p:txBody>
      </p:sp>
      <p:sp>
        <p:nvSpPr>
          <p:cNvPr id="9" name="Text 7"/>
          <p:cNvSpPr txBox="1"/>
          <p:nvPr/>
        </p:nvSpPr>
        <p:spPr>
          <a:xfrm>
            <a:off x="7086600" y="2880360"/>
            <a:ext cx="4572000" cy="566928"/>
          </a:xfrm>
          <a:prstGeom prst="rect">
            <a:avLst/>
          </a:prstGeom>
          <a:noFill/>
          <a:ln/>
        </p:spPr>
        <p:txBody>
          <a:bodyPr wrap="square" lIns="0" tIns="0" rIns="0" bIns="0" rtlCol="0" anchor="ctr"/>
          <a:lstStyle/>
          <a:p>
            <a:pPr algn="l" indent="0" marL="0">
              <a:buNone/>
            </a:pPr>
            <a:r>
              <a:rPr lang="en-US" sz="1200" i="1" dirty="0">
                <a:solidFill>
                  <a:schemeClr val="tx2"/>
                </a:solidFill>
              </a:rPr>
              <a:t>good part, measured as bad: the in-tolerance mass of the process, times the chance noise pushes it out</a:t>
            </a:r>
            <a:endParaRPr lang="en-US" sz="1200" dirty="0"/>
          </a:p>
        </p:txBody>
      </p:sp>
      <p:pic>
        <p:nvPicPr>
          <p:cNvPr id="10" name="Image 0" descr="Measurement blur, process prior and the integrated regions">    </p:cNvPr>
          <p:cNvPicPr>
            <a:picLocks noChangeAspect="1"/>
          </p:cNvPicPr>
          <p:nvPr/>
        </p:nvPicPr>
        <p:blipFill>
          <a:blip r:embed="rId1"/>
          <a:stretch>
            <a:fillRect/>
          </a:stretch>
        </p:blipFill>
        <p:spPr>
          <a:xfrm>
            <a:off x="1340968" y="3520440"/>
            <a:ext cx="9509760" cy="2789530"/>
          </a:xfrm>
          <a:prstGeom prst="rect">
            <a:avLst/>
          </a:prstGeom>
        </p:spPr>
      </p:pic>
      <p:sp>
        <p:nvSpPr>
          <p:cNvPr id="11" name="Shape 8"/>
          <p:cNvSpPr/>
          <p:nvPr/>
        </p:nvSpPr>
        <p:spPr>
          <a:xfrm>
            <a:off x="1340968" y="3520440"/>
            <a:ext cx="9509760" cy="2789530"/>
          </a:xfrm>
          <a:prstGeom prst="rect">
            <a:avLst/>
          </a:prstGeom>
          <a:ln w="12700">
            <a:solidFill>
              <a:schemeClr val="bg2"/>
            </a:solidFill>
            <a:prstDash val="solid"/>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What the equations say</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PFA is set by the process; PFR is set by the measurement</a:t>
            </a:r>
            <a:endParaRPr lang="en-US" sz="1600" dirty="0"/>
          </a:p>
        </p:txBody>
      </p:sp>
      <p:pic>
        <p:nvPicPr>
          <p:cNvPr id="4" name="Image 0" descr="PFA and PFR against measurement uncertainty for two processes">    </p:cNvPr>
          <p:cNvPicPr>
            <a:picLocks noChangeAspect="1"/>
          </p:cNvPicPr>
          <p:nvPr/>
        </p:nvPicPr>
        <p:blipFill>
          <a:blip r:embed="rId1"/>
          <a:stretch>
            <a:fillRect/>
          </a:stretch>
        </p:blipFill>
        <p:spPr>
          <a:xfrm>
            <a:off x="548640" y="1554480"/>
            <a:ext cx="6858000" cy="2628900"/>
          </a:xfrm>
          <a:prstGeom prst="rect">
            <a:avLst/>
          </a:prstGeom>
        </p:spPr>
      </p:pic>
      <p:sp>
        <p:nvSpPr>
          <p:cNvPr id="5" name="Shape 2"/>
          <p:cNvSpPr/>
          <p:nvPr/>
        </p:nvSpPr>
        <p:spPr>
          <a:xfrm>
            <a:off x="548640" y="1554480"/>
            <a:ext cx="6858000" cy="2628900"/>
          </a:xfrm>
          <a:prstGeom prst="rect">
            <a:avLst/>
          </a:prstGeom>
          <a:ln w="12700">
            <a:solidFill>
              <a:schemeClr val="bg2"/>
            </a:solidFill>
            <a:prstDash val="solid"/>
          </a:ln>
        </p:spPr>
      </p:sp>
      <p:sp>
        <p:nvSpPr>
          <p:cNvPr id="6" name="Text 3"/>
          <p:cNvSpPr txBox="1"/>
          <p:nvPr/>
        </p:nvSpPr>
        <p:spPr>
          <a:xfrm>
            <a:off x="548640" y="4229100"/>
            <a:ext cx="6858000" cy="274320"/>
          </a:xfrm>
          <a:prstGeom prst="rect">
            <a:avLst/>
          </a:prstGeom>
          <a:noFill/>
          <a:ln/>
        </p:spPr>
        <p:txBody>
          <a:bodyPr wrap="square" lIns="0" tIns="0" rIns="0" bIns="0" rtlCol="0" anchor="ctr"/>
          <a:lstStyle/>
          <a:p>
            <a:pPr algn="ctr" indent="0" marL="0">
              <a:buNone/>
            </a:pPr>
            <a:r>
              <a:rPr lang="en-US" sz="1050" i="1" dirty="0">
                <a:solidFill>
                  <a:schemeClr val="tx2"/>
                </a:solidFill>
              </a:rPr>
              <a:t>tolerance ±50 µm, placeholder priors; dashed = out-of-tolerance rate; dotted = TUR 4:1</a:t>
            </a:r>
            <a:endParaRPr lang="en-US" sz="1050" dirty="0"/>
          </a:p>
        </p:txBody>
      </p:sp>
      <p:sp>
        <p:nvSpPr>
          <p:cNvPr id="7" name="card 1  PFA can't exceed the process's own rate"/>
          <p:cNvSpPr/>
          <p:nvPr/>
        </p:nvSpPr>
        <p:spPr>
          <a:xfrm>
            <a:off x="7635240" y="1554480"/>
            <a:ext cx="4005072" cy="1325880"/>
          </a:xfrm>
          <a:prstGeom prst="roundRect">
            <a:avLst>
              <a:gd name="adj" fmla="val 5517"/>
            </a:avLst>
          </a:prstGeom>
          <a:solidFill>
            <a:schemeClr val="bg2"/>
          </a:solidFill>
          <a:ln/>
        </p:spPr>
      </p:sp>
      <p:sp>
        <p:nvSpPr>
          <p:cNvPr id="8" name="Shape 5"/>
          <p:cNvSpPr/>
          <p:nvPr/>
        </p:nvSpPr>
        <p:spPr>
          <a:xfrm>
            <a:off x="7635240" y="1664208"/>
            <a:ext cx="64008" cy="1106424"/>
          </a:xfrm>
          <a:prstGeom prst="rect">
            <a:avLst/>
          </a:prstGeom>
          <a:solidFill>
            <a:schemeClr val="accent3"/>
          </a:solidFill>
          <a:ln/>
        </p:spPr>
      </p:sp>
      <p:sp>
        <p:nvSpPr>
          <p:cNvPr id="9" name="Text 6"/>
          <p:cNvSpPr txBox="1"/>
          <p:nvPr/>
        </p:nvSpPr>
        <p:spPr>
          <a:xfrm>
            <a:off x="7863840" y="1645920"/>
            <a:ext cx="3639312" cy="457200"/>
          </a:xfrm>
          <a:prstGeom prst="rect">
            <a:avLst/>
          </a:prstGeom>
          <a:noFill/>
          <a:ln/>
        </p:spPr>
        <p:txBody>
          <a:bodyPr wrap="square" lIns="0" tIns="0" rIns="0" bIns="0" rtlCol="0" anchor="ctr"/>
          <a:lstStyle/>
          <a:p>
            <a:pPr indent="0" marL="0">
              <a:buNone/>
            </a:pPr>
            <a:r>
              <a:rPr lang="en-US" sz="1300" b="1" dirty="0">
                <a:solidFill>
                  <a:schemeClr val="tx1"/>
                </a:solidFill>
              </a:rPr>
              <a:t>1  PFA can't exceed the process's own rate</a:t>
            </a:r>
            <a:endParaRPr lang="en-US" sz="1300" dirty="0"/>
          </a:p>
        </p:txBody>
      </p:sp>
      <p:sp>
        <p:nvSpPr>
          <p:cNvPr id="10" name="Text 7"/>
          <p:cNvSpPr txBox="1"/>
          <p:nvPr/>
        </p:nvSpPr>
        <p:spPr>
          <a:xfrm>
            <a:off x="7863840" y="2103120"/>
            <a:ext cx="3639312" cy="685800"/>
          </a:xfrm>
          <a:prstGeom prst="rect">
            <a:avLst/>
          </a:prstGeom>
          <a:noFill/>
          <a:ln/>
        </p:spPr>
        <p:txBody>
          <a:bodyPr wrap="square" lIns="0" tIns="0" rIns="0" bIns="0" rtlCol="0" anchor="t"/>
          <a:lstStyle/>
          <a:p>
            <a:pPr indent="0" marL="0">
              <a:buNone/>
            </a:pPr>
            <a:r>
              <a:rPr lang="en-US" sz="1150" dirty="0">
                <a:solidFill>
                  <a:schemeClr val="tx2"/>
                </a:solidFill>
              </a:rPr>
              <a:t>PFA ≤ P(Y out of tolerance): 3.2×10⁻⁵ marginal, 2.0×10⁻⁹ high-capability. An unmeasured part escapes at exactly that rate.</a:t>
            </a:r>
            <a:endParaRPr lang="en-US" sz="1150" dirty="0"/>
          </a:p>
        </p:txBody>
      </p:sp>
      <p:sp>
        <p:nvSpPr>
          <p:cNvPr id="11" name="card 2  PFR grows steeply with u"/>
          <p:cNvSpPr/>
          <p:nvPr/>
        </p:nvSpPr>
        <p:spPr>
          <a:xfrm>
            <a:off x="7635240" y="2971800"/>
            <a:ext cx="4005072" cy="1325880"/>
          </a:xfrm>
          <a:prstGeom prst="roundRect">
            <a:avLst>
              <a:gd name="adj" fmla="val 5517"/>
            </a:avLst>
          </a:prstGeom>
          <a:solidFill>
            <a:schemeClr val="bg2"/>
          </a:solidFill>
          <a:ln/>
        </p:spPr>
      </p:sp>
      <p:sp>
        <p:nvSpPr>
          <p:cNvPr id="12" name="Shape 9"/>
          <p:cNvSpPr/>
          <p:nvPr/>
        </p:nvSpPr>
        <p:spPr>
          <a:xfrm>
            <a:off x="7635240" y="3081528"/>
            <a:ext cx="64008" cy="1106424"/>
          </a:xfrm>
          <a:prstGeom prst="rect">
            <a:avLst/>
          </a:prstGeom>
          <a:solidFill>
            <a:schemeClr val="accent2"/>
          </a:solidFill>
          <a:ln/>
        </p:spPr>
      </p:sp>
      <p:sp>
        <p:nvSpPr>
          <p:cNvPr id="13" name="Text 10"/>
          <p:cNvSpPr txBox="1"/>
          <p:nvPr/>
        </p:nvSpPr>
        <p:spPr>
          <a:xfrm>
            <a:off x="7863840" y="3063240"/>
            <a:ext cx="3639312" cy="457200"/>
          </a:xfrm>
          <a:prstGeom prst="rect">
            <a:avLst/>
          </a:prstGeom>
          <a:noFill/>
          <a:ln/>
        </p:spPr>
        <p:txBody>
          <a:bodyPr wrap="square" lIns="0" tIns="0" rIns="0" bIns="0" rtlCol="0" anchor="ctr"/>
          <a:lstStyle/>
          <a:p>
            <a:pPr indent="0" marL="0">
              <a:buNone/>
            </a:pPr>
            <a:r>
              <a:rPr lang="en-US" sz="1300" b="1" dirty="0">
                <a:solidFill>
                  <a:schemeClr val="tx1"/>
                </a:solidFill>
              </a:rPr>
              <a:t>2  PFR grows steeply with u</a:t>
            </a:r>
            <a:endParaRPr lang="en-US" sz="1300" dirty="0"/>
          </a:p>
        </p:txBody>
      </p:sp>
      <p:sp>
        <p:nvSpPr>
          <p:cNvPr id="14" name="Text 11"/>
          <p:cNvSpPr txBox="1"/>
          <p:nvPr/>
        </p:nvSpPr>
        <p:spPr>
          <a:xfrm>
            <a:off x="7863840" y="3520440"/>
            <a:ext cx="3639312" cy="685800"/>
          </a:xfrm>
          <a:prstGeom prst="rect">
            <a:avLst/>
          </a:prstGeom>
          <a:noFill/>
          <a:ln/>
        </p:spPr>
        <p:txBody>
          <a:bodyPr wrap="square" lIns="0" tIns="0" rIns="0" bIns="0" rtlCol="0" anchor="t"/>
          <a:lstStyle/>
          <a:p>
            <a:pPr indent="0" marL="0">
              <a:buNone/>
            </a:pPr>
            <a:r>
              <a:rPr lang="en-US" sz="1150" dirty="0">
                <a:solidFill>
                  <a:schemeClr val="tx2"/>
                </a:solidFill>
              </a:rPr>
              <a:t>Marginal process: 5×10⁻⁵ at u = 1 µm, 4×10⁻² at 6.25 µm, 0.28 at 20 µm. Steeper the closer the process sits to a limit.</a:t>
            </a:r>
            <a:endParaRPr lang="en-US" sz="1150" dirty="0"/>
          </a:p>
        </p:txBody>
      </p:sp>
      <p:sp>
        <p:nvSpPr>
          <p:cNvPr id="15" name="card 3  u → 0 drives both to 0"/>
          <p:cNvSpPr/>
          <p:nvPr/>
        </p:nvSpPr>
        <p:spPr>
          <a:xfrm>
            <a:off x="7635240" y="4389120"/>
            <a:ext cx="4005072" cy="1325880"/>
          </a:xfrm>
          <a:prstGeom prst="roundRect">
            <a:avLst>
              <a:gd name="adj" fmla="val 5517"/>
            </a:avLst>
          </a:prstGeom>
          <a:solidFill>
            <a:schemeClr val="bg2"/>
          </a:solidFill>
          <a:ln/>
        </p:spPr>
      </p:sp>
      <p:sp>
        <p:nvSpPr>
          <p:cNvPr id="16" name="Shape 13"/>
          <p:cNvSpPr/>
          <p:nvPr/>
        </p:nvSpPr>
        <p:spPr>
          <a:xfrm>
            <a:off x="7635240" y="4498848"/>
            <a:ext cx="64008" cy="1106424"/>
          </a:xfrm>
          <a:prstGeom prst="rect">
            <a:avLst/>
          </a:prstGeom>
          <a:solidFill>
            <a:schemeClr val="accent1"/>
          </a:solidFill>
          <a:ln/>
        </p:spPr>
      </p:sp>
      <p:sp>
        <p:nvSpPr>
          <p:cNvPr id="17" name="Text 14"/>
          <p:cNvSpPr txBox="1"/>
          <p:nvPr/>
        </p:nvSpPr>
        <p:spPr>
          <a:xfrm>
            <a:off x="7863840" y="4480560"/>
            <a:ext cx="3639312" cy="457200"/>
          </a:xfrm>
          <a:prstGeom prst="rect">
            <a:avLst/>
          </a:prstGeom>
          <a:noFill/>
          <a:ln/>
        </p:spPr>
        <p:txBody>
          <a:bodyPr wrap="square" lIns="0" tIns="0" rIns="0" bIns="0" rtlCol="0" anchor="ctr"/>
          <a:lstStyle/>
          <a:p>
            <a:pPr indent="0" marL="0">
              <a:buNone/>
            </a:pPr>
            <a:r>
              <a:rPr lang="en-US" sz="1300" b="1" dirty="0">
                <a:solidFill>
                  <a:schemeClr val="tx1"/>
                </a:solidFill>
              </a:rPr>
              <a:t>3  u → 0 drives both to 0</a:t>
            </a:r>
            <a:endParaRPr lang="en-US" sz="1300" dirty="0"/>
          </a:p>
        </p:txBody>
      </p:sp>
      <p:sp>
        <p:nvSpPr>
          <p:cNvPr id="18" name="Text 15"/>
          <p:cNvSpPr txBox="1"/>
          <p:nvPr/>
        </p:nvSpPr>
        <p:spPr>
          <a:xfrm>
            <a:off x="7863840" y="4937760"/>
            <a:ext cx="3639312" cy="685800"/>
          </a:xfrm>
          <a:prstGeom prst="rect">
            <a:avLst/>
          </a:prstGeom>
          <a:noFill/>
          <a:ln/>
        </p:spPr>
        <p:txBody>
          <a:bodyPr wrap="square" lIns="0" tIns="0" rIns="0" bIns="0" rtlCol="0" anchor="t"/>
          <a:lstStyle/>
          <a:p>
            <a:pPr indent="0" marL="0">
              <a:buNone/>
            </a:pPr>
            <a:r>
              <a:rPr lang="en-US" sz="1150" dirty="0">
                <a:solidFill>
                  <a:schemeClr val="tx2"/>
                </a:solidFill>
              </a:rPr>
              <a:t>u is the lever the planner holds: instrument, range, incidence angle, station layout, network ties.</a:t>
            </a:r>
            <a:endParaRPr lang="en-US" sz="1150" dirty="0"/>
          </a:p>
        </p:txBody>
      </p:sp>
      <p:sp>
        <p:nvSpPr>
          <p:cNvPr id="19" name="SO WHAT callout"/>
          <p:cNvSpPr txBox="1"/>
          <p:nvPr/>
        </p:nvSpPr>
        <p:spPr>
          <a:xfrm>
            <a:off x="548640" y="4754880"/>
            <a:ext cx="6858000" cy="960120"/>
          </a:xfrm>
          <a:prstGeom prst="roundRect">
            <a:avLst>
              <a:gd name="adj" fmla="val 7619"/>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00" b="1" dirty="0">
                <a:solidFill>
                  <a:schemeClr val="accent3"/>
                </a:solidFill>
              </a:rPr>
              <a:t>SO WHAT   </a:t>
            </a:r>
            <a:pPr algn="l" indent="0" marL="0">
              <a:buNone/>
            </a:pPr>
            <a:r>
              <a:rPr lang="en-US" sz="1200" dirty="0">
                <a:solidFill>
                  <a:schemeClr val="tx1"/>
                </a:solidFill>
              </a:rPr>
              <a:t>Past a few µm, measuring harder barely lowers false accepts but cuts false rejects a lot. Where uncertainty is spent depends on which process is marginal.</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Cpk is a label, not an input</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The integrals need the prior's mean and spread; Cpk just names a curve in that plane</a:t>
            </a:r>
            <a:endParaRPr lang="en-US" sz="1600" dirty="0"/>
          </a:p>
        </p:txBody>
      </p:sp>
      <p:pic>
        <p:nvPicPr>
          <p:cNvPr id="4" name="Image 0" descr="log PFA and log PFR across process mean and spread, with Cpk contours">    </p:cNvPr>
          <p:cNvPicPr>
            <a:picLocks noChangeAspect="1"/>
          </p:cNvPicPr>
          <p:nvPr/>
        </p:nvPicPr>
        <p:blipFill>
          <a:blip r:embed="rId1"/>
          <a:stretch>
            <a:fillRect/>
          </a:stretch>
        </p:blipFill>
        <p:spPr>
          <a:xfrm>
            <a:off x="548640" y="1554480"/>
            <a:ext cx="7680960" cy="3072384"/>
          </a:xfrm>
          <a:prstGeom prst="rect">
            <a:avLst/>
          </a:prstGeom>
        </p:spPr>
      </p:pic>
      <p:sp>
        <p:nvSpPr>
          <p:cNvPr id="5" name="Shape 2"/>
          <p:cNvSpPr/>
          <p:nvPr/>
        </p:nvSpPr>
        <p:spPr>
          <a:xfrm>
            <a:off x="548640" y="1554480"/>
            <a:ext cx="7680960" cy="3072384"/>
          </a:xfrm>
          <a:prstGeom prst="rect">
            <a:avLst/>
          </a:prstGeom>
          <a:ln w="12700">
            <a:solidFill>
              <a:schemeClr val="bg2"/>
            </a:solidFill>
            <a:prstDash val="solid"/>
          </a:ln>
        </p:spPr>
      </p:sp>
      <p:sp>
        <p:nvSpPr>
          <p:cNvPr id="6" name="card Same Cpk, very different risk"/>
          <p:cNvSpPr/>
          <p:nvPr/>
        </p:nvSpPr>
        <p:spPr>
          <a:xfrm>
            <a:off x="8503920" y="1554480"/>
            <a:ext cx="3136392" cy="2880360"/>
          </a:xfrm>
          <a:prstGeom prst="roundRect">
            <a:avLst>
              <a:gd name="adj" fmla="val 2540"/>
            </a:avLst>
          </a:prstGeom>
          <a:solidFill>
            <a:schemeClr val="bg2"/>
          </a:solidFill>
          <a:ln/>
        </p:spPr>
      </p:sp>
      <p:sp>
        <p:nvSpPr>
          <p:cNvPr id="7" name="Shape 4"/>
          <p:cNvSpPr/>
          <p:nvPr/>
        </p:nvSpPr>
        <p:spPr>
          <a:xfrm>
            <a:off x="8503920" y="1664208"/>
            <a:ext cx="64008" cy="2660904"/>
          </a:xfrm>
          <a:prstGeom prst="rect">
            <a:avLst/>
          </a:prstGeom>
          <a:solidFill>
            <a:schemeClr val="accent3"/>
          </a:solidFill>
          <a:ln/>
        </p:spPr>
      </p:sp>
      <p:sp>
        <p:nvSpPr>
          <p:cNvPr id="8" name="Text 5"/>
          <p:cNvSpPr txBox="1"/>
          <p:nvPr/>
        </p:nvSpPr>
        <p:spPr>
          <a:xfrm>
            <a:off x="8732520" y="1645920"/>
            <a:ext cx="2770632" cy="457200"/>
          </a:xfrm>
          <a:prstGeom prst="rect">
            <a:avLst/>
          </a:prstGeom>
          <a:noFill/>
          <a:ln/>
        </p:spPr>
        <p:txBody>
          <a:bodyPr wrap="square" lIns="0" tIns="0" rIns="0" bIns="0" rtlCol="0" anchor="ctr"/>
          <a:lstStyle/>
          <a:p>
            <a:pPr indent="0" marL="0">
              <a:buNone/>
            </a:pPr>
            <a:r>
              <a:rPr lang="en-US" sz="1400" b="1" dirty="0">
                <a:solidFill>
                  <a:schemeClr val="tx1"/>
                </a:solidFill>
              </a:rPr>
              <a:t>Same Cpk, very different risk</a:t>
            </a:r>
            <a:endParaRPr lang="en-US" sz="1400" dirty="0"/>
          </a:p>
        </p:txBody>
      </p:sp>
      <p:sp>
        <p:nvSpPr>
          <p:cNvPr id="9" name="Text 6"/>
          <p:cNvSpPr txBox="1"/>
          <p:nvPr/>
        </p:nvSpPr>
        <p:spPr>
          <a:xfrm>
            <a:off x="8732520" y="2103120"/>
            <a:ext cx="2770632" cy="2240280"/>
          </a:xfrm>
          <a:prstGeom prst="rect">
            <a:avLst/>
          </a:prstGeom>
          <a:noFill/>
          <a:ln/>
        </p:spPr>
        <p:txBody>
          <a:bodyPr wrap="square" lIns="0" tIns="0" rIns="0" bIns="0" rtlCol="0" anchor="t"/>
          <a:lstStyle/>
          <a:p>
            <a:pPr indent="0" marL="0">
              <a:buNone/>
            </a:pPr>
            <a:r>
              <a:rPr lang="en-US" sz="1200" dirty="0">
                <a:solidFill>
                  <a:schemeClr val="tx2"/>
                </a:solidFill>
              </a:rPr>
              <a:t>Cpk = (T − μ)/(3σ) squeezes two numbers into one. At Cpk 1.33 and u = 6.25 µm:</a:t>
            </a:r>
            <a:endParaRPr lang="en-US" sz="1200" dirty="0"/>
          </a:p>
          <a:p>
            <a:pPr indent="0" marL="0">
              <a:buNone/>
            </a:pPr>
            <a:r>
              <a:rPr lang="en-US" sz="1200" dirty="0">
                <a:solidFill>
                  <a:schemeClr val="tx2"/>
                </a:solidFill>
              </a:rPr>
              <a:t>• process biased to a limit (μ 38, σ 3 µm): PFR 4×10⁻²</a:t>
            </a:r>
            <a:endParaRPr lang="en-US" sz="1200" dirty="0"/>
          </a:p>
          <a:p>
            <a:pPr indent="0" marL="0">
              <a:buNone/>
            </a:pPr>
            <a:r>
              <a:rPr lang="en-US" sz="1200" dirty="0">
                <a:solidFill>
                  <a:schemeClr val="tx2"/>
                </a:solidFill>
              </a:rPr>
              <a:t>• process centred, wide (μ 0, σ 12.5 µm): PFR 3×10⁻⁴</a:t>
            </a:r>
            <a:endParaRPr lang="en-US" sz="1200" dirty="0"/>
          </a:p>
          <a:p>
            <a:pPr indent="0" marL="0">
              <a:buNone/>
            </a:pPr>
            <a:r>
              <a:rPr lang="en-US" sz="1200" dirty="0">
                <a:solidFill>
                  <a:schemeClr val="tx2"/>
                </a:solidFill>
              </a:rPr>
              <a:t>About 140× apart.</a:t>
            </a:r>
            <a:endParaRPr lang="en-US" sz="1200" dirty="0"/>
          </a:p>
        </p:txBody>
      </p:sp>
      <p:sp>
        <p:nvSpPr>
          <p:cNvPr id="10" name="SO WHAT callout"/>
          <p:cNvSpPr txBox="1"/>
          <p:nvPr/>
        </p:nvSpPr>
        <p:spPr>
          <a:xfrm>
            <a:off x="548640" y="4809744"/>
            <a:ext cx="11091672" cy="868680"/>
          </a:xfrm>
          <a:prstGeom prst="roundRect">
            <a:avLst>
              <a:gd name="adj" fmla="val 8421"/>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accent1"/>
                </a:solidFill>
              </a:rPr>
              <a:t>SO WHAT   </a:t>
            </a:r>
            <a:pPr algn="l" indent="0" marL="0">
              <a:buNone/>
            </a:pPr>
            <a:r>
              <a:rPr lang="en-US" sz="1300" dirty="0">
                <a:solidFill>
                  <a:schemeClr val="tx1"/>
                </a:solidFill>
              </a:rPr>
              <a:t>Not being able to compute a Cpk from 50 builds does not stop the calculation. It means μ and σ have to come from somewhere else, and the question is where.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The aerospace problem: too few builds</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Classical capability needs ~50 samples of one characteristic; a wing programme doesn't supply them</a:t>
            </a:r>
            <a:endParaRPr lang="en-US" sz="1600" dirty="0"/>
          </a:p>
        </p:txBody>
      </p:sp>
      <p:sp>
        <p:nvSpPr>
          <p:cNvPr id="4" name="T1  LE profile, right end"/>
          <p:cNvSpPr txBox="1"/>
          <p:nvPr/>
        </p:nvSpPr>
        <p:spPr>
          <a:xfrm>
            <a:off x="548640" y="1600200"/>
            <a:ext cx="2651760" cy="47548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00" b="1" dirty="0">
                <a:solidFill>
                  <a:schemeClr val="tx1"/>
                </a:solidFill>
              </a:rPr>
              <a:t>T1  LE profile, right end</a:t>
            </a:r>
            <a:endParaRPr lang="en-US" sz="1200" dirty="0"/>
          </a:p>
        </p:txBody>
      </p:sp>
      <p:sp>
        <p:nvSpPr>
          <p:cNvPr id="5" name="T2  LE profile, left end"/>
          <p:cNvSpPr txBox="1"/>
          <p:nvPr/>
        </p:nvSpPr>
        <p:spPr>
          <a:xfrm>
            <a:off x="548640" y="2194560"/>
            <a:ext cx="2651760" cy="47548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00" b="1" dirty="0">
                <a:solidFill>
                  <a:schemeClr val="tx1"/>
                </a:solidFill>
              </a:rPr>
              <a:t>T2  LE profile, left end</a:t>
            </a:r>
            <a:endParaRPr lang="en-US" sz="1200" dirty="0"/>
          </a:p>
        </p:txBody>
      </p:sp>
      <p:sp>
        <p:nvSpPr>
          <p:cNvPr id="6" name="T3  free-form LE surface"/>
          <p:cNvSpPr txBox="1"/>
          <p:nvPr/>
        </p:nvSpPr>
        <p:spPr>
          <a:xfrm>
            <a:off x="548640" y="2788920"/>
            <a:ext cx="2651760" cy="47548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00" b="1" dirty="0">
                <a:solidFill>
                  <a:schemeClr val="tx1"/>
                </a:solidFill>
              </a:rPr>
              <a:t>T3  free-form LE surface</a:t>
            </a:r>
            <a:endParaRPr lang="en-US" sz="1200" dirty="0"/>
          </a:p>
        </p:txBody>
      </p:sp>
      <p:sp>
        <p:nvSpPr>
          <p:cNvPr id="7" name="T4  flat top skin"/>
          <p:cNvSpPr txBox="1"/>
          <p:nvPr/>
        </p:nvSpPr>
        <p:spPr>
          <a:xfrm>
            <a:off x="548640" y="3383280"/>
            <a:ext cx="2651760" cy="47548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00" b="1" dirty="0">
                <a:solidFill>
                  <a:schemeClr val="tx1"/>
                </a:solidFill>
              </a:rPr>
              <a:t>T4  flat top skin</a:t>
            </a:r>
            <a:endParaRPr lang="en-US" sz="1200" dirty="0"/>
          </a:p>
        </p:txBody>
      </p:sp>
      <p:sp>
        <p:nvSpPr>
          <p:cNvPr id="8" name="T5  flap profile, right"/>
          <p:cNvSpPr txBox="1"/>
          <p:nvPr/>
        </p:nvSpPr>
        <p:spPr>
          <a:xfrm>
            <a:off x="548640" y="3977640"/>
            <a:ext cx="2651760" cy="47548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00" b="1" dirty="0">
                <a:solidFill>
                  <a:schemeClr val="tx1"/>
                </a:solidFill>
              </a:rPr>
              <a:t>T5  flap profile, right</a:t>
            </a:r>
            <a:endParaRPr lang="en-US" sz="1200" dirty="0"/>
          </a:p>
        </p:txBody>
      </p:sp>
      <p:sp>
        <p:nvSpPr>
          <p:cNvPr id="9" name="T6  flap profile, left"/>
          <p:cNvSpPr txBox="1"/>
          <p:nvPr/>
        </p:nvSpPr>
        <p:spPr>
          <a:xfrm>
            <a:off x="548640" y="4572000"/>
            <a:ext cx="2651760" cy="47548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00" b="1" dirty="0">
                <a:solidFill>
                  <a:schemeClr val="tx1"/>
                </a:solidFill>
              </a:rPr>
              <a:t>T6  flap profile, left</a:t>
            </a:r>
            <a:endParaRPr lang="en-US" sz="1200" dirty="0"/>
          </a:p>
        </p:txBody>
      </p:sp>
      <p:sp>
        <p:nvSpPr>
          <p:cNvPr id="10" name="Text 8"/>
          <p:cNvSpPr txBox="1"/>
          <p:nvPr/>
        </p:nvSpPr>
        <p:spPr>
          <a:xfrm>
            <a:off x="548640" y="5166360"/>
            <a:ext cx="2651760" cy="365760"/>
          </a:xfrm>
          <a:prstGeom prst="rect">
            <a:avLst/>
          </a:prstGeom>
          <a:noFill/>
          <a:ln/>
        </p:spPr>
        <p:txBody>
          <a:bodyPr wrap="square" lIns="0" tIns="0" rIns="0" bIns="0" rtlCol="0" anchor="ctr"/>
          <a:lstStyle/>
          <a:p>
            <a:pPr algn="ctr" indent="0" marL="0">
              <a:buNone/>
            </a:pPr>
            <a:r>
              <a:rPr lang="en-US" sz="1100" i="1" dirty="0">
                <a:solidFill>
                  <a:schemeClr val="tx2"/>
                </a:solidFill>
              </a:rPr>
              <a:t>500 characteristics (inspection points), in six tasks</a:t>
            </a:r>
            <a:endParaRPr lang="en-US" sz="1100" dirty="0"/>
          </a:p>
        </p:txBody>
      </p:sp>
      <p:sp>
        <p:nvSpPr>
          <p:cNvPr id="11" name="Cluster A: marginal"/>
          <p:cNvSpPr txBox="1"/>
          <p:nvPr/>
        </p:nvSpPr>
        <p:spPr>
          <a:xfrm>
            <a:off x="4846320" y="1783080"/>
            <a:ext cx="3108960" cy="1051560"/>
          </a:xfrm>
          <a:prstGeom prst="roundRect">
            <a:avLst>
              <a:gd name="adj" fmla="val 6957"/>
            </a:avLst>
          </a:prstGeom>
          <a:solidFill>
            <a:schemeClr val="accent3"/>
          </a:solidFill>
          <a:ln/>
        </p:spPr>
        <p:txBody>
          <a:bodyPr wrap="square" lIns="63500" tIns="63500" rIns="63500" bIns="63500" rtlCol="0" anchor="ctr"/>
          <a:lstStyle/>
          <a:p>
            <a:pPr algn="ctr" indent="0" marL="0">
              <a:buNone/>
            </a:pPr>
            <a:r>
              <a:rPr lang="en-US" sz="1400" b="1" dirty="0">
                <a:solidFill>
                  <a:schemeClr val="bg1"/>
                </a:solidFill>
              </a:rPr>
              <a:t>Cluster A: marginal</a:t>
            </a:r>
            <a:endParaRPr lang="en-US" sz="1400" dirty="0"/>
          </a:p>
          <a:p>
            <a:pPr algn="ctr" indent="0" marL="0">
              <a:buNone/>
            </a:pPr>
            <a:r>
              <a:rPr lang="en-US" sz="1150" dirty="0">
                <a:solidFill>
                  <a:schemeClr val="bg1"/>
                </a:solidFill>
              </a:rPr>
              <a:t>one prior (μ, σ) shared by T1–T3: compound-curvature forming and machining</a:t>
            </a:r>
            <a:endParaRPr lang="en-US" sz="1400" dirty="0"/>
          </a:p>
        </p:txBody>
      </p:sp>
      <p:sp>
        <p:nvSpPr>
          <p:cNvPr id="12" name="Cluster B: high-capability"/>
          <p:cNvSpPr txBox="1"/>
          <p:nvPr/>
        </p:nvSpPr>
        <p:spPr>
          <a:xfrm>
            <a:off x="4846320" y="3566160"/>
            <a:ext cx="3108960" cy="1051560"/>
          </a:xfrm>
          <a:prstGeom prst="roundRect">
            <a:avLst>
              <a:gd name="adj" fmla="val 6957"/>
            </a:avLst>
          </a:prstGeom>
          <a:solidFill>
            <a:schemeClr val="accent1"/>
          </a:solidFill>
          <a:ln/>
        </p:spPr>
        <p:txBody>
          <a:bodyPr wrap="square" lIns="63500" tIns="63500" rIns="63500" bIns="63500" rtlCol="0" anchor="ctr"/>
          <a:lstStyle/>
          <a:p>
            <a:pPr algn="ctr" indent="0" marL="0">
              <a:buNone/>
            </a:pPr>
            <a:r>
              <a:rPr lang="en-US" sz="1400" b="1" dirty="0">
                <a:solidFill>
                  <a:schemeClr val="bg1"/>
                </a:solidFill>
              </a:rPr>
              <a:t>Cluster B: high-capability</a:t>
            </a:r>
            <a:endParaRPr lang="en-US" sz="1400" dirty="0"/>
          </a:p>
          <a:p>
            <a:pPr algn="ctr" indent="0" marL="0">
              <a:buNone/>
            </a:pPr>
            <a:r>
              <a:rPr lang="en-US" sz="1150" dirty="0">
                <a:solidFill>
                  <a:schemeClr val="bg1"/>
                </a:solidFill>
              </a:rPr>
              <a:t>one prior shared by T4–T6: flat skin and flap</a:t>
            </a:r>
            <a:endParaRPr lang="en-US" sz="1400" dirty="0"/>
          </a:p>
        </p:txBody>
      </p:sp>
      <p:sp>
        <p:nvSpPr>
          <p:cNvPr id="13" name="Shape 11"/>
          <p:cNvSpPr/>
          <p:nvPr/>
        </p:nvSpPr>
        <p:spPr>
          <a:xfrm>
            <a:off x="3200400" y="1837944"/>
            <a:ext cx="1645920" cy="470916"/>
          </a:xfrm>
          <a:prstGeom prst="line">
            <a:avLst/>
          </a:prstGeom>
          <a:noFill/>
          <a:ln w="19050">
            <a:solidFill>
              <a:schemeClr val="accent3"/>
            </a:solidFill>
            <a:prstDash val="solid"/>
            <a:tailEnd type="triangle"/>
          </a:ln>
        </p:spPr>
      </p:sp>
      <p:sp>
        <p:nvSpPr>
          <p:cNvPr id="14" name="Shape 12"/>
          <p:cNvSpPr/>
          <p:nvPr/>
        </p:nvSpPr>
        <p:spPr>
          <a:xfrm flipV="1">
            <a:off x="3200400" y="2308860"/>
            <a:ext cx="1645920" cy="123444"/>
          </a:xfrm>
          <a:prstGeom prst="line">
            <a:avLst/>
          </a:prstGeom>
          <a:noFill/>
          <a:ln w="19050">
            <a:solidFill>
              <a:schemeClr val="accent3"/>
            </a:solidFill>
            <a:prstDash val="solid"/>
            <a:tailEnd type="triangle"/>
          </a:ln>
        </p:spPr>
      </p:sp>
      <p:sp>
        <p:nvSpPr>
          <p:cNvPr id="15" name="Shape 13"/>
          <p:cNvSpPr/>
          <p:nvPr/>
        </p:nvSpPr>
        <p:spPr>
          <a:xfrm flipV="1">
            <a:off x="3200400" y="2308860"/>
            <a:ext cx="1645920" cy="717804"/>
          </a:xfrm>
          <a:prstGeom prst="line">
            <a:avLst/>
          </a:prstGeom>
          <a:noFill/>
          <a:ln w="19050">
            <a:solidFill>
              <a:schemeClr val="accent3"/>
            </a:solidFill>
            <a:prstDash val="solid"/>
            <a:tailEnd type="triangle"/>
          </a:ln>
        </p:spPr>
      </p:sp>
      <p:sp>
        <p:nvSpPr>
          <p:cNvPr id="16" name="Shape 14"/>
          <p:cNvSpPr/>
          <p:nvPr/>
        </p:nvSpPr>
        <p:spPr>
          <a:xfrm>
            <a:off x="3200400" y="3621024"/>
            <a:ext cx="1645920" cy="470916"/>
          </a:xfrm>
          <a:prstGeom prst="line">
            <a:avLst/>
          </a:prstGeom>
          <a:noFill/>
          <a:ln w="19050">
            <a:solidFill>
              <a:schemeClr val="accent1"/>
            </a:solidFill>
            <a:prstDash val="solid"/>
            <a:tailEnd type="triangle"/>
          </a:ln>
        </p:spPr>
      </p:sp>
      <p:sp>
        <p:nvSpPr>
          <p:cNvPr id="17" name="Shape 15"/>
          <p:cNvSpPr/>
          <p:nvPr/>
        </p:nvSpPr>
        <p:spPr>
          <a:xfrm flipV="1">
            <a:off x="3200400" y="4091940"/>
            <a:ext cx="1645920" cy="123444"/>
          </a:xfrm>
          <a:prstGeom prst="line">
            <a:avLst/>
          </a:prstGeom>
          <a:noFill/>
          <a:ln w="19050">
            <a:solidFill>
              <a:schemeClr val="accent1"/>
            </a:solidFill>
            <a:prstDash val="solid"/>
            <a:tailEnd type="triangle"/>
          </a:ln>
        </p:spPr>
      </p:sp>
      <p:sp>
        <p:nvSpPr>
          <p:cNvPr id="18" name="Shape 16"/>
          <p:cNvSpPr/>
          <p:nvPr/>
        </p:nvSpPr>
        <p:spPr>
          <a:xfrm flipV="1">
            <a:off x="3200400" y="4091940"/>
            <a:ext cx="1645920" cy="717804"/>
          </a:xfrm>
          <a:prstGeom prst="line">
            <a:avLst/>
          </a:prstGeom>
          <a:noFill/>
          <a:ln w="19050">
            <a:solidFill>
              <a:schemeClr val="accent1"/>
            </a:solidFill>
            <a:prstDash val="solid"/>
            <a:tailEnd type="triangle"/>
          </a:ln>
        </p:spPr>
      </p:sp>
      <p:sp>
        <p:nvSpPr>
          <p:cNvPr id="19" name="Text 17"/>
          <p:cNvSpPr txBox="1"/>
          <p:nvPr/>
        </p:nvSpPr>
        <p:spPr>
          <a:xfrm>
            <a:off x="4846320" y="4709160"/>
            <a:ext cx="3108960" cy="457200"/>
          </a:xfrm>
          <a:prstGeom prst="rect">
            <a:avLst/>
          </a:prstGeom>
          <a:noFill/>
          <a:ln/>
        </p:spPr>
        <p:txBody>
          <a:bodyPr wrap="square" lIns="0" tIns="0" rIns="0" bIns="0" rtlCol="0" anchor="ctr"/>
          <a:lstStyle/>
          <a:p>
            <a:pPr algn="ctr" indent="0" marL="0">
              <a:buNone/>
            </a:pPr>
            <a:r>
              <a:rPr lang="en-US" sz="1050" i="1" dirty="0">
                <a:solidFill>
                  <a:schemeClr val="tx2"/>
                </a:solidFill>
              </a:rPr>
              <a:t>placeholder assignment: no source says which wing-box features are harder to hold</a:t>
            </a:r>
            <a:endParaRPr lang="en-US" sz="1050" dirty="0"/>
          </a:p>
        </p:txBody>
      </p:sp>
      <p:sp>
        <p:nvSpPr>
          <p:cNvPr id="20" name="card Per characteristic: impossible"/>
          <p:cNvSpPr/>
          <p:nvPr/>
        </p:nvSpPr>
        <p:spPr>
          <a:xfrm>
            <a:off x="8321040" y="1600200"/>
            <a:ext cx="3319272" cy="1874520"/>
          </a:xfrm>
          <a:prstGeom prst="roundRect">
            <a:avLst>
              <a:gd name="adj" fmla="val 3902"/>
            </a:avLst>
          </a:prstGeom>
          <a:solidFill>
            <a:schemeClr val="bg2"/>
          </a:solidFill>
          <a:ln/>
        </p:spPr>
      </p:sp>
      <p:sp>
        <p:nvSpPr>
          <p:cNvPr id="21" name="Shape 19"/>
          <p:cNvSpPr/>
          <p:nvPr/>
        </p:nvSpPr>
        <p:spPr>
          <a:xfrm>
            <a:off x="8321040" y="1709928"/>
            <a:ext cx="64008" cy="1655064"/>
          </a:xfrm>
          <a:prstGeom prst="rect">
            <a:avLst/>
          </a:prstGeom>
          <a:solidFill>
            <a:schemeClr val="accent3"/>
          </a:solidFill>
          <a:ln/>
        </p:spPr>
      </p:sp>
      <p:sp>
        <p:nvSpPr>
          <p:cNvPr id="22" name="Text 20"/>
          <p:cNvSpPr txBox="1"/>
          <p:nvPr/>
        </p:nvSpPr>
        <p:spPr>
          <a:xfrm>
            <a:off x="8549640" y="1691640"/>
            <a:ext cx="2953512" cy="457200"/>
          </a:xfrm>
          <a:prstGeom prst="rect">
            <a:avLst/>
          </a:prstGeom>
          <a:noFill/>
          <a:ln/>
        </p:spPr>
        <p:txBody>
          <a:bodyPr wrap="square" lIns="0" tIns="0" rIns="0" bIns="0" rtlCol="0" anchor="ctr"/>
          <a:lstStyle/>
          <a:p>
            <a:pPr indent="0" marL="0">
              <a:buNone/>
            </a:pPr>
            <a:r>
              <a:rPr lang="en-US" sz="1400" b="1" dirty="0">
                <a:solidFill>
                  <a:schemeClr val="tx1"/>
                </a:solidFill>
              </a:rPr>
              <a:t>Per characteristic: impossible</a:t>
            </a:r>
            <a:endParaRPr lang="en-US" sz="1400" dirty="0"/>
          </a:p>
        </p:txBody>
      </p:sp>
      <p:sp>
        <p:nvSpPr>
          <p:cNvPr id="23" name="Text 21"/>
          <p:cNvSpPr txBox="1"/>
          <p:nvPr/>
        </p:nvSpPr>
        <p:spPr>
          <a:xfrm>
            <a:off x="8549640" y="2148840"/>
            <a:ext cx="2953512" cy="1234440"/>
          </a:xfrm>
          <a:prstGeom prst="rect">
            <a:avLst/>
          </a:prstGeom>
          <a:noFill/>
          <a:ln/>
        </p:spPr>
        <p:txBody>
          <a:bodyPr wrap="square" lIns="0" tIns="0" rIns="0" bIns="0" rtlCol="0" anchor="t"/>
          <a:lstStyle/>
          <a:p>
            <a:pPr indent="0" marL="0">
              <a:buNone/>
            </a:pPr>
            <a:r>
              <a:rPr lang="en-US" sz="1200" dirty="0">
                <a:solidFill>
                  <a:schemeClr val="tx2"/>
                </a:solidFill>
              </a:rPr>
              <a:t>One point on one wing, over a handful of builds, is a handful of samples. A per-point Cpk would be noise.</a:t>
            </a:r>
            <a:endParaRPr lang="en-US" sz="1200" dirty="0"/>
          </a:p>
        </p:txBody>
      </p:sp>
      <p:sp>
        <p:nvSpPr>
          <p:cNvPr id="24" name="card Per cluster: feasible"/>
          <p:cNvSpPr/>
          <p:nvPr/>
        </p:nvSpPr>
        <p:spPr>
          <a:xfrm>
            <a:off x="8321040" y="3611880"/>
            <a:ext cx="3319272" cy="2148840"/>
          </a:xfrm>
          <a:prstGeom prst="roundRect">
            <a:avLst>
              <a:gd name="adj" fmla="val 3404"/>
            </a:avLst>
          </a:prstGeom>
          <a:solidFill>
            <a:schemeClr val="bg2"/>
          </a:solidFill>
          <a:ln/>
        </p:spPr>
      </p:sp>
      <p:sp>
        <p:nvSpPr>
          <p:cNvPr id="25" name="Shape 23"/>
          <p:cNvSpPr/>
          <p:nvPr/>
        </p:nvSpPr>
        <p:spPr>
          <a:xfrm>
            <a:off x="8321040" y="3721608"/>
            <a:ext cx="64008" cy="1929384"/>
          </a:xfrm>
          <a:prstGeom prst="rect">
            <a:avLst/>
          </a:prstGeom>
          <a:solidFill>
            <a:schemeClr val="accent1"/>
          </a:solidFill>
          <a:ln/>
        </p:spPr>
      </p:sp>
      <p:sp>
        <p:nvSpPr>
          <p:cNvPr id="26" name="Text 24"/>
          <p:cNvSpPr txBox="1"/>
          <p:nvPr/>
        </p:nvSpPr>
        <p:spPr>
          <a:xfrm>
            <a:off x="8549640" y="3703320"/>
            <a:ext cx="2953512" cy="457200"/>
          </a:xfrm>
          <a:prstGeom prst="rect">
            <a:avLst/>
          </a:prstGeom>
          <a:noFill/>
          <a:ln/>
        </p:spPr>
        <p:txBody>
          <a:bodyPr wrap="square" lIns="0" tIns="0" rIns="0" bIns="0" rtlCol="0" anchor="ctr"/>
          <a:lstStyle/>
          <a:p>
            <a:pPr indent="0" marL="0">
              <a:buNone/>
            </a:pPr>
            <a:r>
              <a:rPr lang="en-US" sz="1400" b="1" dirty="0">
                <a:solidFill>
                  <a:schemeClr val="tx1"/>
                </a:solidFill>
              </a:rPr>
              <a:t>Per cluster: feasible</a:t>
            </a:r>
            <a:endParaRPr lang="en-US" sz="1400" dirty="0"/>
          </a:p>
        </p:txBody>
      </p:sp>
      <p:sp>
        <p:nvSpPr>
          <p:cNvPr id="27" name="Text 25"/>
          <p:cNvSpPr txBox="1"/>
          <p:nvPr/>
        </p:nvSpPr>
        <p:spPr>
          <a:xfrm>
            <a:off x="8549640" y="4160520"/>
            <a:ext cx="2953512" cy="1508760"/>
          </a:xfrm>
          <a:prstGeom prst="rect">
            <a:avLst/>
          </a:prstGeom>
          <a:noFill/>
          <a:ln/>
        </p:spPr>
        <p:txBody>
          <a:bodyPr wrap="square" lIns="0" tIns="0" rIns="0" bIns="0" rtlCol="0" anchor="t"/>
          <a:lstStyle/>
          <a:p>
            <a:pPr indent="0" marL="0">
              <a:buNone/>
            </a:pPr>
            <a:r>
              <a:rPr lang="en-US" sz="1200" dirty="0">
                <a:solidFill>
                  <a:schemeClr val="tx2"/>
                </a:solidFill>
              </a:rPr>
              <a:t>Features sharing a production process behave alike, so their data can be pooled and one prior set per cluster (Schmitt et al.; CLAUDE.md §3).</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Four ways to get μ and σ without 50 builds</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Suggestions for the aerospace setting; none is implemented or sourced in the testbed yet</a:t>
            </a:r>
            <a:endParaRPr lang="en-US" sz="1600" dirty="0"/>
          </a:p>
        </p:txBody>
      </p:sp>
      <p:sp>
        <p:nvSpPr>
          <p:cNvPr id="4" name="card 1  Elicit quantiles"/>
          <p:cNvSpPr/>
          <p:nvPr/>
        </p:nvSpPr>
        <p:spPr>
          <a:xfrm>
            <a:off x="548640" y="1554480"/>
            <a:ext cx="2651760" cy="3383280"/>
          </a:xfrm>
          <a:prstGeom prst="roundRect">
            <a:avLst>
              <a:gd name="adj" fmla="val 2759"/>
            </a:avLst>
          </a:prstGeom>
          <a:solidFill>
            <a:schemeClr val="bg2"/>
          </a:solidFill>
          <a:ln/>
        </p:spPr>
      </p:sp>
      <p:sp>
        <p:nvSpPr>
          <p:cNvPr id="5" name="Shape 3"/>
          <p:cNvSpPr/>
          <p:nvPr/>
        </p:nvSpPr>
        <p:spPr>
          <a:xfrm>
            <a:off x="548640" y="1664208"/>
            <a:ext cx="64008" cy="3163824"/>
          </a:xfrm>
          <a:prstGeom prst="rect">
            <a:avLst/>
          </a:prstGeom>
          <a:solidFill>
            <a:schemeClr val="accent1"/>
          </a:solidFill>
          <a:ln/>
        </p:spPr>
      </p:sp>
      <p:sp>
        <p:nvSpPr>
          <p:cNvPr id="6" name="Text 4"/>
          <p:cNvSpPr txBox="1"/>
          <p:nvPr/>
        </p:nvSpPr>
        <p:spPr>
          <a:xfrm>
            <a:off x="777240" y="1645920"/>
            <a:ext cx="2286000" cy="457200"/>
          </a:xfrm>
          <a:prstGeom prst="rect">
            <a:avLst/>
          </a:prstGeom>
          <a:noFill/>
          <a:ln/>
        </p:spPr>
        <p:txBody>
          <a:bodyPr wrap="square" lIns="0" tIns="0" rIns="0" bIns="0" rtlCol="0" anchor="ctr"/>
          <a:lstStyle/>
          <a:p>
            <a:pPr indent="0" marL="0">
              <a:buNone/>
            </a:pPr>
            <a:r>
              <a:rPr lang="en-US" sz="1400" b="1" dirty="0">
                <a:solidFill>
                  <a:schemeClr val="tx1"/>
                </a:solidFill>
              </a:rPr>
              <a:t>1  Elicit quantiles</a:t>
            </a:r>
            <a:endParaRPr lang="en-US" sz="1400" dirty="0"/>
          </a:p>
        </p:txBody>
      </p:sp>
      <p:sp>
        <p:nvSpPr>
          <p:cNvPr id="7" name="Text 5"/>
          <p:cNvSpPr txBox="1"/>
          <p:nvPr/>
        </p:nvSpPr>
        <p:spPr>
          <a:xfrm>
            <a:off x="777240" y="2103120"/>
            <a:ext cx="2286000" cy="2743200"/>
          </a:xfrm>
          <a:prstGeom prst="rect">
            <a:avLst/>
          </a:prstGeom>
          <a:noFill/>
          <a:ln/>
        </p:spPr>
        <p:txBody>
          <a:bodyPr wrap="square" lIns="0" tIns="0" rIns="0" bIns="0" rtlCol="0" anchor="t"/>
          <a:lstStyle/>
          <a:p>
            <a:pPr indent="0" marL="0">
              <a:buNone/>
            </a:pPr>
            <a:r>
              <a:rPr lang="en-US" sz="1200" dirty="0">
                <a:solidFill>
                  <a:schemeClr val="tx2"/>
                </a:solidFill>
              </a:rPr>
              <a:t>Ask process engineers for what they can state: 'the typical deviation', 'the worst in 1 in 20 parts', 'is it biased to one side?' Two answers fit μ and σ directly. CLAUDE.md §3 specifies this route.</a:t>
            </a:r>
            <a:endParaRPr lang="en-US" sz="1200" dirty="0"/>
          </a:p>
        </p:txBody>
      </p:sp>
      <p:sp>
        <p:nvSpPr>
          <p:cNvPr id="8" name="card 2  Pool across features"/>
          <p:cNvSpPr/>
          <p:nvPr/>
        </p:nvSpPr>
        <p:spPr>
          <a:xfrm>
            <a:off x="3364992" y="1554480"/>
            <a:ext cx="2651760" cy="3383280"/>
          </a:xfrm>
          <a:prstGeom prst="roundRect">
            <a:avLst>
              <a:gd name="adj" fmla="val 2759"/>
            </a:avLst>
          </a:prstGeom>
          <a:solidFill>
            <a:schemeClr val="bg2"/>
          </a:solidFill>
          <a:ln/>
        </p:spPr>
      </p:sp>
      <p:sp>
        <p:nvSpPr>
          <p:cNvPr id="9" name="Shape 7"/>
          <p:cNvSpPr/>
          <p:nvPr/>
        </p:nvSpPr>
        <p:spPr>
          <a:xfrm>
            <a:off x="3364992" y="1664208"/>
            <a:ext cx="64008" cy="3163824"/>
          </a:xfrm>
          <a:prstGeom prst="rect">
            <a:avLst/>
          </a:prstGeom>
          <a:solidFill>
            <a:schemeClr val="accent2"/>
          </a:solidFill>
          <a:ln/>
        </p:spPr>
      </p:sp>
      <p:sp>
        <p:nvSpPr>
          <p:cNvPr id="10" name="Text 8"/>
          <p:cNvSpPr txBox="1"/>
          <p:nvPr/>
        </p:nvSpPr>
        <p:spPr>
          <a:xfrm>
            <a:off x="3593592" y="1645920"/>
            <a:ext cx="2286000" cy="457200"/>
          </a:xfrm>
          <a:prstGeom prst="rect">
            <a:avLst/>
          </a:prstGeom>
          <a:noFill/>
          <a:ln/>
        </p:spPr>
        <p:txBody>
          <a:bodyPr wrap="square" lIns="0" tIns="0" rIns="0" bIns="0" rtlCol="0" anchor="ctr"/>
          <a:lstStyle/>
          <a:p>
            <a:pPr indent="0" marL="0">
              <a:buNone/>
            </a:pPr>
            <a:r>
              <a:rPr lang="en-US" sz="1400" b="1" dirty="0">
                <a:solidFill>
                  <a:schemeClr val="tx1"/>
                </a:solidFill>
              </a:rPr>
              <a:t>2  Pool across features</a:t>
            </a:r>
            <a:endParaRPr lang="en-US" sz="1400" dirty="0"/>
          </a:p>
        </p:txBody>
      </p:sp>
      <p:sp>
        <p:nvSpPr>
          <p:cNvPr id="11" name="Text 9"/>
          <p:cNvSpPr txBox="1"/>
          <p:nvPr/>
        </p:nvSpPr>
        <p:spPr>
          <a:xfrm>
            <a:off x="3593592" y="2103120"/>
            <a:ext cx="2286000" cy="2743200"/>
          </a:xfrm>
          <a:prstGeom prst="rect">
            <a:avLst/>
          </a:prstGeom>
          <a:noFill/>
          <a:ln/>
        </p:spPr>
        <p:txBody>
          <a:bodyPr wrap="square" lIns="0" tIns="0" rIns="0" bIns="0" rtlCol="0" anchor="t"/>
          <a:lstStyle/>
          <a:p>
            <a:pPr indent="0" marL="0">
              <a:buNone/>
            </a:pPr>
            <a:r>
              <a:rPr lang="en-US" sz="1200" dirty="0">
                <a:solidFill>
                  <a:schemeClr val="tx2"/>
                </a:solidFill>
              </a:rPr>
              <a:t>Non-conformance reports, first-article inspections, trial coupons, machine capability runs and other programmes' data for the same process all count as samples for the cluster, even if no single feature has 50.</a:t>
            </a:r>
            <a:endParaRPr lang="en-US" sz="1200" dirty="0"/>
          </a:p>
        </p:txBody>
      </p:sp>
      <p:sp>
        <p:nvSpPr>
          <p:cNvPr id="12" name="card 3  Use your own data"/>
          <p:cNvSpPr/>
          <p:nvPr/>
        </p:nvSpPr>
        <p:spPr>
          <a:xfrm>
            <a:off x="6181344" y="1554480"/>
            <a:ext cx="2651760" cy="3383280"/>
          </a:xfrm>
          <a:prstGeom prst="roundRect">
            <a:avLst>
              <a:gd name="adj" fmla="val 2759"/>
            </a:avLst>
          </a:prstGeom>
          <a:solidFill>
            <a:schemeClr val="bg2"/>
          </a:solidFill>
          <a:ln/>
        </p:spPr>
      </p:sp>
      <p:sp>
        <p:nvSpPr>
          <p:cNvPr id="13" name="Shape 11"/>
          <p:cNvSpPr/>
          <p:nvPr/>
        </p:nvSpPr>
        <p:spPr>
          <a:xfrm>
            <a:off x="6181344" y="1664208"/>
            <a:ext cx="64008" cy="3163824"/>
          </a:xfrm>
          <a:prstGeom prst="rect">
            <a:avLst/>
          </a:prstGeom>
          <a:solidFill>
            <a:schemeClr val="accent3"/>
          </a:solidFill>
          <a:ln/>
        </p:spPr>
      </p:sp>
      <p:sp>
        <p:nvSpPr>
          <p:cNvPr id="14" name="Text 12"/>
          <p:cNvSpPr txBox="1"/>
          <p:nvPr/>
        </p:nvSpPr>
        <p:spPr>
          <a:xfrm>
            <a:off x="6409944" y="1645920"/>
            <a:ext cx="2286000" cy="457200"/>
          </a:xfrm>
          <a:prstGeom prst="rect">
            <a:avLst/>
          </a:prstGeom>
          <a:noFill/>
          <a:ln/>
        </p:spPr>
        <p:txBody>
          <a:bodyPr wrap="square" lIns="0" tIns="0" rIns="0" bIns="0" rtlCol="0" anchor="ctr"/>
          <a:lstStyle/>
          <a:p>
            <a:pPr indent="0" marL="0">
              <a:buNone/>
            </a:pPr>
            <a:r>
              <a:rPr lang="en-US" sz="1400" b="1" dirty="0">
                <a:solidFill>
                  <a:schemeClr val="tx1"/>
                </a:solidFill>
              </a:rPr>
              <a:t>3  Use your own data</a:t>
            </a:r>
            <a:endParaRPr lang="en-US" sz="1400" dirty="0"/>
          </a:p>
        </p:txBody>
      </p:sp>
      <p:sp>
        <p:nvSpPr>
          <p:cNvPr id="15" name="Text 13"/>
          <p:cNvSpPr txBox="1"/>
          <p:nvPr/>
        </p:nvSpPr>
        <p:spPr>
          <a:xfrm>
            <a:off x="6409944" y="2103120"/>
            <a:ext cx="2286000" cy="2743200"/>
          </a:xfrm>
          <a:prstGeom prst="rect">
            <a:avLst/>
          </a:prstGeom>
          <a:noFill/>
          <a:ln/>
        </p:spPr>
        <p:txBody>
          <a:bodyPr wrap="square" lIns="0" tIns="0" rIns="0" bIns="0" rtlCol="0" anchor="t"/>
          <a:lstStyle/>
          <a:p>
            <a:pPr indent="0" marL="0">
              <a:buNone/>
            </a:pPr>
            <a:r>
              <a:rPr lang="en-US" sz="1200" dirty="0">
                <a:solidFill>
                  <a:schemeClr val="tx2"/>
                </a:solidFill>
              </a:rPr>
              <a:t>One wing already has 60–120 measured points per cluster, and the twin knows each u. Since Var(X) = σ² + u², subtract the measurement part. Caveats: points are spatially correlated, and bias looks like offset.</a:t>
            </a:r>
            <a:endParaRPr lang="en-US" sz="1200" dirty="0"/>
          </a:p>
        </p:txBody>
      </p:sp>
      <p:sp>
        <p:nvSpPr>
          <p:cNvPr id="16" name="card 4  Update with every build"/>
          <p:cNvSpPr/>
          <p:nvPr/>
        </p:nvSpPr>
        <p:spPr>
          <a:xfrm>
            <a:off x="8997696" y="1554480"/>
            <a:ext cx="2651760" cy="3383280"/>
          </a:xfrm>
          <a:prstGeom prst="roundRect">
            <a:avLst>
              <a:gd name="adj" fmla="val 2759"/>
            </a:avLst>
          </a:prstGeom>
          <a:solidFill>
            <a:schemeClr val="bg2"/>
          </a:solidFill>
          <a:ln/>
        </p:spPr>
      </p:sp>
      <p:sp>
        <p:nvSpPr>
          <p:cNvPr id="17" name="Shape 15"/>
          <p:cNvSpPr/>
          <p:nvPr/>
        </p:nvSpPr>
        <p:spPr>
          <a:xfrm>
            <a:off x="8997696" y="1664208"/>
            <a:ext cx="64008" cy="3163824"/>
          </a:xfrm>
          <a:prstGeom prst="rect">
            <a:avLst/>
          </a:prstGeom>
          <a:solidFill>
            <a:schemeClr val="accent6"/>
          </a:solidFill>
          <a:ln/>
        </p:spPr>
      </p:sp>
      <p:sp>
        <p:nvSpPr>
          <p:cNvPr id="18" name="Text 16"/>
          <p:cNvSpPr txBox="1"/>
          <p:nvPr/>
        </p:nvSpPr>
        <p:spPr>
          <a:xfrm>
            <a:off x="9226296" y="1645920"/>
            <a:ext cx="2286000" cy="457200"/>
          </a:xfrm>
          <a:prstGeom prst="rect">
            <a:avLst/>
          </a:prstGeom>
          <a:noFill/>
          <a:ln/>
        </p:spPr>
        <p:txBody>
          <a:bodyPr wrap="square" lIns="0" tIns="0" rIns="0" bIns="0" rtlCol="0" anchor="ctr"/>
          <a:lstStyle/>
          <a:p>
            <a:pPr indent="0" marL="0">
              <a:buNone/>
            </a:pPr>
            <a:r>
              <a:rPr lang="en-US" sz="1400" b="1" dirty="0">
                <a:solidFill>
                  <a:schemeClr val="tx1"/>
                </a:solidFill>
              </a:rPr>
              <a:t>4  Update with every build</a:t>
            </a:r>
            <a:endParaRPr lang="en-US" sz="1400" dirty="0"/>
          </a:p>
        </p:txBody>
      </p:sp>
      <p:sp>
        <p:nvSpPr>
          <p:cNvPr id="19" name="Text 17"/>
          <p:cNvSpPr txBox="1"/>
          <p:nvPr/>
        </p:nvSpPr>
        <p:spPr>
          <a:xfrm>
            <a:off x="9226296" y="2103120"/>
            <a:ext cx="2286000" cy="2743200"/>
          </a:xfrm>
          <a:prstGeom prst="rect">
            <a:avLst/>
          </a:prstGeom>
          <a:noFill/>
          <a:ln/>
        </p:spPr>
        <p:txBody>
          <a:bodyPr wrap="square" lIns="0" tIns="0" rIns="0" bIns="0" rtlCol="0" anchor="t"/>
          <a:lstStyle/>
          <a:p>
            <a:pPr indent="0" marL="0">
              <a:buNone/>
            </a:pPr>
            <a:r>
              <a:rPr lang="en-US" sz="1200" dirty="0">
                <a:solidFill>
                  <a:schemeClr val="tx2"/>
                </a:solidFill>
              </a:rPr>
              <a:t>Start from the elicited prior, update it as each build's data arrives (Bayesian). The plan for build 5 is better informed than the plan for build 1.</a:t>
            </a:r>
            <a:endParaRPr lang="en-US" sz="1200" dirty="0"/>
          </a:p>
        </p:txBody>
      </p:sp>
      <p:sp>
        <p:nvSpPr>
          <p:cNvPr id="20" name="HONESTY callout"/>
          <p:cNvSpPr txBox="1"/>
          <p:nvPr/>
        </p:nvSpPr>
        <p:spPr>
          <a:xfrm>
            <a:off x="548640" y="5120640"/>
            <a:ext cx="11091672" cy="868680"/>
          </a:xfrm>
          <a:prstGeom prst="roundRect">
            <a:avLst>
              <a:gd name="adj" fmla="val 8421"/>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b="1" dirty="0">
                <a:solidFill>
                  <a:schemeClr val="accent3"/>
                </a:solidFill>
              </a:rPr>
              <a:t>HONESTY   </a:t>
            </a:r>
            <a:pPr algn="l" indent="0" marL="0">
              <a:buNone/>
            </a:pPr>
            <a:r>
              <a:rPr lang="en-US" sz="1300" dirty="0">
                <a:solidFill>
                  <a:schemeClr val="tx1"/>
                </a:solidFill>
              </a:rPr>
              <a:t>Today every prior in the testbed is a placeholder (TODO(source) in the code). The results show which conclusions survive that: see slide 12.</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Which cluster is a point in? That is uncertain too</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CLAUDE.md §3: cluster assignment carries its own uncertainty and must be reported</a:t>
            </a:r>
            <a:endParaRPr lang="en-US" sz="1600" dirty="0"/>
          </a:p>
        </p:txBody>
      </p:sp>
      <p:sp>
        <p:nvSpPr>
          <p:cNvPr id="4" name="equation"/>
          <p:cNvSpPr txBox="1"/>
          <p:nvPr/>
        </p:nvSpPr>
        <p:spPr>
          <a:xfrm>
            <a:off x="548640" y="1554480"/>
            <a:ext cx="11091672" cy="594360"/>
          </a:xfrm>
          <a:prstGeom prst="rect">
            <a:avLst/>
          </a:prstGeom>
          <a:solidFill>
            <a:schemeClr val="bg2"/>
          </a:solidFill>
          <a:ln/>
        </p:spPr>
        <p:txBody>
          <a:bodyPr wrap="square" lIns="0" tIns="101600" rIns="10160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PFA_i = c · PFA_label(u_i) + (1 − c) · PFA_other(u_i)          PFR_i likewise</a:t>
            </a:r>
            <a:endParaRPr lang="en-US" sz="1500" dirty="0"/>
          </a:p>
        </p:txBody>
      </p:sp>
      <p:sp>
        <p:nvSpPr>
          <p:cNvPr id="5" name="Text 3"/>
          <p:cNvSpPr txBox="1"/>
          <p:nvPr/>
        </p:nvSpPr>
        <p:spPr>
          <a:xfrm>
            <a:off x="548640" y="2286000"/>
            <a:ext cx="11091672" cy="731520"/>
          </a:xfrm>
          <a:prstGeom prst="rect">
            <a:avLst/>
          </a:prstGeom>
          <a:noFill/>
          <a:ln/>
        </p:spPr>
        <p:txBody>
          <a:bodyPr wrap="square" lIns="0" tIns="0" rIns="0" bIns="0" rtlCol="0" anchor="t"/>
          <a:lstStyle/>
          <a:p>
            <a:pPr indent="0" marL="0">
              <a:buNone/>
            </a:pPr>
            <a:r>
              <a:rPr lang="en-US" sz="1400" dirty="0">
                <a:solidFill>
                  <a:schemeClr val="tx2"/>
                </a:solidFill>
              </a:rPr>
              <a:t>With confidence c the point's process is its labelled cluster; otherwise it is the other one. An unmeasured point escapes at the same mixture of the two out-of-tolerance rates and is never falsely rejected.</a:t>
            </a:r>
            <a:endParaRPr lang="en-US" sz="1400" dirty="0"/>
          </a:p>
        </p:txBody>
      </p:sp>
      <p:sp>
        <p:nvSpPr>
          <p:cNvPr id="6" name="Shape 4"/>
          <p:cNvSpPr/>
          <p:nvPr/>
        </p:nvSpPr>
        <p:spPr>
          <a:xfrm>
            <a:off x="548640" y="3246120"/>
            <a:ext cx="3383280" cy="1463040"/>
          </a:xfrm>
          <a:prstGeom prst="roundRect">
            <a:avLst>
              <a:gd name="adj" fmla="val 5000"/>
            </a:avLst>
          </a:prstGeom>
          <a:solidFill>
            <a:schemeClr val="bg2"/>
          </a:solidFill>
          <a:ln/>
        </p:spPr>
      </p:sp>
      <p:sp>
        <p:nvSpPr>
          <p:cNvPr id="7" name="Text 5"/>
          <p:cNvSpPr txBox="1"/>
          <p:nvPr/>
        </p:nvSpPr>
        <p:spPr>
          <a:xfrm>
            <a:off x="685800" y="3291840"/>
            <a:ext cx="3108960" cy="848563"/>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2.0×10⁻⁹</a:t>
            </a:r>
            <a:endParaRPr lang="en-US" sz="3200" dirty="0"/>
          </a:p>
        </p:txBody>
      </p:sp>
      <p:sp>
        <p:nvSpPr>
          <p:cNvPr id="8" name="Text 6"/>
          <p:cNvSpPr txBox="1"/>
          <p:nvPr/>
        </p:nvSpPr>
        <p:spPr>
          <a:xfrm>
            <a:off x="685800" y="4153205"/>
            <a:ext cx="3108960" cy="482803"/>
          </a:xfrm>
          <a:prstGeom prst="rect">
            <a:avLst/>
          </a:prstGeom>
          <a:noFill/>
          <a:ln/>
        </p:spPr>
        <p:txBody>
          <a:bodyPr wrap="square" lIns="0" tIns="0" rIns="0" bIns="0" rtlCol="0" anchor="t"/>
          <a:lstStyle/>
          <a:p>
            <a:pPr algn="l" indent="0" marL="0">
              <a:buNone/>
            </a:pPr>
            <a:r>
              <a:rPr lang="en-US" sz="1200" dirty="0">
                <a:solidFill>
                  <a:schemeClr val="tx2"/>
                </a:solidFill>
              </a:rPr>
              <a:t>escape risk of an unmeasured 'high-capability' point if c = 1.0</a:t>
            </a:r>
            <a:endParaRPr lang="en-US" sz="1200" dirty="0"/>
          </a:p>
        </p:txBody>
      </p:sp>
      <p:sp>
        <p:nvSpPr>
          <p:cNvPr id="9" name="Shape 7"/>
          <p:cNvSpPr/>
          <p:nvPr/>
        </p:nvSpPr>
        <p:spPr>
          <a:xfrm>
            <a:off x="4114800" y="3246120"/>
            <a:ext cx="3383280" cy="1463040"/>
          </a:xfrm>
          <a:prstGeom prst="roundRect">
            <a:avLst>
              <a:gd name="adj" fmla="val 5000"/>
            </a:avLst>
          </a:prstGeom>
          <a:solidFill>
            <a:schemeClr val="bg2"/>
          </a:solidFill>
          <a:ln/>
        </p:spPr>
      </p:sp>
      <p:sp>
        <p:nvSpPr>
          <p:cNvPr id="10" name="Text 8"/>
          <p:cNvSpPr txBox="1"/>
          <p:nvPr/>
        </p:nvSpPr>
        <p:spPr>
          <a:xfrm>
            <a:off x="4251960" y="3291840"/>
            <a:ext cx="3108960" cy="848563"/>
          </a:xfrm>
          <a:prstGeom prst="rect">
            <a:avLst/>
          </a:prstGeom>
          <a:noFill/>
          <a:ln/>
        </p:spPr>
        <p:txBody>
          <a:bodyPr wrap="square" lIns="0" tIns="0" rIns="0" bIns="0" rtlCol="0" anchor="b"/>
          <a:lstStyle/>
          <a:p>
            <a:pPr algn="l" indent="0" marL="0">
              <a:buNone/>
            </a:pPr>
            <a:r>
              <a:rPr lang="en-US" sz="3200" b="1" dirty="0">
                <a:solidFill>
                  <a:schemeClr val="accent3"/>
                </a:solidFill>
                <a:latin typeface="Cambria" pitchFamily="34" charset="0"/>
                <a:ea typeface="Cambria" pitchFamily="34" charset="-122"/>
                <a:cs typeface="Cambria" pitchFamily="34" charset="-120"/>
              </a:rPr>
              <a:t>3.2×10⁻⁶</a:t>
            </a:r>
            <a:endParaRPr lang="en-US" sz="3200" dirty="0"/>
          </a:p>
        </p:txBody>
      </p:sp>
      <p:sp>
        <p:nvSpPr>
          <p:cNvPr id="11" name="Text 9"/>
          <p:cNvSpPr txBox="1"/>
          <p:nvPr/>
        </p:nvSpPr>
        <p:spPr>
          <a:xfrm>
            <a:off x="4251960" y="4153205"/>
            <a:ext cx="3108960" cy="482803"/>
          </a:xfrm>
          <a:prstGeom prst="rect">
            <a:avLst/>
          </a:prstGeom>
          <a:noFill/>
          <a:ln/>
        </p:spPr>
        <p:txBody>
          <a:bodyPr wrap="square" lIns="0" tIns="0" rIns="0" bIns="0" rtlCol="0" anchor="t"/>
          <a:lstStyle/>
          <a:p>
            <a:pPr algn="l" indent="0" marL="0">
              <a:buNone/>
            </a:pPr>
            <a:r>
              <a:rPr lang="en-US" sz="1200" dirty="0">
                <a:solidFill>
                  <a:schemeClr val="tx2"/>
                </a:solidFill>
              </a:rPr>
              <a:t>the same point if c = 0.9: a 10% chance it is really marginal</a:t>
            </a:r>
            <a:endParaRPr lang="en-US" sz="1200" dirty="0"/>
          </a:p>
        </p:txBody>
      </p:sp>
      <p:sp>
        <p:nvSpPr>
          <p:cNvPr id="12" name="Shape 10"/>
          <p:cNvSpPr/>
          <p:nvPr/>
        </p:nvSpPr>
        <p:spPr>
          <a:xfrm>
            <a:off x="7680960" y="3246120"/>
            <a:ext cx="3959352" cy="1463040"/>
          </a:xfrm>
          <a:prstGeom prst="roundRect">
            <a:avLst>
              <a:gd name="adj" fmla="val 5000"/>
            </a:avLst>
          </a:prstGeom>
          <a:solidFill>
            <a:schemeClr val="bg2"/>
          </a:solidFill>
          <a:ln/>
        </p:spPr>
      </p:sp>
      <p:sp>
        <p:nvSpPr>
          <p:cNvPr id="13" name="Text 11"/>
          <p:cNvSpPr txBox="1"/>
          <p:nvPr/>
        </p:nvSpPr>
        <p:spPr>
          <a:xfrm>
            <a:off x="7818120" y="3291840"/>
            <a:ext cx="3685032" cy="848563"/>
          </a:xfrm>
          <a:prstGeom prst="rect">
            <a:avLst/>
          </a:prstGeom>
          <a:noFill/>
          <a:ln/>
        </p:spPr>
        <p:txBody>
          <a:bodyPr wrap="square" lIns="0" tIns="0" rIns="0" bIns="0" rtlCol="0" anchor="b"/>
          <a:lstStyle/>
          <a:p>
            <a:pPr algn="l" indent="0" marL="0">
              <a:buNone/>
            </a:pPr>
            <a:r>
              <a:rPr lang="en-US" sz="3200" b="1" dirty="0">
                <a:solidFill>
                  <a:schemeClr val="accent3"/>
                </a:solidFill>
                <a:latin typeface="Cambria" pitchFamily="34" charset="0"/>
                <a:ea typeface="Cambria" pitchFamily="34" charset="-122"/>
                <a:cs typeface="Cambria" pitchFamily="34" charset="-120"/>
              </a:rPr>
              <a:t>≈ 1,600×</a:t>
            </a:r>
            <a:endParaRPr lang="en-US" sz="3200" dirty="0"/>
          </a:p>
        </p:txBody>
      </p:sp>
      <p:sp>
        <p:nvSpPr>
          <p:cNvPr id="14" name="Text 12"/>
          <p:cNvSpPr txBox="1"/>
          <p:nvPr/>
        </p:nvSpPr>
        <p:spPr>
          <a:xfrm>
            <a:off x="7818120" y="4153205"/>
            <a:ext cx="3685032" cy="482803"/>
          </a:xfrm>
          <a:prstGeom prst="rect">
            <a:avLst/>
          </a:prstGeom>
          <a:noFill/>
          <a:ln/>
        </p:spPr>
        <p:txBody>
          <a:bodyPr wrap="square" lIns="0" tIns="0" rIns="0" bIns="0" rtlCol="0" anchor="t"/>
          <a:lstStyle/>
          <a:p>
            <a:pPr algn="l" indent="0" marL="0">
              <a:buNone/>
            </a:pPr>
            <a:r>
              <a:rPr lang="en-US" sz="1200" dirty="0">
                <a:solidFill>
                  <a:schemeClr val="tx2"/>
                </a:solidFill>
              </a:rPr>
              <a:t>dearer to skip, from a 10% doubt about the label</a:t>
            </a:r>
            <a:endParaRPr lang="en-US" sz="1200" dirty="0"/>
          </a:p>
        </p:txBody>
      </p:sp>
      <p:sp>
        <p:nvSpPr>
          <p:cNvPr id="15" name="EFFECT callout"/>
          <p:cNvSpPr txBox="1"/>
          <p:nvPr/>
        </p:nvSpPr>
        <p:spPr>
          <a:xfrm>
            <a:off x="548640" y="4937760"/>
            <a:ext cx="11091672" cy="914400"/>
          </a:xfrm>
          <a:prstGeom prst="roundRect">
            <a:avLst>
              <a:gd name="adj" fmla="val 8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accent1"/>
                </a:solidFill>
              </a:rPr>
              <a:t>EFFECT   </a:t>
            </a:r>
            <a:pPr algn="l" indent="0" marL="0">
              <a:buNone/>
            </a:pPr>
            <a:r>
              <a:rPr lang="en-US" sz="1300" dirty="0">
                <a:solidFill>
                  <a:schemeClr val="tx1"/>
                </a:solidFill>
              </a:rPr>
              <a:t>In the wing-box experiment the risk-driven plan needed 2 stations at c = 1.0, 3 at c = 0.9 and 5 at c = 0.5. How much you can safely skip hangs on how sure you are of the label.</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From one characteristic to a whole part</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Sum over the points, then ask what the part-level risk is</a:t>
            </a:r>
            <a:endParaRPr lang="en-US" sz="1600" dirty="0"/>
          </a:p>
        </p:txBody>
      </p:sp>
      <p:sp>
        <p:nvSpPr>
          <p:cNvPr id="4" name="equation"/>
          <p:cNvSpPr txBox="1"/>
          <p:nvPr/>
        </p:nvSpPr>
        <p:spPr>
          <a:xfrm>
            <a:off x="548640" y="1554480"/>
            <a:ext cx="6583680" cy="530352"/>
          </a:xfrm>
          <a:prstGeom prst="rect">
            <a:avLst/>
          </a:prstGeom>
          <a:solidFill>
            <a:schemeClr val="bg2"/>
          </a:solidFill>
          <a:ln/>
        </p:spPr>
        <p:txBody>
          <a:bodyPr wrap="square" lIns="0" tIns="101600" rIns="10160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E_FA = Σ PFA_i      E_FR = Σ PFR_i</a:t>
            </a:r>
            <a:endParaRPr lang="en-US" sz="1400" dirty="0"/>
          </a:p>
        </p:txBody>
      </p:sp>
      <p:sp>
        <p:nvSpPr>
          <p:cNvPr id="5" name="equation"/>
          <p:cNvSpPr txBox="1"/>
          <p:nvPr/>
        </p:nvSpPr>
        <p:spPr>
          <a:xfrm>
            <a:off x="548640" y="2176272"/>
            <a:ext cx="6583680" cy="530352"/>
          </a:xfrm>
          <a:prstGeom prst="rect">
            <a:avLst/>
          </a:prstGeom>
          <a:solidFill>
            <a:schemeClr val="bg2"/>
          </a:solidFill>
          <a:ln/>
        </p:spPr>
        <p:txBody>
          <a:bodyPr wrap="square" lIns="0" tIns="101600" rIns="10160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P_escape = 1 − Π (1 − PFA_i)</a:t>
            </a:r>
            <a:endParaRPr lang="en-US" sz="1400" dirty="0"/>
          </a:p>
        </p:txBody>
      </p:sp>
      <p:sp>
        <p:nvSpPr>
          <p:cNvPr id="6" name="Text 4"/>
          <p:cNvSpPr txBox="1"/>
          <p:nvPr/>
        </p:nvSpPr>
        <p:spPr>
          <a:xfrm>
            <a:off x="7315200" y="1554480"/>
            <a:ext cx="4325112" cy="1188720"/>
          </a:xfrm>
          <a:prstGeom prst="rect">
            <a:avLst/>
          </a:prstGeom>
          <a:noFill/>
          <a:ln/>
        </p:spPr>
        <p:txBody>
          <a:bodyPr wrap="square" lIns="0" tIns="0" rIns="0" bIns="0" rtlCol="0" anchor="ctr"/>
          <a:lstStyle/>
          <a:p>
            <a:pPr algn="l" indent="0" marL="0">
              <a:buNone/>
            </a:pPr>
            <a:r>
              <a:rPr lang="en-US" sz="1200" i="1" dirty="0">
                <a:solidFill>
                  <a:schemeClr val="tx2"/>
                </a:solidFill>
              </a:rPr>
              <a:t>expected false accepts / false rejects per part, and the chance at least one bad point is accepted (points treated as independent: an approximation)</a:t>
            </a:r>
            <a:endParaRPr lang="en-US" sz="1200" dirty="0"/>
          </a:p>
        </p:txBody>
      </p:sp>
      <p:sp>
        <p:nvSpPr>
          <p:cNvPr id="7" name="equation"/>
          <p:cNvSpPr txBox="1"/>
          <p:nvPr/>
        </p:nvSpPr>
        <p:spPr>
          <a:xfrm>
            <a:off x="548640" y="2798064"/>
            <a:ext cx="6583680" cy="530352"/>
          </a:xfrm>
          <a:prstGeom prst="rect">
            <a:avLst/>
          </a:prstGeom>
          <a:solidFill>
            <a:schemeClr val="bg2"/>
          </a:solidFill>
          <a:ln/>
        </p:spPr>
        <p:txBody>
          <a:bodyPr wrap="square" lIns="0" tIns="101600" rIns="10160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TUR 4:1  ⇒  u ≤ T / 8      (U = 2u)</a:t>
            </a:r>
            <a:endParaRPr lang="en-US" sz="1400" dirty="0"/>
          </a:p>
        </p:txBody>
      </p:sp>
      <p:sp>
        <p:nvSpPr>
          <p:cNvPr id="8" name="Text 6"/>
          <p:cNvSpPr txBox="1"/>
          <p:nvPr/>
        </p:nvSpPr>
        <p:spPr>
          <a:xfrm>
            <a:off x="7315200" y="2798064"/>
            <a:ext cx="4325112" cy="530352"/>
          </a:xfrm>
          <a:prstGeom prst="rect">
            <a:avLst/>
          </a:prstGeom>
          <a:noFill/>
          <a:ln/>
        </p:spPr>
        <p:txBody>
          <a:bodyPr wrap="square" lIns="0" tIns="0" rIns="0" bIns="0" rtlCol="0" anchor="ctr"/>
          <a:lstStyle/>
          <a:p>
            <a:pPr algn="l" indent="0" marL="0">
              <a:buNone/>
            </a:pPr>
            <a:r>
              <a:rPr lang="en-US" sz="1200" i="1" dirty="0">
                <a:solidFill>
                  <a:schemeClr val="tx2"/>
                </a:solidFill>
              </a:rPr>
              <a:t>ANSI/NCSL Z540.3 fallback rule: tolerance over expanded uncertainty at least 4:1</a:t>
            </a:r>
            <a:endParaRPr lang="en-US" sz="1200" dirty="0"/>
          </a:p>
        </p:txBody>
      </p:sp>
      <p:sp>
        <p:nvSpPr>
          <p:cNvPr id="9" name="Shape 7"/>
          <p:cNvSpPr/>
          <p:nvPr/>
        </p:nvSpPr>
        <p:spPr>
          <a:xfrm>
            <a:off x="548640" y="3611880"/>
            <a:ext cx="3566160" cy="1371600"/>
          </a:xfrm>
          <a:prstGeom prst="roundRect">
            <a:avLst>
              <a:gd name="adj" fmla="val 5333"/>
            </a:avLst>
          </a:prstGeom>
          <a:solidFill>
            <a:schemeClr val="bg2"/>
          </a:solidFill>
          <a:ln/>
        </p:spPr>
      </p:sp>
      <p:sp>
        <p:nvSpPr>
          <p:cNvPr id="10" name="Text 8"/>
          <p:cNvSpPr txBox="1"/>
          <p:nvPr/>
        </p:nvSpPr>
        <p:spPr>
          <a:xfrm>
            <a:off x="685800" y="3657600"/>
            <a:ext cx="3291840" cy="795528"/>
          </a:xfrm>
          <a:prstGeom prst="rect">
            <a:avLst/>
          </a:prstGeom>
          <a:noFill/>
          <a:ln/>
        </p:spPr>
        <p:txBody>
          <a:bodyPr wrap="square" lIns="0" tIns="0" rIns="0" bIns="0" rtlCol="0" anchor="b"/>
          <a:lstStyle/>
          <a:p>
            <a:pPr algn="l" indent="0" marL="0">
              <a:buNone/>
            </a:pPr>
            <a:r>
              <a:rPr lang="en-US" sz="3200" b="1" dirty="0">
                <a:solidFill>
                  <a:schemeClr val="accent3"/>
                </a:solidFill>
                <a:latin typeface="Cambria" pitchFamily="34" charset="0"/>
                <a:ea typeface="Cambria" pitchFamily="34" charset="-122"/>
                <a:cs typeface="Cambria" pitchFamily="34" charset="-120"/>
              </a:rPr>
              <a:t>7.6×10⁻³</a:t>
            </a:r>
            <a:endParaRPr lang="en-US" sz="3200" dirty="0"/>
          </a:p>
        </p:txBody>
      </p:sp>
      <p:sp>
        <p:nvSpPr>
          <p:cNvPr id="11" name="Text 9"/>
          <p:cNvSpPr txBox="1"/>
          <p:nvPr/>
        </p:nvSpPr>
        <p:spPr>
          <a:xfrm>
            <a:off x="685800" y="4462272"/>
            <a:ext cx="3291840" cy="452628"/>
          </a:xfrm>
          <a:prstGeom prst="rect">
            <a:avLst/>
          </a:prstGeom>
          <a:noFill/>
          <a:ln/>
        </p:spPr>
        <p:txBody>
          <a:bodyPr wrap="square" lIns="0" tIns="0" rIns="0" bIns="0" rtlCol="0" anchor="t"/>
          <a:lstStyle/>
          <a:p>
            <a:pPr algn="l" indent="0" marL="0">
              <a:buNone/>
            </a:pPr>
            <a:r>
              <a:rPr lang="en-US" sz="1200" dirty="0">
                <a:solidFill>
                  <a:schemeClr val="tx2"/>
                </a:solidFill>
              </a:rPr>
              <a:t>P_escape, 500 points, nothing measured</a:t>
            </a:r>
            <a:endParaRPr lang="en-US" sz="1200" dirty="0"/>
          </a:p>
        </p:txBody>
      </p:sp>
      <p:sp>
        <p:nvSpPr>
          <p:cNvPr id="12" name="Shape 10"/>
          <p:cNvSpPr/>
          <p:nvPr/>
        </p:nvSpPr>
        <p:spPr>
          <a:xfrm>
            <a:off x="4297680" y="3611880"/>
            <a:ext cx="3566160" cy="1371600"/>
          </a:xfrm>
          <a:prstGeom prst="roundRect">
            <a:avLst>
              <a:gd name="adj" fmla="val 5333"/>
            </a:avLst>
          </a:prstGeom>
          <a:solidFill>
            <a:schemeClr val="bg2"/>
          </a:solidFill>
          <a:ln/>
        </p:spPr>
      </p:sp>
      <p:sp>
        <p:nvSpPr>
          <p:cNvPr id="13" name="Text 11"/>
          <p:cNvSpPr txBox="1"/>
          <p:nvPr/>
        </p:nvSpPr>
        <p:spPr>
          <a:xfrm>
            <a:off x="4434840" y="3657600"/>
            <a:ext cx="3291840" cy="795528"/>
          </a:xfrm>
          <a:prstGeom prst="rect">
            <a:avLst/>
          </a:prstGeom>
          <a:noFill/>
          <a:ln/>
        </p:spPr>
        <p:txBody>
          <a:bodyPr wrap="square" lIns="0" tIns="0" rIns="0" bIns="0" rtlCol="0" anchor="b"/>
          <a:lstStyle/>
          <a:p>
            <a:pPr algn="l" indent="0" marL="0">
              <a:buNone/>
            </a:pPr>
            <a:r>
              <a:rPr lang="en-US" sz="3200" b="1" dirty="0">
                <a:solidFill>
                  <a:schemeClr val="accent2"/>
                </a:solidFill>
                <a:latin typeface="Cambria" pitchFamily="34" charset="0"/>
                <a:ea typeface="Cambria" pitchFamily="34" charset="-122"/>
                <a:cs typeface="Cambria" pitchFamily="34" charset="-120"/>
              </a:rPr>
              <a:t>3.5×10⁻³</a:t>
            </a:r>
            <a:endParaRPr lang="en-US" sz="3200" dirty="0"/>
          </a:p>
        </p:txBody>
      </p:sp>
      <p:sp>
        <p:nvSpPr>
          <p:cNvPr id="14" name="Text 12"/>
          <p:cNvSpPr txBox="1"/>
          <p:nvPr/>
        </p:nvSpPr>
        <p:spPr>
          <a:xfrm>
            <a:off x="4434840" y="4462272"/>
            <a:ext cx="3291840" cy="452628"/>
          </a:xfrm>
          <a:prstGeom prst="rect">
            <a:avLst/>
          </a:prstGeom>
          <a:noFill/>
          <a:ln/>
        </p:spPr>
        <p:txBody>
          <a:bodyPr wrap="square" lIns="0" tIns="0" rIns="0" bIns="0" rtlCol="0" anchor="t"/>
          <a:lstStyle/>
          <a:p>
            <a:pPr algn="l" indent="0" marL="0">
              <a:buNone/>
            </a:pPr>
            <a:r>
              <a:rPr lang="en-US" sz="1200" dirty="0">
                <a:solidFill>
                  <a:schemeClr val="tx2"/>
                </a:solidFill>
              </a:rPr>
              <a:t>every point measured at the TUR limit (6.25 µm)</a:t>
            </a:r>
            <a:endParaRPr lang="en-US" sz="1200" dirty="0"/>
          </a:p>
        </p:txBody>
      </p:sp>
      <p:sp>
        <p:nvSpPr>
          <p:cNvPr id="15" name="Shape 13"/>
          <p:cNvSpPr/>
          <p:nvPr/>
        </p:nvSpPr>
        <p:spPr>
          <a:xfrm>
            <a:off x="8046720" y="3611880"/>
            <a:ext cx="3593592" cy="1371600"/>
          </a:xfrm>
          <a:prstGeom prst="roundRect">
            <a:avLst>
              <a:gd name="adj" fmla="val 5333"/>
            </a:avLst>
          </a:prstGeom>
          <a:solidFill>
            <a:schemeClr val="bg2"/>
          </a:solidFill>
          <a:ln/>
        </p:spPr>
      </p:sp>
      <p:sp>
        <p:nvSpPr>
          <p:cNvPr id="16" name="Text 14"/>
          <p:cNvSpPr txBox="1"/>
          <p:nvPr/>
        </p:nvSpPr>
        <p:spPr>
          <a:xfrm>
            <a:off x="8183880" y="3657600"/>
            <a:ext cx="3319272" cy="795528"/>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2.2×10⁻³</a:t>
            </a:r>
            <a:endParaRPr lang="en-US" sz="3200" dirty="0"/>
          </a:p>
        </p:txBody>
      </p:sp>
      <p:sp>
        <p:nvSpPr>
          <p:cNvPr id="17" name="Text 15"/>
          <p:cNvSpPr txBox="1"/>
          <p:nvPr/>
        </p:nvSpPr>
        <p:spPr>
          <a:xfrm>
            <a:off x="8183880" y="4462272"/>
            <a:ext cx="3319272" cy="452628"/>
          </a:xfrm>
          <a:prstGeom prst="rect">
            <a:avLst/>
          </a:prstGeom>
          <a:noFill/>
          <a:ln/>
        </p:spPr>
        <p:txBody>
          <a:bodyPr wrap="square" lIns="0" tIns="0" rIns="0" bIns="0" rtlCol="0" anchor="t"/>
          <a:lstStyle/>
          <a:p>
            <a:pPr algn="l" indent="0" marL="0">
              <a:buNone/>
            </a:pPr>
            <a:r>
              <a:rPr lang="en-US" sz="1200" dirty="0">
                <a:solidFill>
                  <a:schemeClr val="tx2"/>
                </a:solidFill>
              </a:rPr>
              <a:t>every point measured at 1 µm (about the best possible)</a:t>
            </a:r>
            <a:endParaRPr lang="en-US" sz="1200" dirty="0"/>
          </a:p>
        </p:txBody>
      </p:sp>
      <p:sp>
        <p:nvSpPr>
          <p:cNvPr id="18" name="STRUCTURE callout"/>
          <p:cNvSpPr txBox="1"/>
          <p:nvPr/>
        </p:nvSpPr>
        <p:spPr>
          <a:xfrm>
            <a:off x="548640" y="5166360"/>
            <a:ext cx="11091672" cy="868680"/>
          </a:xfrm>
          <a:prstGeom prst="roundRect">
            <a:avLst>
              <a:gd name="adj" fmla="val 8421"/>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250" b="1" dirty="0">
                <a:solidFill>
                  <a:schemeClr val="accent1"/>
                </a:solidFill>
              </a:rPr>
              <a:t>STRUCTURE   </a:t>
            </a:r>
            <a:pPr algn="l" indent="0" marL="0">
              <a:buNone/>
            </a:pPr>
            <a:r>
              <a:rPr lang="en-US" sz="1250" dirty="0">
                <a:solidFill>
                  <a:schemeClr val="tx1"/>
                </a:solidFill>
              </a:rPr>
              <a:t>Measuring everything perfectly only cuts escape risk by about 3.5× against measuring nothing. The process sets most of it. The plan decides which points are measured and how many false rejects it causes. (Wing-box placeholder priors, c = 0.9.)</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What counts as 'acceptable' risk?</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No published aerospace limit was found, so none was invented</a:t>
            </a:r>
            <a:endParaRPr lang="en-US" sz="1600" dirty="0"/>
          </a:p>
        </p:txBody>
      </p:sp>
      <p:sp>
        <p:nvSpPr>
          <p:cNvPr id="4" name="card Sourced anchors"/>
          <p:cNvSpPr/>
          <p:nvPr/>
        </p:nvSpPr>
        <p:spPr>
          <a:xfrm>
            <a:off x="548640" y="1600200"/>
            <a:ext cx="3611880" cy="2651760"/>
          </a:xfrm>
          <a:prstGeom prst="roundRect">
            <a:avLst>
              <a:gd name="adj" fmla="val 2759"/>
            </a:avLst>
          </a:prstGeom>
          <a:solidFill>
            <a:schemeClr val="bg2"/>
          </a:solidFill>
          <a:ln/>
        </p:spPr>
      </p:sp>
      <p:sp>
        <p:nvSpPr>
          <p:cNvPr id="5" name="Shape 3"/>
          <p:cNvSpPr/>
          <p:nvPr/>
        </p:nvSpPr>
        <p:spPr>
          <a:xfrm>
            <a:off x="548640" y="1709928"/>
            <a:ext cx="64008" cy="2432304"/>
          </a:xfrm>
          <a:prstGeom prst="rect">
            <a:avLst/>
          </a:prstGeom>
          <a:solidFill>
            <a:schemeClr val="accent1"/>
          </a:solidFill>
          <a:ln/>
        </p:spPr>
      </p:sp>
      <p:sp>
        <p:nvSpPr>
          <p:cNvPr id="6" name="Text 4"/>
          <p:cNvSpPr txBox="1"/>
          <p:nvPr/>
        </p:nvSpPr>
        <p:spPr>
          <a:xfrm>
            <a:off x="777240"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Sourced anchors</a:t>
            </a:r>
            <a:endParaRPr lang="en-US" sz="1500" dirty="0"/>
          </a:p>
        </p:txBody>
      </p:sp>
      <p:sp>
        <p:nvSpPr>
          <p:cNvPr id="7" name="Text 5"/>
          <p:cNvSpPr txBox="1"/>
          <p:nvPr/>
        </p:nvSpPr>
        <p:spPr>
          <a:xfrm>
            <a:off x="777240" y="2148840"/>
            <a:ext cx="3246120" cy="2011680"/>
          </a:xfrm>
          <a:prstGeom prst="rect">
            <a:avLst/>
          </a:prstGeom>
          <a:noFill/>
          <a:ln/>
        </p:spPr>
        <p:txBody>
          <a:bodyPr wrap="square" lIns="0" tIns="0" rIns="0" bIns="0" rtlCol="0" anchor="t"/>
          <a:lstStyle/>
          <a:p>
            <a:pPr indent="0" marL="0">
              <a:buNone/>
            </a:pPr>
            <a:r>
              <a:rPr lang="en-US" sz="1200" dirty="0">
                <a:solidFill>
                  <a:schemeClr val="tx2"/>
                </a:solidFill>
              </a:rPr>
              <a:t>ANSI/NCSL Z540.3 §5.3: PFA ≤ 2% per result, with TUR ≥ 4:1 only as a fallback. JCGM 106, ILAC-G8 and NASA-HDBK-8739.19-4 explain how to compute and control risk and set guard bands.</a:t>
            </a:r>
            <a:endParaRPr lang="en-US" sz="1200" dirty="0"/>
          </a:p>
        </p:txBody>
      </p:sp>
      <p:sp>
        <p:nvSpPr>
          <p:cNvPr id="8" name="card Why they don't settle it"/>
          <p:cNvSpPr/>
          <p:nvPr/>
        </p:nvSpPr>
        <p:spPr>
          <a:xfrm>
            <a:off x="4315968" y="1600200"/>
            <a:ext cx="3611880" cy="2651760"/>
          </a:xfrm>
          <a:prstGeom prst="roundRect">
            <a:avLst>
              <a:gd name="adj" fmla="val 2759"/>
            </a:avLst>
          </a:prstGeom>
          <a:solidFill>
            <a:schemeClr val="bg2"/>
          </a:solidFill>
          <a:ln/>
        </p:spPr>
      </p:sp>
      <p:sp>
        <p:nvSpPr>
          <p:cNvPr id="9" name="Shape 7"/>
          <p:cNvSpPr/>
          <p:nvPr/>
        </p:nvSpPr>
        <p:spPr>
          <a:xfrm>
            <a:off x="4315968" y="1709928"/>
            <a:ext cx="64008" cy="2432304"/>
          </a:xfrm>
          <a:prstGeom prst="rect">
            <a:avLst/>
          </a:prstGeom>
          <a:solidFill>
            <a:schemeClr val="accent3"/>
          </a:solidFill>
          <a:ln/>
        </p:spPr>
      </p:sp>
      <p:sp>
        <p:nvSpPr>
          <p:cNvPr id="10" name="Text 8"/>
          <p:cNvSpPr txBox="1"/>
          <p:nvPr/>
        </p:nvSpPr>
        <p:spPr>
          <a:xfrm>
            <a:off x="4544568"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Why they don't settle it</a:t>
            </a:r>
            <a:endParaRPr lang="en-US" sz="1500" dirty="0"/>
          </a:p>
        </p:txBody>
      </p:sp>
      <p:sp>
        <p:nvSpPr>
          <p:cNvPr id="11" name="Text 9"/>
          <p:cNvSpPr txBox="1"/>
          <p:nvPr/>
        </p:nvSpPr>
        <p:spPr>
          <a:xfrm>
            <a:off x="4544568" y="2148840"/>
            <a:ext cx="3246120" cy="2011680"/>
          </a:xfrm>
          <a:prstGeom prst="rect">
            <a:avLst/>
          </a:prstGeom>
          <a:noFill/>
          <a:ln/>
        </p:spPr>
        <p:txBody>
          <a:bodyPr wrap="square" lIns="0" tIns="0" rIns="0" bIns="0" rtlCol="0" anchor="t"/>
          <a:lstStyle/>
          <a:p>
            <a:pPr indent="0" marL="0">
              <a:buNone/>
            </a:pPr>
            <a:r>
              <a:rPr lang="en-US" sz="1200" dirty="0">
                <a:solidFill>
                  <a:schemeClr val="tx2"/>
                </a:solidFill>
              </a:rPr>
              <a:t>None is aerospace-specific and none gives a universal limit. Z540.3's 2% is about 600× looser than anything computed here (per-point PFA ≤ 3×10⁻⁵), so it constrains nothing.</a:t>
            </a:r>
            <a:endParaRPr lang="en-US" sz="1200" dirty="0"/>
          </a:p>
        </p:txBody>
      </p:sp>
      <p:sp>
        <p:nvSpPr>
          <p:cNvPr id="12" name="card What the testbed does"/>
          <p:cNvSpPr/>
          <p:nvPr/>
        </p:nvSpPr>
        <p:spPr>
          <a:xfrm>
            <a:off x="8083296" y="1600200"/>
            <a:ext cx="3611880" cy="2651760"/>
          </a:xfrm>
          <a:prstGeom prst="roundRect">
            <a:avLst>
              <a:gd name="adj" fmla="val 2759"/>
            </a:avLst>
          </a:prstGeom>
          <a:solidFill>
            <a:schemeClr val="bg2"/>
          </a:solidFill>
          <a:ln/>
        </p:spPr>
      </p:sp>
      <p:sp>
        <p:nvSpPr>
          <p:cNvPr id="13" name="Shape 11"/>
          <p:cNvSpPr/>
          <p:nvPr/>
        </p:nvSpPr>
        <p:spPr>
          <a:xfrm>
            <a:off x="8083296" y="1709928"/>
            <a:ext cx="64008" cy="2432304"/>
          </a:xfrm>
          <a:prstGeom prst="rect">
            <a:avLst/>
          </a:prstGeom>
          <a:solidFill>
            <a:schemeClr val="accent2"/>
          </a:solidFill>
          <a:ln/>
        </p:spPr>
      </p:sp>
      <p:sp>
        <p:nvSpPr>
          <p:cNvPr id="14" name="Text 12"/>
          <p:cNvSpPr txBox="1"/>
          <p:nvPr/>
        </p:nvSpPr>
        <p:spPr>
          <a:xfrm>
            <a:off x="8311896"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What the testbed does</a:t>
            </a:r>
            <a:endParaRPr lang="en-US" sz="1500" dirty="0"/>
          </a:p>
        </p:txBody>
      </p:sp>
      <p:sp>
        <p:nvSpPr>
          <p:cNvPr id="15" name="Text 13"/>
          <p:cNvSpPr txBox="1"/>
          <p:nvPr/>
        </p:nvSpPr>
        <p:spPr>
          <a:xfrm>
            <a:off x="8311896" y="2148840"/>
            <a:ext cx="3246120" cy="2011680"/>
          </a:xfrm>
          <a:prstGeom prst="rect">
            <a:avLst/>
          </a:prstGeom>
          <a:noFill/>
          <a:ln/>
        </p:spPr>
        <p:txBody>
          <a:bodyPr wrap="square" lIns="0" tIns="0" rIns="0" bIns="0" rtlCol="0" anchor="t"/>
          <a:lstStyle/>
          <a:p>
            <a:pPr indent="0" marL="0">
              <a:buNone/>
            </a:pPr>
            <a:r>
              <a:rPr lang="en-US" sz="1200" dirty="0">
                <a:solidFill>
                  <a:schemeClr val="tx2"/>
                </a:solidFill>
              </a:rPr>
              <a:t>Compares plans on relative terms: risk-driven plan held to the risk the conventional plan actually delivers, or to what a TUR 4:1 rule guarantees; the limit is swept. A programme limit drops in unchanged.</a:t>
            </a:r>
            <a:endParaRPr lang="en-US" sz="1200" dirty="0"/>
          </a:p>
        </p:txBody>
      </p:sp>
      <p:sp>
        <p:nvSpPr>
          <p:cNvPr id="16" name="OPEN callout"/>
          <p:cNvSpPr txBox="1"/>
          <p:nvPr/>
        </p:nvSpPr>
        <p:spPr>
          <a:xfrm>
            <a:off x="548640" y="4526280"/>
            <a:ext cx="11091672" cy="1097280"/>
          </a:xfrm>
          <a:prstGeom prst="roundRect">
            <a:avLst>
              <a:gd name="adj" fmla="val 6667"/>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b="1" dirty="0">
                <a:solidFill>
                  <a:schemeClr val="accent3"/>
                </a:solidFill>
              </a:rPr>
              <a:t>OPEN   </a:t>
            </a:r>
            <a:pPr algn="l" indent="0" marL="0">
              <a:buNone/>
            </a:pPr>
            <a:r>
              <a:rPr lang="en-US" sz="1300" dirty="0">
                <a:solidFill>
                  <a:schemeClr val="tx1"/>
                </a:solidFill>
              </a:rPr>
              <a:t>The programme or customer limit on false accept, and on false reject, and whether any inspection task may be left partly unmeasured, have to come from GKN / AMIC. That is a quality and safety decision, not a modelling one.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What this means for planning</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From the wing-box experiment: which conclusions survive placeholder priors (docs/wingbox_experiment.md §7)</a:t>
            </a:r>
            <a:endParaRPr lang="en-US" sz="1600" dirty="0"/>
          </a:p>
        </p:txBody>
      </p:sp>
      <p:sp>
        <p:nvSpPr>
          <p:cNvPr id="4" name="card Robust"/>
          <p:cNvSpPr/>
          <p:nvPr/>
        </p:nvSpPr>
        <p:spPr>
          <a:xfrm>
            <a:off x="548640" y="1600200"/>
            <a:ext cx="3611880" cy="2514600"/>
          </a:xfrm>
          <a:prstGeom prst="roundRect">
            <a:avLst>
              <a:gd name="adj" fmla="val 2909"/>
            </a:avLst>
          </a:prstGeom>
          <a:solidFill>
            <a:schemeClr val="bg2"/>
          </a:solidFill>
          <a:ln/>
        </p:spPr>
      </p:sp>
      <p:sp>
        <p:nvSpPr>
          <p:cNvPr id="5" name="Shape 3"/>
          <p:cNvSpPr/>
          <p:nvPr/>
        </p:nvSpPr>
        <p:spPr>
          <a:xfrm>
            <a:off x="548640" y="1709928"/>
            <a:ext cx="64008" cy="2295144"/>
          </a:xfrm>
          <a:prstGeom prst="rect">
            <a:avLst/>
          </a:prstGeom>
          <a:solidFill>
            <a:schemeClr val="accent1"/>
          </a:solidFill>
          <a:ln/>
        </p:spPr>
      </p:sp>
      <p:sp>
        <p:nvSpPr>
          <p:cNvPr id="6" name="Text 4"/>
          <p:cNvSpPr txBox="1"/>
          <p:nvPr/>
        </p:nvSpPr>
        <p:spPr>
          <a:xfrm>
            <a:off x="777240"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Robust</a:t>
            </a:r>
            <a:endParaRPr lang="en-US" sz="1500" dirty="0"/>
          </a:p>
        </p:txBody>
      </p:sp>
      <p:sp>
        <p:nvSpPr>
          <p:cNvPr id="7" name="Text 5"/>
          <p:cNvSpPr txBox="1"/>
          <p:nvPr/>
        </p:nvSpPr>
        <p:spPr>
          <a:xfrm>
            <a:off x="777240" y="2148840"/>
            <a:ext cx="3246120" cy="1874520"/>
          </a:xfrm>
          <a:prstGeom prst="rect">
            <a:avLst/>
          </a:prstGeom>
          <a:noFill/>
          <a:ln/>
        </p:spPr>
        <p:txBody>
          <a:bodyPr wrap="square" lIns="0" tIns="0" rIns="0" bIns="0" rtlCol="0" anchor="t"/>
          <a:lstStyle/>
          <a:p>
            <a:pPr indent="0" marL="0">
              <a:buNone/>
            </a:pPr>
            <a:r>
              <a:rPr lang="en-US" sz="1200" dirty="0">
                <a:solidFill>
                  <a:schemeClr val="tx2"/>
                </a:solidFill>
              </a:rPr>
              <a:t>Risk-driven plan needs 3 stations (against 9) at ±25 to ±250 µm and under both prior shapes, because it is held to whatever the conventional plan delivers there.</a:t>
            </a:r>
            <a:endParaRPr lang="en-US" sz="1200" dirty="0"/>
          </a:p>
        </p:txBody>
      </p:sp>
      <p:sp>
        <p:nvSpPr>
          <p:cNvPr id="8" name="card Sensitive"/>
          <p:cNvSpPr/>
          <p:nvPr/>
        </p:nvSpPr>
        <p:spPr>
          <a:xfrm>
            <a:off x="4315968" y="1600200"/>
            <a:ext cx="3611880" cy="2514600"/>
          </a:xfrm>
          <a:prstGeom prst="roundRect">
            <a:avLst>
              <a:gd name="adj" fmla="val 2909"/>
            </a:avLst>
          </a:prstGeom>
          <a:solidFill>
            <a:schemeClr val="bg2"/>
          </a:solidFill>
          <a:ln/>
        </p:spPr>
      </p:sp>
      <p:sp>
        <p:nvSpPr>
          <p:cNvPr id="9" name="Shape 7"/>
          <p:cNvSpPr/>
          <p:nvPr/>
        </p:nvSpPr>
        <p:spPr>
          <a:xfrm>
            <a:off x="4315968" y="1709928"/>
            <a:ext cx="64008" cy="2295144"/>
          </a:xfrm>
          <a:prstGeom prst="rect">
            <a:avLst/>
          </a:prstGeom>
          <a:solidFill>
            <a:schemeClr val="accent2"/>
          </a:solidFill>
          <a:ln/>
        </p:spPr>
      </p:sp>
      <p:sp>
        <p:nvSpPr>
          <p:cNvPr id="10" name="Text 8"/>
          <p:cNvSpPr txBox="1"/>
          <p:nvPr/>
        </p:nvSpPr>
        <p:spPr>
          <a:xfrm>
            <a:off x="4544568"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Sensitive</a:t>
            </a:r>
            <a:endParaRPr lang="en-US" sz="1500" dirty="0"/>
          </a:p>
        </p:txBody>
      </p:sp>
      <p:sp>
        <p:nvSpPr>
          <p:cNvPr id="11" name="Text 9"/>
          <p:cNvSpPr txBox="1"/>
          <p:nvPr/>
        </p:nvSpPr>
        <p:spPr>
          <a:xfrm>
            <a:off x="4544568" y="2148840"/>
            <a:ext cx="3246120" cy="1874520"/>
          </a:xfrm>
          <a:prstGeom prst="rect">
            <a:avLst/>
          </a:prstGeom>
          <a:noFill/>
          <a:ln/>
        </p:spPr>
        <p:txBody>
          <a:bodyPr wrap="square" lIns="0" tIns="0" rIns="0" bIns="0" rtlCol="0" anchor="t"/>
          <a:lstStyle/>
          <a:p>
            <a:pPr indent="0" marL="0">
              <a:buNone/>
            </a:pPr>
            <a:r>
              <a:rPr lang="en-US" sz="1200" dirty="0">
                <a:solidFill>
                  <a:schemeClr val="tx2"/>
                </a:solidFill>
              </a:rPr>
              <a:t>To cluster-assignment confidence (2 stations if certain, 5 at 50%), and a stricter limit than the conventional plan delivers cannot be bought: the process sets a floor.</a:t>
            </a:r>
            <a:endParaRPr lang="en-US" sz="1200" dirty="0"/>
          </a:p>
        </p:txBody>
      </p:sp>
      <p:sp>
        <p:nvSpPr>
          <p:cNvPr id="12" name="card Vanishes"/>
          <p:cNvSpPr/>
          <p:nvPr/>
        </p:nvSpPr>
        <p:spPr>
          <a:xfrm>
            <a:off x="8083296" y="1600200"/>
            <a:ext cx="3611880" cy="2514600"/>
          </a:xfrm>
          <a:prstGeom prst="roundRect">
            <a:avLst>
              <a:gd name="adj" fmla="val 2909"/>
            </a:avLst>
          </a:prstGeom>
          <a:solidFill>
            <a:schemeClr val="bg2"/>
          </a:solidFill>
          <a:ln/>
        </p:spPr>
      </p:sp>
      <p:sp>
        <p:nvSpPr>
          <p:cNvPr id="13" name="Shape 11"/>
          <p:cNvSpPr/>
          <p:nvPr/>
        </p:nvSpPr>
        <p:spPr>
          <a:xfrm>
            <a:off x="8083296" y="1709928"/>
            <a:ext cx="64008" cy="2295144"/>
          </a:xfrm>
          <a:prstGeom prst="rect">
            <a:avLst/>
          </a:prstGeom>
          <a:solidFill>
            <a:schemeClr val="accent3"/>
          </a:solidFill>
          <a:ln/>
        </p:spPr>
      </p:sp>
      <p:sp>
        <p:nvSpPr>
          <p:cNvPr id="14" name="Text 12"/>
          <p:cNvSpPr txBox="1"/>
          <p:nvPr/>
        </p:nvSpPr>
        <p:spPr>
          <a:xfrm>
            <a:off x="8311896" y="1691640"/>
            <a:ext cx="3246120" cy="457200"/>
          </a:xfrm>
          <a:prstGeom prst="rect">
            <a:avLst/>
          </a:prstGeom>
          <a:noFill/>
          <a:ln/>
        </p:spPr>
        <p:txBody>
          <a:bodyPr wrap="square" lIns="0" tIns="0" rIns="0" bIns="0" rtlCol="0" anchor="ctr"/>
          <a:lstStyle/>
          <a:p>
            <a:pPr indent="0" marL="0">
              <a:buNone/>
            </a:pPr>
            <a:r>
              <a:rPr lang="en-US" sz="1500" b="1" dirty="0">
                <a:solidFill>
                  <a:schemeClr val="tx1"/>
                </a:solidFill>
              </a:rPr>
              <a:t>Vanishes</a:t>
            </a:r>
            <a:endParaRPr lang="en-US" sz="1500" dirty="0"/>
          </a:p>
        </p:txBody>
      </p:sp>
      <p:sp>
        <p:nvSpPr>
          <p:cNvPr id="15" name="Text 13"/>
          <p:cNvSpPr txBox="1"/>
          <p:nvPr/>
        </p:nvSpPr>
        <p:spPr>
          <a:xfrm>
            <a:off x="8311896" y="2148840"/>
            <a:ext cx="3246120" cy="1874520"/>
          </a:xfrm>
          <a:prstGeom prst="rect">
            <a:avLst/>
          </a:prstGeom>
          <a:noFill/>
          <a:ln/>
        </p:spPr>
        <p:txBody>
          <a:bodyPr wrap="square" lIns="0" tIns="0" rIns="0" bIns="0" rtlCol="0" anchor="t"/>
          <a:lstStyle/>
          <a:p>
            <a:pPr indent="0" marL="0">
              <a:buNone/>
            </a:pPr>
            <a:r>
              <a:rPr lang="en-US" sz="1200" dirty="0">
                <a:solidFill>
                  <a:schemeClr val="tx2"/>
                </a:solidFill>
              </a:rPr>
              <a:t>If the hard-to-see flaps are the marginal cluster, or policy needs ≥75% of every task measured: the saving is zero.</a:t>
            </a:r>
            <a:endParaRPr lang="en-US" sz="1200" dirty="0"/>
          </a:p>
        </p:txBody>
      </p:sp>
      <p:sp>
        <p:nvSpPr>
          <p:cNvPr id="16" name="Text 14"/>
          <p:cNvSpPr txBox="1"/>
          <p:nvPr/>
        </p:nvSpPr>
        <p:spPr>
          <a:xfrm>
            <a:off x="548640" y="4343400"/>
            <a:ext cx="3657600" cy="365760"/>
          </a:xfrm>
          <a:prstGeom prst="rect">
            <a:avLst/>
          </a:prstGeom>
          <a:noFill/>
          <a:ln/>
        </p:spPr>
        <p:txBody>
          <a:bodyPr wrap="square" lIns="0" tIns="0" rIns="0" bIns="0" rtlCol="0" anchor="ctr"/>
          <a:lstStyle/>
          <a:p>
            <a:pPr indent="0" marL="0">
              <a:buNone/>
            </a:pPr>
            <a:r>
              <a:rPr lang="en-US" sz="1500" b="1" dirty="0">
                <a:solidFill>
                  <a:schemeClr val="tx1"/>
                </a:solidFill>
              </a:rPr>
              <a:t>To make it real, supply:</a:t>
            </a:r>
            <a:endParaRPr lang="en-US" sz="1500" dirty="0"/>
          </a:p>
        </p:txBody>
      </p:sp>
      <p:sp>
        <p:nvSpPr>
          <p:cNvPr id="17" name="Text 15"/>
          <p:cNvSpPr txBox="1"/>
          <p:nvPr/>
        </p:nvSpPr>
        <p:spPr>
          <a:xfrm>
            <a:off x="548640" y="4800600"/>
            <a:ext cx="5486400" cy="457200"/>
          </a:xfrm>
          <a:prstGeom prst="rect">
            <a:avLst/>
          </a:prstGeom>
          <a:noFill/>
          <a:ln/>
        </p:spPr>
        <p:txBody>
          <a:bodyPr wrap="square" lIns="0" tIns="0" rIns="0" bIns="0" rtlCol="0" anchor="ctr"/>
          <a:lstStyle/>
          <a:p>
            <a:pPr indent="0" marL="0">
              <a:buNone/>
            </a:pPr>
            <a:r>
              <a:rPr lang="en-US" sz="1350" dirty="0">
                <a:solidFill>
                  <a:schemeClr val="tx2"/>
                </a:solidFill>
              </a:rPr>
              <a:t>•  μ and σ per cluster, by elicitation, pooling or data</a:t>
            </a:r>
            <a:endParaRPr lang="en-US" sz="1350" dirty="0"/>
          </a:p>
        </p:txBody>
      </p:sp>
      <p:sp>
        <p:nvSpPr>
          <p:cNvPr id="18" name="Text 16"/>
          <p:cNvSpPr txBox="1"/>
          <p:nvPr/>
        </p:nvSpPr>
        <p:spPr>
          <a:xfrm>
            <a:off x="6172200" y="4800600"/>
            <a:ext cx="5486400" cy="457200"/>
          </a:xfrm>
          <a:prstGeom prst="rect">
            <a:avLst/>
          </a:prstGeom>
          <a:noFill/>
          <a:ln/>
        </p:spPr>
        <p:txBody>
          <a:bodyPr wrap="square" lIns="0" tIns="0" rIns="0" bIns="0" rtlCol="0" anchor="ctr"/>
          <a:lstStyle/>
          <a:p>
            <a:pPr indent="0" marL="0">
              <a:buNone/>
            </a:pPr>
            <a:r>
              <a:rPr lang="en-US" sz="1350" dirty="0">
                <a:solidFill>
                  <a:schemeClr val="tx2"/>
                </a:solidFill>
              </a:rPr>
              <a:t>•  the cluster assignment and how sure you are of it</a:t>
            </a:r>
            <a:endParaRPr lang="en-US" sz="1350" dirty="0"/>
          </a:p>
        </p:txBody>
      </p:sp>
      <p:sp>
        <p:nvSpPr>
          <p:cNvPr id="19" name="Text 17"/>
          <p:cNvSpPr txBox="1"/>
          <p:nvPr/>
        </p:nvSpPr>
        <p:spPr>
          <a:xfrm>
            <a:off x="548640" y="5303520"/>
            <a:ext cx="5486400" cy="457200"/>
          </a:xfrm>
          <a:prstGeom prst="rect">
            <a:avLst/>
          </a:prstGeom>
          <a:noFill/>
          <a:ln/>
        </p:spPr>
        <p:txBody>
          <a:bodyPr wrap="square" lIns="0" tIns="0" rIns="0" bIns="0" rtlCol="0" anchor="ctr"/>
          <a:lstStyle/>
          <a:p>
            <a:pPr indent="0" marL="0">
              <a:buNone/>
            </a:pPr>
            <a:r>
              <a:rPr lang="en-US" sz="1350" dirty="0">
                <a:solidFill>
                  <a:schemeClr val="tx2"/>
                </a:solidFill>
              </a:rPr>
              <a:t>•  real tolerances for each task</a:t>
            </a:r>
            <a:endParaRPr lang="en-US" sz="1350" dirty="0"/>
          </a:p>
        </p:txBody>
      </p:sp>
      <p:sp>
        <p:nvSpPr>
          <p:cNvPr id="20" name="Text 18"/>
          <p:cNvSpPr txBox="1"/>
          <p:nvPr/>
        </p:nvSpPr>
        <p:spPr>
          <a:xfrm>
            <a:off x="6172200" y="5303520"/>
            <a:ext cx="5486400" cy="457200"/>
          </a:xfrm>
          <a:prstGeom prst="rect">
            <a:avLst/>
          </a:prstGeom>
          <a:noFill/>
          <a:ln/>
        </p:spPr>
        <p:txBody>
          <a:bodyPr wrap="square" lIns="0" tIns="0" rIns="0" bIns="0" rtlCol="0" anchor="ctr"/>
          <a:lstStyle/>
          <a:p>
            <a:pPr indent="0" marL="0">
              <a:buNone/>
            </a:pPr>
            <a:r>
              <a:rPr lang="en-US" sz="1350" dirty="0">
                <a:solidFill>
                  <a:schemeClr val="tx2"/>
                </a:solidFill>
              </a:rPr>
              <a:t>•  the programme's acceptable risk, and any minimum sampling rule</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rtlCol="0" anchor="ctr"/>
          <a:lstStyle/>
          <a:p>
            <a:pPr algn="l" indent="0" marL="0">
              <a:buNone/>
            </a:pPr>
            <a:r>
              <a:rPr lang="en-US" sz="3800" b="1" dirty="0">
                <a:solidFill>
                  <a:schemeClr val="bg1"/>
                </a:solidFill>
              </a:rPr>
              <a:t>Takeaways</a:t>
            </a:r>
            <a:endParaRPr lang="en-US" sz="3800" dirty="0"/>
          </a:p>
        </p:txBody>
      </p:sp>
      <p:sp>
        <p:nvSpPr>
          <p:cNvPr id="3" name="Text 0"/>
          <p:cNvSpPr/>
          <p:nvPr>
            <p:ph idx="101" type="body" hasCustomPrompt="1"/>
          </p:nvPr>
        </p:nvSpPr>
        <p:spPr>
          <a:xfrm>
            <a:off x="731520" y="1280160"/>
            <a:ext cx="10698480" cy="457200"/>
          </a:xfrm>
          <a:prstGeom prst="rect">
            <a:avLst/>
          </a:prstGeom>
          <a:noFill/>
          <a:ln/>
        </p:spPr>
        <p:txBody>
          <a:bodyPr wrap="square" rtlCol="0" anchor="ctr"/>
          <a:lstStyle/>
          <a:p>
            <a:pPr indent="0" marL="0">
              <a:buNone/>
            </a:pPr>
            <a:r>
              <a:rPr lang="en-US" sz="1800" dirty="0">
                <a:solidFill>
                  <a:schemeClr val="accent5"/>
                </a:solidFill>
              </a:rPr>
              <a:t>Global risk is a population calculation: measurement blur averaged over where the process puts true parts</a:t>
            </a:r>
            <a:endParaRPr lang="en-US" sz="1800" dirty="0"/>
          </a:p>
        </p:txBody>
      </p:sp>
      <p:sp>
        <p:nvSpPr>
          <p:cNvPr id="4" name="badge 1"/>
          <p:cNvSpPr txBox="1"/>
          <p:nvPr/>
        </p:nvSpPr>
        <p:spPr>
          <a:xfrm>
            <a:off x="731520" y="2176272"/>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508760" y="2103120"/>
            <a:ext cx="9966960" cy="868680"/>
          </a:xfrm>
          <a:prstGeom prst="rect">
            <a:avLst/>
          </a:prstGeom>
          <a:noFill/>
          <a:ln/>
        </p:spPr>
        <p:txBody>
          <a:bodyPr wrap="square" lIns="0" tIns="0" rIns="0" bIns="0" rtlCol="0" anchor="ctr"/>
          <a:lstStyle/>
          <a:p>
            <a:pPr indent="0" marL="0">
              <a:buNone/>
            </a:pPr>
            <a:r>
              <a:rPr lang="en-US" sz="1800" b="1" dirty="0">
                <a:solidFill>
                  <a:schemeClr val="bg1"/>
                </a:solidFill>
              </a:rPr>
              <a:t>PFA and PFR are integrals</a:t>
            </a:r>
            <a:endParaRPr lang="en-US" sz="1800" dirty="0"/>
          </a:p>
          <a:p>
            <a:pPr indent="0" marL="0">
              <a:buNone/>
            </a:pPr>
            <a:r>
              <a:rPr lang="en-US" sz="1400" dirty="0">
                <a:solidFill>
                  <a:schemeClr val="bg2"/>
                </a:solidFill>
              </a:rPr>
              <a:t>of the process prior against the chance the measurement accepts. PFA is capped by the process; PFR is driven by the measurement.</a:t>
            </a:r>
            <a:endParaRPr lang="en-US" sz="1800" dirty="0"/>
          </a:p>
        </p:txBody>
      </p:sp>
      <p:sp>
        <p:nvSpPr>
          <p:cNvPr id="6" name="badge 2"/>
          <p:cNvSpPr txBox="1"/>
          <p:nvPr/>
        </p:nvSpPr>
        <p:spPr>
          <a:xfrm>
            <a:off x="731520" y="320040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7" name="Text 5"/>
          <p:cNvSpPr txBox="1"/>
          <p:nvPr/>
        </p:nvSpPr>
        <p:spPr>
          <a:xfrm>
            <a:off x="1508760" y="3127248"/>
            <a:ext cx="9966960" cy="868680"/>
          </a:xfrm>
          <a:prstGeom prst="rect">
            <a:avLst/>
          </a:prstGeom>
          <a:noFill/>
          <a:ln/>
        </p:spPr>
        <p:txBody>
          <a:bodyPr wrap="square" lIns="0" tIns="0" rIns="0" bIns="0" rtlCol="0" anchor="ctr"/>
          <a:lstStyle/>
          <a:p>
            <a:pPr indent="0" marL="0">
              <a:buNone/>
            </a:pPr>
            <a:r>
              <a:rPr lang="en-US" sz="1800" b="1" dirty="0">
                <a:solidFill>
                  <a:schemeClr val="bg1"/>
                </a:solidFill>
              </a:rPr>
              <a:t>The inputs are μ and σ, not Cpk</a:t>
            </a:r>
            <a:endParaRPr lang="en-US" sz="1800" dirty="0"/>
          </a:p>
          <a:p>
            <a:pPr indent="0" marL="0">
              <a:buNone/>
            </a:pPr>
            <a:r>
              <a:rPr lang="en-US" sz="1400" dirty="0">
                <a:solidFill>
                  <a:schemeClr val="bg2"/>
                </a:solidFill>
              </a:rPr>
              <a:t>Cpk is a label for a curve in that plane. Two processes with the same Cpk can differ ~140× in false rejects.</a:t>
            </a:r>
            <a:endParaRPr lang="en-US" sz="1800" dirty="0"/>
          </a:p>
        </p:txBody>
      </p:sp>
      <p:sp>
        <p:nvSpPr>
          <p:cNvPr id="8" name="badge 3"/>
          <p:cNvSpPr txBox="1"/>
          <p:nvPr/>
        </p:nvSpPr>
        <p:spPr>
          <a:xfrm>
            <a:off x="731520" y="4224528"/>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9" name="Text 7"/>
          <p:cNvSpPr txBox="1"/>
          <p:nvPr/>
        </p:nvSpPr>
        <p:spPr>
          <a:xfrm>
            <a:off x="1508760" y="4151376"/>
            <a:ext cx="9966960" cy="868680"/>
          </a:xfrm>
          <a:prstGeom prst="rect">
            <a:avLst/>
          </a:prstGeom>
          <a:noFill/>
          <a:ln/>
        </p:spPr>
        <p:txBody>
          <a:bodyPr wrap="square" lIns="0" tIns="0" rIns="0" bIns="0" rtlCol="0" anchor="ctr"/>
          <a:lstStyle/>
          <a:p>
            <a:pPr indent="0" marL="0">
              <a:buNone/>
            </a:pPr>
            <a:r>
              <a:rPr lang="en-US" sz="1800" b="1" dirty="0">
                <a:solidFill>
                  <a:schemeClr val="bg1"/>
                </a:solidFill>
              </a:rPr>
              <a:t>With few builds, set priors per cluster</a:t>
            </a:r>
            <a:endParaRPr lang="en-US" sz="1800" dirty="0"/>
          </a:p>
          <a:p>
            <a:pPr indent="0" marL="0">
              <a:buNone/>
            </a:pPr>
            <a:r>
              <a:rPr lang="en-US" sz="1400" dirty="0">
                <a:solidFill>
                  <a:schemeClr val="bg2"/>
                </a:solidFill>
              </a:rPr>
              <a:t>by elicitation, pooling, the wing's own data and Bayesian updating, and report how sure the cluster assignment is.</a:t>
            </a:r>
            <a:endParaRPr lang="en-US" sz="1800" dirty="0"/>
          </a:p>
        </p:txBody>
      </p:sp>
      <p:sp>
        <p:nvSpPr>
          <p:cNvPr id="10" name="badge 4"/>
          <p:cNvSpPr txBox="1"/>
          <p:nvPr/>
        </p:nvSpPr>
        <p:spPr>
          <a:xfrm>
            <a:off x="731520" y="5248656"/>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11" name="Text 9"/>
          <p:cNvSpPr txBox="1"/>
          <p:nvPr/>
        </p:nvSpPr>
        <p:spPr>
          <a:xfrm>
            <a:off x="1508760" y="5175504"/>
            <a:ext cx="9966960" cy="868680"/>
          </a:xfrm>
          <a:prstGeom prst="rect">
            <a:avLst/>
          </a:prstGeom>
          <a:noFill/>
          <a:ln/>
        </p:spPr>
        <p:txBody>
          <a:bodyPr wrap="square" lIns="0" tIns="0" rIns="0" bIns="0" rtlCol="0" anchor="ctr"/>
          <a:lstStyle/>
          <a:p>
            <a:pPr indent="0" marL="0">
              <a:buNone/>
            </a:pPr>
            <a:r>
              <a:rPr lang="en-US" sz="1800" b="1" dirty="0">
                <a:solidFill>
                  <a:schemeClr val="bg1"/>
                </a:solidFill>
              </a:rPr>
              <a:t>Every number depends on those priors</a:t>
            </a:r>
            <a:endParaRPr lang="en-US" sz="1800" dirty="0"/>
          </a:p>
          <a:p>
            <a:pPr indent="0" marL="0">
              <a:buNone/>
            </a:pPr>
            <a:r>
              <a:rPr lang="en-US" sz="1400" dirty="0">
                <a:solidFill>
                  <a:schemeClr val="bg2"/>
                </a:solidFill>
              </a:rPr>
              <a:t>so plan across plausible ones, and get the real μ, σ, assignment and acceptable-risk limit from the programme.</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estbed Workflow">
  <a:themeElements>
    <a:clrScheme name="Testbed Workflow">
      <a:dk1>
        <a:srgbClr val="1B2430"/>
      </a:dk1>
      <a:lt1>
        <a:srgbClr val="FFFFFF"/>
      </a:lt1>
      <a:dk2>
        <a:srgbClr val="2E4053"/>
      </a:dk2>
      <a:lt2>
        <a:srgbClr val="EEF2F5"/>
      </a:lt2>
      <a:accent1>
        <a:srgbClr val="0E7C86"/>
      </a:accent1>
      <a:accent2>
        <a:srgbClr val="E0A030"/>
      </a:accent2>
      <a:accent3>
        <a:srgbClr val="C8443C"/>
      </a:accent3>
      <a:accent4>
        <a:srgbClr val="5B6C7D"/>
      </a:accent4>
      <a:accent5>
        <a:srgbClr val="7FB7BE"/>
      </a:accent5>
      <a:accent6>
        <a:srgbClr val="8E7DBE"/>
      </a:accent6>
      <a:hlink>
        <a:srgbClr val="0E7C86"/>
      </a:hlink>
      <a:folHlink>
        <a:srgbClr val="5B6C7D"/>
      </a:folHlink>
    </a:clrScheme>
    <a:fontScheme name="Testbed Work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decision risk: PFA, PFR and where the priors come from</dc:title>
  <dc:subject>PptxGenJS Presentation</dc:subject>
  <dc:creator>Calum Tierney</dc:creator>
  <cp:lastModifiedBy>Calum Tierney</cp:lastModifiedBy>
  <cp:revision>1</cp:revision>
  <dcterms:created xsi:type="dcterms:W3CDTF">2026-10-27T15:02:17Z</dcterms:created>
  <dcterms:modified xsi:type="dcterms:W3CDTF">2026-10-27T15:02:17Z</dcterms:modified>
</cp:coreProperties>
</file>